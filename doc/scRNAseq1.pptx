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78" r:id="rId6"/>
    <p:sldId id="261" r:id="rId7"/>
    <p:sldId id="263" r:id="rId8"/>
    <p:sldId id="268" r:id="rId9"/>
    <p:sldId id="282" r:id="rId10"/>
    <p:sldId id="284" r:id="rId11"/>
    <p:sldId id="285" r:id="rId12"/>
    <p:sldId id="286" r:id="rId13"/>
    <p:sldId id="287" r:id="rId14"/>
    <p:sldId id="269" r:id="rId15"/>
    <p:sldId id="270" r:id="rId16"/>
    <p:sldId id="271" r:id="rId17"/>
    <p:sldId id="272" r:id="rId18"/>
    <p:sldId id="262" r:id="rId19"/>
    <p:sldId id="276" r:id="rId20"/>
    <p:sldId id="277" r:id="rId21"/>
    <p:sldId id="283" r:id="rId22"/>
    <p:sldId id="280" r:id="rId23"/>
    <p:sldId id="260" r:id="rId24"/>
    <p:sldId id="265" r:id="rId25"/>
    <p:sldId id="266" r:id="rId26"/>
    <p:sldId id="267" r:id="rId27"/>
    <p:sldId id="273" r:id="rId28"/>
    <p:sldId id="274" r:id="rId29"/>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697"/>
    <p:restoredTop sz="69674"/>
  </p:normalViewPr>
  <p:slideViewPr>
    <p:cSldViewPr snapToGrid="0">
      <p:cViewPr varScale="1">
        <p:scale>
          <a:sx n="142" d="100"/>
          <a:sy n="142" d="100"/>
        </p:scale>
        <p:origin x="45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59C42-780E-064A-84E8-BF8E1F1F7935}" type="datetimeFigureOut">
              <a:rPr lang="en-SE" smtClean="0"/>
              <a:t>2024-11-28</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94EAD7-C080-EA41-9B84-79497172280C}" type="slidenum">
              <a:rPr lang="en-SE" smtClean="0"/>
              <a:t>‹#›</a:t>
            </a:fld>
            <a:endParaRPr lang="en-SE"/>
          </a:p>
        </p:txBody>
      </p:sp>
    </p:spTree>
    <p:extLst>
      <p:ext uri="{BB962C8B-B14F-4D97-AF65-F5344CB8AC3E}">
        <p14:creationId xmlns:p14="http://schemas.microsoft.com/office/powerpoint/2010/main" val="2597969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azenta.com/blog/how-single-cell-sequencing-works#single-cell-platforms"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azenta.com/blog/how-single-cell-sequencing-works#single-cell-techniques"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azenta.com/blog/how-single-cell-sequencing-works#single-cell-platforms"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www.azenta.com/blog/how-single-cell-sequencing-works#single-cell-techniques"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azenta.com/blog/how-single-cell-sequencing-works#single-cell-platforms"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www.azenta.com/blog/how-single-cell-sequencing-works#single-cell-techniques"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Today, we gonna talk about single cell RNAseq</a:t>
            </a:r>
          </a:p>
          <a:p>
            <a:r>
              <a:rPr lang="en-GB" dirty="0"/>
              <a:t>S</a:t>
            </a:r>
            <a:r>
              <a:rPr lang="en-SE" dirty="0"/>
              <a:t>ingle cell RANseq stands for single cell RNA sequencing</a:t>
            </a:r>
          </a:p>
          <a:p>
            <a:r>
              <a:rPr lang="en-GB" dirty="0"/>
              <a:t>I</a:t>
            </a:r>
            <a:r>
              <a:rPr lang="en-SE" dirty="0"/>
              <a:t>t can also be called single cell  transcriptomics or single cell transcriptome sequencing</a:t>
            </a:r>
          </a:p>
          <a:p>
            <a:r>
              <a:rPr lang="en-GB" dirty="0"/>
              <a:t>S</a:t>
            </a:r>
            <a:r>
              <a:rPr lang="en-SE" dirty="0"/>
              <a:t>ingle cell RNAseq is a technique that has revolutionized recent biology</a:t>
            </a:r>
          </a:p>
          <a:p>
            <a:r>
              <a:rPr lang="en-SE" dirty="0"/>
              <a:t>Basically, it is a method where we analyze the genome-wide gene expression profiles of individual cells in a hetergeneous cell population</a:t>
            </a:r>
          </a:p>
          <a:p>
            <a:endParaRPr lang="en-SE" dirty="0"/>
          </a:p>
          <a:p>
            <a:endParaRPr lang="en-SE" dirty="0"/>
          </a:p>
          <a:p>
            <a:endParaRPr lang="en-SE" dirty="0"/>
          </a:p>
          <a:p>
            <a:endParaRPr lang="en-SE" dirty="0"/>
          </a:p>
          <a:p>
            <a:r>
              <a:rPr lang="en-SE" dirty="0"/>
              <a:t>Assume we are looking at a human tissue, it is hetergeneous and contains many different cell types</a:t>
            </a:r>
          </a:p>
          <a:p>
            <a:r>
              <a:rPr lang="en-GB" dirty="0"/>
              <a:t>A</a:t>
            </a:r>
            <a:r>
              <a:rPr lang="en-SE" dirty="0"/>
              <a:t>lso assume the transcriptome only contains 4 genes, which is not true, we know the transcirptome of human contains thousands of genes, here just for demonstration, we use 4 genes to represent the transcritome</a:t>
            </a:r>
          </a:p>
          <a:p>
            <a:r>
              <a:rPr lang="en-SE" dirty="0"/>
              <a:t>Very likely, these four genes will not be expressed in the same fashion in all cell types, for example, celltype2 and celltype 5 tend to express more the green gene B, while celltype5 tend to express less the red gene A</a:t>
            </a:r>
          </a:p>
          <a:p>
            <a:r>
              <a:rPr lang="en-SE" dirty="0"/>
              <a:t>This gene expression variability among cells can be explored using techniques such as single cell RNAseq</a:t>
            </a:r>
          </a:p>
          <a:p>
            <a:endParaRPr lang="en-SE" dirty="0"/>
          </a:p>
        </p:txBody>
      </p:sp>
      <p:sp>
        <p:nvSpPr>
          <p:cNvPr id="4" name="Slide Number Placeholder 3"/>
          <p:cNvSpPr>
            <a:spLocks noGrp="1"/>
          </p:cNvSpPr>
          <p:nvPr>
            <p:ph type="sldNum" sz="quarter" idx="5"/>
          </p:nvPr>
        </p:nvSpPr>
        <p:spPr/>
        <p:txBody>
          <a:bodyPr/>
          <a:lstStyle/>
          <a:p>
            <a:fld id="{4F94EAD7-C080-EA41-9B84-79497172280C}" type="slidenum">
              <a:rPr lang="en-SE" smtClean="0"/>
              <a:t>1</a:t>
            </a:fld>
            <a:endParaRPr lang="en-SE"/>
          </a:p>
        </p:txBody>
      </p:sp>
    </p:spTree>
    <p:extLst>
      <p:ext uri="{BB962C8B-B14F-4D97-AF65-F5344CB8AC3E}">
        <p14:creationId xmlns:p14="http://schemas.microsoft.com/office/powerpoint/2010/main" val="1544685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Single cell RNAseq evolved gradually,</a:t>
            </a:r>
          </a:p>
          <a:p>
            <a:r>
              <a:rPr lang="en-GB" dirty="0"/>
              <a:t>I</a:t>
            </a:r>
            <a:r>
              <a:rPr lang="en-SE" dirty="0"/>
              <a:t>n the beginning, qRT-PCR is one of the important techniques for studying many genes at a time</a:t>
            </a:r>
          </a:p>
          <a:p>
            <a:r>
              <a:rPr lang="en-SE" dirty="0"/>
              <a:t>It is PCR based </a:t>
            </a:r>
          </a:p>
          <a:p>
            <a:r>
              <a:rPr lang="en-GB" dirty="0"/>
              <a:t>I</a:t>
            </a:r>
            <a:r>
              <a:rPr lang="en-SE" dirty="0"/>
              <a:t>t is very sensitive, </a:t>
            </a:r>
          </a:p>
          <a:p>
            <a:r>
              <a:rPr lang="en-GB" dirty="0"/>
              <a:t>B</a:t>
            </a:r>
            <a:r>
              <a:rPr lang="en-SE" dirty="0"/>
              <a:t>ut can only look at a small number of genes</a:t>
            </a:r>
          </a:p>
          <a:p>
            <a:endParaRPr lang="en-SE" dirty="0"/>
          </a:p>
        </p:txBody>
      </p:sp>
      <p:sp>
        <p:nvSpPr>
          <p:cNvPr id="4" name="Slide Number Placeholder 3"/>
          <p:cNvSpPr>
            <a:spLocks noGrp="1"/>
          </p:cNvSpPr>
          <p:nvPr>
            <p:ph type="sldNum" sz="quarter" idx="5"/>
          </p:nvPr>
        </p:nvSpPr>
        <p:spPr/>
        <p:txBody>
          <a:bodyPr/>
          <a:lstStyle/>
          <a:p>
            <a:fld id="{4F94EAD7-C080-EA41-9B84-79497172280C}" type="slidenum">
              <a:rPr lang="en-SE" smtClean="0"/>
              <a:t>2</a:t>
            </a:fld>
            <a:endParaRPr lang="en-SE"/>
          </a:p>
        </p:txBody>
      </p:sp>
    </p:spTree>
    <p:extLst>
      <p:ext uri="{BB962C8B-B14F-4D97-AF65-F5344CB8AC3E}">
        <p14:creationId xmlns:p14="http://schemas.microsoft.com/office/powerpoint/2010/main" val="1659779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Later on when microarray came in, it became one of the state of the art technique in the field, </a:t>
            </a:r>
          </a:p>
          <a:p>
            <a:r>
              <a:rPr lang="en-GB" dirty="0"/>
              <a:t>It is hybridization based</a:t>
            </a:r>
          </a:p>
          <a:p>
            <a:r>
              <a:rPr lang="en-GB" dirty="0"/>
              <a:t>It is able to study a large number of genes at the same time, it’s very efficient</a:t>
            </a:r>
          </a:p>
          <a:p>
            <a:r>
              <a:rPr lang="en-GB" dirty="0"/>
              <a:t>However, it can only look at the genes that are included on the chip</a:t>
            </a:r>
          </a:p>
          <a:p>
            <a:endParaRPr lang="en-GB" dirty="0"/>
          </a:p>
          <a:p>
            <a:endParaRPr lang="en-SE" dirty="0"/>
          </a:p>
          <a:p>
            <a:pPr marL="0" marR="0" lvl="0" indent="0" algn="l" defTabSz="914400" rtl="0" eaLnBrk="1" fontAlgn="auto" latinLnBrk="0" hangingPunct="1">
              <a:lnSpc>
                <a:spcPct val="100000"/>
              </a:lnSpc>
              <a:spcBef>
                <a:spcPts val="0"/>
              </a:spcBef>
              <a:spcAft>
                <a:spcPts val="0"/>
              </a:spcAft>
              <a:buClrTx/>
              <a:buSzTx/>
              <a:buFontTx/>
              <a:buNone/>
              <a:tabLst/>
              <a:defRPr/>
            </a:pPr>
            <a:r>
              <a:rPr lang="en-SE" sz="1200" dirty="0">
                <a:latin typeface="Times New Roman" panose="02020603050405020304" pitchFamily="18" charset="0"/>
                <a:cs typeface="Times New Roman" panose="02020603050405020304" pitchFamily="18" charset="0"/>
              </a:rPr>
              <a:t>Only profile predefined transcripts/genes through hybridization</a:t>
            </a:r>
          </a:p>
          <a:p>
            <a:endParaRPr lang="en-SE" dirty="0"/>
          </a:p>
          <a:p>
            <a:endParaRPr lang="en-SE" dirty="0"/>
          </a:p>
        </p:txBody>
      </p:sp>
      <p:sp>
        <p:nvSpPr>
          <p:cNvPr id="4" name="Slide Number Placeholder 3"/>
          <p:cNvSpPr>
            <a:spLocks noGrp="1"/>
          </p:cNvSpPr>
          <p:nvPr>
            <p:ph type="sldNum" sz="quarter" idx="5"/>
          </p:nvPr>
        </p:nvSpPr>
        <p:spPr/>
        <p:txBody>
          <a:bodyPr/>
          <a:lstStyle/>
          <a:p>
            <a:fld id="{4F94EAD7-C080-EA41-9B84-79497172280C}" type="slidenum">
              <a:rPr lang="en-SE" smtClean="0"/>
              <a:t>3</a:t>
            </a:fld>
            <a:endParaRPr lang="en-SE"/>
          </a:p>
        </p:txBody>
      </p:sp>
    </p:spTree>
    <p:extLst>
      <p:ext uri="{BB962C8B-B14F-4D97-AF65-F5344CB8AC3E}">
        <p14:creationId xmlns:p14="http://schemas.microsoft.com/office/powerpoint/2010/main" val="873671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a:t>
            </a:r>
            <a:r>
              <a:rPr lang="en-SE" dirty="0"/>
              <a:t>hich was eventually replaced by bulk RNAseq</a:t>
            </a:r>
          </a:p>
          <a:p>
            <a:r>
              <a:rPr lang="en-GB" dirty="0"/>
              <a:t>I</a:t>
            </a:r>
            <a:r>
              <a:rPr lang="en-SE" dirty="0"/>
              <a:t>t is a full sequencing technique of the whole transcriptome</a:t>
            </a:r>
          </a:p>
          <a:p>
            <a:r>
              <a:rPr lang="en-GB" dirty="0"/>
              <a:t>A</a:t>
            </a:r>
            <a:r>
              <a:rPr lang="en-SE" dirty="0"/>
              <a:t>s long as a gene is expressed, it has the possibility to be sequenced by bulk RNAseq</a:t>
            </a:r>
          </a:p>
        </p:txBody>
      </p:sp>
      <p:sp>
        <p:nvSpPr>
          <p:cNvPr id="4" name="Slide Number Placeholder 3"/>
          <p:cNvSpPr>
            <a:spLocks noGrp="1"/>
          </p:cNvSpPr>
          <p:nvPr>
            <p:ph type="sldNum" sz="quarter" idx="5"/>
          </p:nvPr>
        </p:nvSpPr>
        <p:spPr/>
        <p:txBody>
          <a:bodyPr/>
          <a:lstStyle/>
          <a:p>
            <a:fld id="{4F94EAD7-C080-EA41-9B84-79497172280C}" type="slidenum">
              <a:rPr lang="en-SE" smtClean="0"/>
              <a:t>4</a:t>
            </a:fld>
            <a:endParaRPr lang="en-SE"/>
          </a:p>
        </p:txBody>
      </p:sp>
    </p:spTree>
    <p:extLst>
      <p:ext uri="{BB962C8B-B14F-4D97-AF65-F5344CB8AC3E}">
        <p14:creationId xmlns:p14="http://schemas.microsoft.com/office/powerpoint/2010/main" val="3600497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570F4-1D03-3F15-17C2-1B1610D5C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4D6AD-6DCF-B72C-5222-CA58B905B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A862E-E7EE-4832-CFE1-FCBA6FE8627F}"/>
              </a:ext>
            </a:extLst>
          </p:cNvPr>
          <p:cNvSpPr>
            <a:spLocks noGrp="1"/>
          </p:cNvSpPr>
          <p:nvPr>
            <p:ph type="body" idx="1"/>
          </p:nvPr>
        </p:nvSpPr>
        <p:spPr/>
        <p:txBody>
          <a:bodyPr/>
          <a:lstStyle/>
          <a:p>
            <a:r>
              <a:rPr lang="en-SE" dirty="0"/>
              <a:t>Nowadays, single cell RNAseq is taking over from 2009,</a:t>
            </a:r>
          </a:p>
          <a:p>
            <a:r>
              <a:rPr lang="en-GB" dirty="0"/>
              <a:t>I</a:t>
            </a:r>
            <a:r>
              <a:rPr lang="en-SE" dirty="0"/>
              <a:t>t is sequencing based</a:t>
            </a:r>
          </a:p>
          <a:p>
            <a:r>
              <a:rPr lang="en-SE" dirty="0"/>
              <a:t>It can measure the expression levels of a large number of genes for individual cells</a:t>
            </a:r>
          </a:p>
          <a:p>
            <a:r>
              <a:rPr lang="en-SE" dirty="0"/>
              <a:t>and over the last decade, single cell RNAseq has been extensively used in the field of biology and neuroscience and many more</a:t>
            </a:r>
          </a:p>
          <a:p>
            <a:endParaRPr lang="en-SE" dirty="0"/>
          </a:p>
        </p:txBody>
      </p:sp>
      <p:sp>
        <p:nvSpPr>
          <p:cNvPr id="4" name="Slide Number Placeholder 3">
            <a:extLst>
              <a:ext uri="{FF2B5EF4-FFF2-40B4-BE49-F238E27FC236}">
                <a16:creationId xmlns:a16="http://schemas.microsoft.com/office/drawing/2014/main" id="{82CC43A5-DA2F-487A-29FC-E124E243017A}"/>
              </a:ext>
            </a:extLst>
          </p:cNvPr>
          <p:cNvSpPr>
            <a:spLocks noGrp="1"/>
          </p:cNvSpPr>
          <p:nvPr>
            <p:ph type="sldNum" sz="quarter" idx="5"/>
          </p:nvPr>
        </p:nvSpPr>
        <p:spPr/>
        <p:txBody>
          <a:bodyPr/>
          <a:lstStyle/>
          <a:p>
            <a:fld id="{4F94EAD7-C080-EA41-9B84-79497172280C}" type="slidenum">
              <a:rPr lang="en-SE" smtClean="0"/>
              <a:t>5</a:t>
            </a:fld>
            <a:endParaRPr lang="en-SE"/>
          </a:p>
        </p:txBody>
      </p:sp>
    </p:spTree>
    <p:extLst>
      <p:ext uri="{BB962C8B-B14F-4D97-AF65-F5344CB8AC3E}">
        <p14:creationId xmlns:p14="http://schemas.microsoft.com/office/powerpoint/2010/main" val="1420754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Then what’s the difference between the last two techniques, the bulk and the single cell RNAseq</a:t>
            </a:r>
          </a:p>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In bulk RNAseq, we treat each sample as a unit, crush it to extract RNA and sequence all RNAs from the same tissue together, no matter it is from cells A or B.</a:t>
            </a:r>
          </a:p>
          <a:p>
            <a:pPr marL="0" marR="0" lvl="0" indent="0" algn="l" defTabSz="914400" rtl="0" eaLnBrk="1" fontAlgn="auto" latinLnBrk="0" hangingPunct="1">
              <a:lnSpc>
                <a:spcPct val="100000"/>
              </a:lnSpc>
              <a:spcBef>
                <a:spcPts val="0"/>
              </a:spcBef>
              <a:spcAft>
                <a:spcPts val="0"/>
              </a:spcAft>
              <a:buClrTx/>
              <a:buSzTx/>
              <a:buFontTx/>
              <a:buNone/>
              <a:tabLst/>
              <a:defRPr/>
            </a:pPr>
            <a:r>
              <a:rPr lang="en-SE" dirty="0"/>
              <a:t>While in single cell RNAseq, we treat each cell as a unit, and make a survey of the transcriptome for each ind. </a:t>
            </a:r>
            <a:r>
              <a:rPr lang="en-GB" dirty="0"/>
              <a:t>cells, and look at the genome-wide gene expression profiles of cells of the same type, which we call it cell type.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Comparing to bulk </a:t>
            </a:r>
            <a:r>
              <a:rPr lang="en-GB" dirty="0" err="1"/>
              <a:t>RNAseq</a:t>
            </a:r>
            <a:r>
              <a:rPr lang="en-GB" dirty="0"/>
              <a:t>, </a:t>
            </a:r>
            <a:r>
              <a:rPr lang="en-GB" dirty="0" err="1"/>
              <a:t>scRNAseq</a:t>
            </a:r>
            <a:r>
              <a:rPr lang="en-GB" dirty="0"/>
              <a:t> has a higher resolution,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it can better detect gene expression changes in the sample,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and it can name which cells are responsible for those changes.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r>
              <a:rPr lang="en-GB" dirty="0"/>
              <a:t>For example, </a:t>
            </a:r>
            <a:r>
              <a:rPr lang="en-SE" dirty="0"/>
              <a:t>if there are two celltypes within a tissue, celltype 1 and celltype2,</a:t>
            </a:r>
          </a:p>
          <a:p>
            <a:r>
              <a:rPr lang="en-GB" dirty="0"/>
              <a:t>A</a:t>
            </a:r>
            <a:r>
              <a:rPr lang="en-SE" dirty="0"/>
              <a:t>nd there is a yellow gene that is upregulated in celltype 1, but downregulated in celltype2, this phenomenon may not be observed by bulk RNAseq, </a:t>
            </a:r>
          </a:p>
          <a:p>
            <a:r>
              <a:rPr lang="en-SE" dirty="0"/>
              <a:t>because in bulk RNAseq, we are looking at the combined gene pression profile of both cell types together, </a:t>
            </a:r>
          </a:p>
          <a:p>
            <a:r>
              <a:rPr lang="en-GB" dirty="0"/>
              <a:t>A</a:t>
            </a:r>
            <a:r>
              <a:rPr lang="en-SE" dirty="0"/>
              <a:t>nd the gene expression changes of these two celltypes may easily cancel each other in the mix</a:t>
            </a:r>
          </a:p>
          <a:p>
            <a:r>
              <a:rPr lang="en-GB" dirty="0"/>
              <a:t>S</a:t>
            </a:r>
            <a:r>
              <a:rPr lang="en-SE" dirty="0"/>
              <a:t>o it will look like we have no change at the mixture level.</a:t>
            </a:r>
          </a:p>
          <a:p>
            <a:r>
              <a:rPr lang="en-SE" dirty="0"/>
              <a:t>However, this will not be an issue in scRNAseq.</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SE" dirty="0"/>
          </a:p>
          <a:p>
            <a:r>
              <a:rPr lang="en-SE" dirty="0"/>
              <a:t>To answer this question, we can assume we are looking at human tissue again</a:t>
            </a:r>
          </a:p>
          <a:p>
            <a:r>
              <a:rPr lang="en-SE" dirty="0"/>
              <a:t>In bulk RNAseq, you want to take all the cells out of the tissue, crush them together, and measure the gene expression profiles of all the cells together</a:t>
            </a:r>
          </a:p>
          <a:p>
            <a:r>
              <a:rPr lang="en-SE" dirty="0"/>
              <a:t>This approach has limitations</a:t>
            </a:r>
          </a:p>
          <a:p>
            <a:r>
              <a:rPr lang="en-SE" dirty="0"/>
              <a:t>For example, if there are two celltypes within this tissue, celltype 1 and celltype2,</a:t>
            </a:r>
          </a:p>
          <a:p>
            <a:r>
              <a:rPr lang="en-GB" dirty="0"/>
              <a:t>A</a:t>
            </a:r>
            <a:r>
              <a:rPr lang="en-SE" dirty="0"/>
              <a:t>nd there is a yellow gene that is upregulated in celltype 1, but downregulated in celltype2, this phenomenon will not be observed by bulk RNAseq, </a:t>
            </a:r>
          </a:p>
          <a:p>
            <a:r>
              <a:rPr lang="en-SE" dirty="0"/>
              <a:t>because in bulk RNAseq, we are looking at the combined gene pression profile of both cell types together, </a:t>
            </a:r>
          </a:p>
          <a:p>
            <a:r>
              <a:rPr lang="en-GB" dirty="0"/>
              <a:t>A</a:t>
            </a:r>
            <a:r>
              <a:rPr lang="en-SE" dirty="0"/>
              <a:t>nd the gene expression changes of these two celltypes will cancel each other in the mix</a:t>
            </a:r>
          </a:p>
          <a:p>
            <a:r>
              <a:rPr lang="en-GB" dirty="0"/>
              <a:t>S</a:t>
            </a:r>
            <a:r>
              <a:rPr lang="en-SE" dirty="0"/>
              <a:t>o it will look like we have no change at the mixture level.</a:t>
            </a:r>
          </a:p>
          <a:p>
            <a:r>
              <a:rPr lang="en-GB" dirty="0"/>
              <a:t>H</a:t>
            </a:r>
            <a:r>
              <a:rPr lang="en-SE" dirty="0"/>
              <a:t>owever, this will not be an issue, because, in single cell RNAseq, we study the gene expression profiles of individual cells</a:t>
            </a:r>
          </a:p>
          <a:p>
            <a:endParaRPr lang="en-SE" dirty="0"/>
          </a:p>
          <a:p>
            <a:endParaRPr lang="en-SE" dirty="0"/>
          </a:p>
        </p:txBody>
      </p:sp>
      <p:sp>
        <p:nvSpPr>
          <p:cNvPr id="4" name="Slide Number Placeholder 3"/>
          <p:cNvSpPr>
            <a:spLocks noGrp="1"/>
          </p:cNvSpPr>
          <p:nvPr>
            <p:ph type="sldNum" sz="quarter" idx="5"/>
          </p:nvPr>
        </p:nvSpPr>
        <p:spPr/>
        <p:txBody>
          <a:bodyPr/>
          <a:lstStyle/>
          <a:p>
            <a:fld id="{4F94EAD7-C080-EA41-9B84-79497172280C}" type="slidenum">
              <a:rPr lang="en-SE" smtClean="0"/>
              <a:t>6</a:t>
            </a:fld>
            <a:endParaRPr lang="en-SE"/>
          </a:p>
        </p:txBody>
      </p:sp>
    </p:spTree>
    <p:extLst>
      <p:ext uri="{BB962C8B-B14F-4D97-AF65-F5344CB8AC3E}">
        <p14:creationId xmlns:p14="http://schemas.microsoft.com/office/powerpoint/2010/main" val="3449159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You can broadly understand single cell RNAseq as a fruit salad,</a:t>
            </a:r>
          </a:p>
          <a:p>
            <a:r>
              <a:rPr lang="en-GB" dirty="0"/>
              <a:t>W</a:t>
            </a:r>
            <a:r>
              <a:rPr lang="en-SE" dirty="0"/>
              <a:t>here we can enjoy the individual taste of each fruit, and we know exactly which fruit we are eating</a:t>
            </a:r>
          </a:p>
          <a:p>
            <a:r>
              <a:rPr lang="en-GB" dirty="0"/>
              <a:t>In contrast,</a:t>
            </a:r>
            <a:r>
              <a:rPr lang="en-SE" dirty="0"/>
              <a:t> bulk RNAseq is like fruit smoothe, in which we will only be able to tell the dominant taste of the fruits that go into the smoothe</a:t>
            </a:r>
          </a:p>
          <a:p>
            <a:r>
              <a:rPr lang="en-GB" dirty="0"/>
              <a:t>W</a:t>
            </a:r>
            <a:r>
              <a:rPr lang="en-SE" dirty="0"/>
              <a:t>e will not be able to understand the individual components of the smoothe.</a:t>
            </a:r>
          </a:p>
        </p:txBody>
      </p:sp>
      <p:sp>
        <p:nvSpPr>
          <p:cNvPr id="4" name="Slide Number Placeholder 3"/>
          <p:cNvSpPr>
            <a:spLocks noGrp="1"/>
          </p:cNvSpPr>
          <p:nvPr>
            <p:ph type="sldNum" sz="quarter" idx="5"/>
          </p:nvPr>
        </p:nvSpPr>
        <p:spPr/>
        <p:txBody>
          <a:bodyPr/>
          <a:lstStyle/>
          <a:p>
            <a:fld id="{4F94EAD7-C080-EA41-9B84-79497172280C}" type="slidenum">
              <a:rPr lang="en-SE" smtClean="0"/>
              <a:t>7</a:t>
            </a:fld>
            <a:endParaRPr lang="en-SE"/>
          </a:p>
        </p:txBody>
      </p:sp>
    </p:spTree>
    <p:extLst>
      <p:ext uri="{BB962C8B-B14F-4D97-AF65-F5344CB8AC3E}">
        <p14:creationId xmlns:p14="http://schemas.microsoft.com/office/powerpoint/2010/main" val="915755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Helvetica" pitchFamily="2" charset="0"/>
              </a:rPr>
              <a:t>The output of single cell methods has really increased over the past decade, </a:t>
            </a:r>
          </a:p>
          <a:p>
            <a:r>
              <a:rPr lang="en-GB" b="0" i="0" u="none" strike="noStrike" dirty="0">
                <a:solidFill>
                  <a:srgbClr val="000000"/>
                </a:solidFill>
                <a:effectLst/>
                <a:latin typeface="Helvetica" pitchFamily="2" charset="0"/>
              </a:rPr>
              <a:t>back to 2009, in the first study, there was only one cell that was sequenced and that’s it, </a:t>
            </a:r>
          </a:p>
          <a:p>
            <a:r>
              <a:rPr lang="en-GB" b="0" i="0" u="none" strike="noStrike" dirty="0">
                <a:solidFill>
                  <a:srgbClr val="000000"/>
                </a:solidFill>
                <a:effectLst/>
                <a:latin typeface="Helvetica" pitchFamily="2" charset="0"/>
              </a:rPr>
              <a:t>and over the years, there is an exponential increase in the number of cells that can be processed int those studies, </a:t>
            </a:r>
          </a:p>
          <a:p>
            <a:r>
              <a:rPr lang="en-GB" b="0" i="0" u="none" strike="noStrike" dirty="0">
                <a:solidFill>
                  <a:srgbClr val="000000"/>
                </a:solidFill>
                <a:effectLst/>
                <a:latin typeface="Helvetica" pitchFamily="2" charset="0"/>
              </a:rPr>
              <a:t>each of those study represents a publication presenting new single cell methods,</a:t>
            </a:r>
          </a:p>
          <a:p>
            <a:r>
              <a:rPr lang="en-GB" b="0" i="0" u="none" strike="noStrike" dirty="0">
                <a:solidFill>
                  <a:srgbClr val="000000"/>
                </a:solidFill>
                <a:effectLst/>
                <a:latin typeface="Helvetica" pitchFamily="2" charset="0"/>
              </a:rPr>
              <a:t>and the y axis show the number of cells that have been </a:t>
            </a:r>
            <a:r>
              <a:rPr lang="en-GB" b="0" i="0" u="none" strike="noStrike" dirty="0" err="1">
                <a:solidFill>
                  <a:srgbClr val="000000"/>
                </a:solidFill>
                <a:effectLst/>
                <a:latin typeface="Helvetica" pitchFamily="2" charset="0"/>
              </a:rPr>
              <a:t>analyzed</a:t>
            </a:r>
            <a:endParaRPr lang="en-SE" dirty="0"/>
          </a:p>
        </p:txBody>
      </p:sp>
      <p:sp>
        <p:nvSpPr>
          <p:cNvPr id="4" name="Slide Number Placeholder 3"/>
          <p:cNvSpPr>
            <a:spLocks noGrp="1"/>
          </p:cNvSpPr>
          <p:nvPr>
            <p:ph type="sldNum" sz="quarter" idx="5"/>
          </p:nvPr>
        </p:nvSpPr>
        <p:spPr/>
        <p:txBody>
          <a:bodyPr/>
          <a:lstStyle/>
          <a:p>
            <a:fld id="{A57BE0FF-2623-D340-847B-F6E4752E041A}" type="slidenum">
              <a:rPr lang="en-SE" smtClean="0"/>
              <a:t>8</a:t>
            </a:fld>
            <a:endParaRPr lang="en-SE"/>
          </a:p>
        </p:txBody>
      </p:sp>
    </p:spTree>
    <p:extLst>
      <p:ext uri="{BB962C8B-B14F-4D97-AF65-F5344CB8AC3E}">
        <p14:creationId xmlns:p14="http://schemas.microsoft.com/office/powerpoint/2010/main" val="1471007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82B49-E04F-15E0-C3B1-D36ACD8425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C3DF1-1F34-D6D3-882E-22FCD0CAAC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26282-DC56-870B-E94A-C28B69824C13}"/>
              </a:ext>
            </a:extLst>
          </p:cNvPr>
          <p:cNvSpPr>
            <a:spLocks noGrp="1"/>
          </p:cNvSpPr>
          <p:nvPr>
            <p:ph type="body" idx="1"/>
          </p:nvPr>
        </p:nvSpPr>
        <p:spPr/>
        <p:txBody>
          <a:bodyPr/>
          <a:lstStyle/>
          <a:p>
            <a:pPr algn="l"/>
            <a:r>
              <a:rPr lang="en-GB" b="1" i="0" u="none" strike="noStrike" dirty="0">
                <a:solidFill>
                  <a:srgbClr val="585858"/>
                </a:solidFill>
                <a:effectLst/>
                <a:latin typeface="Ubuntu-Regular"/>
              </a:rPr>
              <a:t>Among those techniques, the basic steps of single cell sequencing usually include 1, 2, 3, 4, and 5.</a:t>
            </a:r>
          </a:p>
          <a:p>
            <a:pPr algn="l"/>
            <a:endParaRPr lang="en-GB" b="1" i="0" u="none" strike="noStrike" dirty="0">
              <a:solidFill>
                <a:srgbClr val="585858"/>
              </a:solidFill>
              <a:effectLst/>
              <a:latin typeface="Ubuntu-Regular"/>
            </a:endParaRPr>
          </a:p>
          <a:p>
            <a:pPr algn="l"/>
            <a:endParaRPr lang="en-GB" b="1" i="0" u="none" strike="noStrike" dirty="0">
              <a:solidFill>
                <a:srgbClr val="585858"/>
              </a:solidFill>
              <a:effectLst/>
              <a:latin typeface="Ubuntu-Regular"/>
            </a:endParaRPr>
          </a:p>
          <a:p>
            <a:pPr algn="l"/>
            <a:endParaRPr lang="en-GB" b="1" i="0" u="none" strike="noStrike" dirty="0">
              <a:solidFill>
                <a:srgbClr val="585858"/>
              </a:solidFill>
              <a:effectLst/>
              <a:latin typeface="Ubuntu-Regular"/>
            </a:endParaRPr>
          </a:p>
          <a:p>
            <a:pPr algn="l"/>
            <a:endParaRPr lang="en-GB" b="1" i="0" u="none" strike="noStrike" dirty="0">
              <a:solidFill>
                <a:srgbClr val="585858"/>
              </a:solidFill>
              <a:effectLst/>
              <a:latin typeface="Ubuntu-Regular"/>
            </a:endParaRPr>
          </a:p>
          <a:p>
            <a:pPr algn="l"/>
            <a:endParaRPr lang="en-GB" b="1" i="0" u="none" strike="noStrike" dirty="0">
              <a:solidFill>
                <a:srgbClr val="585858"/>
              </a:solidFill>
              <a:effectLst/>
              <a:latin typeface="Ubuntu-Regular"/>
            </a:endParaRPr>
          </a:p>
          <a:p>
            <a:pPr algn="l"/>
            <a:endParaRPr lang="en-GB" b="1" i="0" u="none" strike="noStrike" dirty="0">
              <a:solidFill>
                <a:srgbClr val="585858"/>
              </a:solidFill>
              <a:effectLst/>
              <a:latin typeface="Ubuntu-Regular"/>
            </a:endParaRPr>
          </a:p>
          <a:p>
            <a:pPr algn="l"/>
            <a:endParaRPr lang="en-GB" b="1" i="0" u="none" strike="noStrike" dirty="0">
              <a:solidFill>
                <a:srgbClr val="585858"/>
              </a:solidFill>
              <a:effectLst/>
              <a:latin typeface="Ubuntu-Regular"/>
            </a:endParaRPr>
          </a:p>
          <a:p>
            <a:pPr algn="l"/>
            <a:endParaRPr lang="en-GB" b="1" i="0" u="none" strike="noStrike" dirty="0">
              <a:solidFill>
                <a:srgbClr val="585858"/>
              </a:solidFill>
              <a:effectLst/>
              <a:latin typeface="Ubuntu-Regular"/>
            </a:endParaRPr>
          </a:p>
          <a:p>
            <a:pPr algn="l"/>
            <a:endParaRPr lang="en-GB" b="1" i="0" u="none" strike="noStrike" dirty="0">
              <a:solidFill>
                <a:srgbClr val="585858"/>
              </a:solidFill>
              <a:effectLst/>
              <a:latin typeface="Ubuntu-Regular"/>
            </a:endParaRPr>
          </a:p>
          <a:p>
            <a:pPr algn="l"/>
            <a:r>
              <a:rPr lang="en-GB" b="1" i="0" u="none" strike="noStrike" dirty="0">
                <a:solidFill>
                  <a:srgbClr val="585858"/>
                </a:solidFill>
                <a:effectLst/>
                <a:latin typeface="Ubuntu-Regular"/>
              </a:rPr>
              <a:t>1. Sample Preparation</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In …, one dissociates the cells, which can be tricky for tissues with an extracellular matrix, in such situations, nuclei can be isolated instead. </a:t>
            </a:r>
          </a:p>
          <a:p>
            <a:pPr algn="l"/>
            <a:r>
              <a:rPr lang="en-GB" b="0" i="0" u="none" strike="noStrike" dirty="0">
                <a:solidFill>
                  <a:srgbClr val="585858"/>
                </a:solidFill>
                <a:effectLst/>
                <a:latin typeface="Ubuntu-Regular"/>
              </a:rPr>
              <a:t>Cell viability should be checked before proceeding to the next step, as a high percentage of intact and live cells is required for obtaining good data.</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2. Cell Capture</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The cell suspension is then loaded onto </a:t>
            </a:r>
            <a:r>
              <a:rPr lang="en-GB" b="0" i="0" u="none" strike="noStrike" dirty="0" err="1">
                <a:solidFill>
                  <a:srgbClr val="585858"/>
                </a:solidFill>
                <a:effectLst/>
                <a:latin typeface="Ubuntu-Regular"/>
              </a:rPr>
              <a:t>nanoliter</a:t>
            </a:r>
            <a:r>
              <a:rPr lang="en-GB" b="0" i="0" u="none" strike="noStrike" dirty="0">
                <a:solidFill>
                  <a:srgbClr val="585858"/>
                </a:solidFill>
                <a:effectLst/>
                <a:latin typeface="Ubuntu-Regular"/>
              </a:rPr>
              <a:t>-scale chambers, such as droplets or wells. </a:t>
            </a:r>
          </a:p>
          <a:p>
            <a:pPr algn="l"/>
            <a:r>
              <a:rPr lang="en-GB" b="0" i="0" u="none" strike="noStrike" dirty="0">
                <a:solidFill>
                  <a:srgbClr val="585858"/>
                </a:solidFill>
                <a:effectLst/>
                <a:latin typeface="Ubuntu-Regular"/>
              </a:rPr>
              <a:t>During or shortly after this process, a unique oligonucleotide sequence (i.e., barcode) is added to each chamber, </a:t>
            </a:r>
          </a:p>
          <a:p>
            <a:pPr algn="l"/>
            <a:r>
              <a:rPr lang="en-GB" b="0" i="0" u="none" strike="noStrike" dirty="0">
                <a:solidFill>
                  <a:srgbClr val="585858"/>
                </a:solidFill>
                <a:effectLst/>
                <a:latin typeface="Ubuntu-Regular"/>
              </a:rPr>
              <a:t>allowing for downstream identification of the cell. This can be accomplished with oligo-tagged beads, for example.</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3. Library Preparation</a:t>
            </a:r>
            <a:endParaRPr lang="en-GB" b="0" i="0" u="none" strike="noStrike" dirty="0">
              <a:solidFill>
                <a:srgbClr val="585858"/>
              </a:solidFill>
              <a:effectLst/>
              <a:latin typeface="Ubuntu-Regular"/>
            </a:endParaRPr>
          </a:p>
          <a:p>
            <a:pPr algn="l"/>
            <a:r>
              <a:rPr lang="en-GB" b="0" i="0" u="none" strike="noStrike" dirty="0" err="1">
                <a:solidFill>
                  <a:srgbClr val="585858"/>
                </a:solidFill>
                <a:effectLst/>
                <a:latin typeface="Ubuntu-Regular"/>
              </a:rPr>
              <a:t>Wtihin</a:t>
            </a:r>
            <a:r>
              <a:rPr lang="en-GB" b="0" i="0" u="none" strike="noStrike" dirty="0">
                <a:solidFill>
                  <a:srgbClr val="585858"/>
                </a:solidFill>
                <a:effectLst/>
                <a:latin typeface="Ubuntu-Regular"/>
              </a:rPr>
              <a:t> each microchamber, Cells are lysed, and library construction begins. </a:t>
            </a:r>
          </a:p>
          <a:p>
            <a:pPr algn="l"/>
            <a:r>
              <a:rPr lang="en-GB" b="0" i="0" u="none" strike="noStrike" dirty="0">
                <a:solidFill>
                  <a:srgbClr val="585858"/>
                </a:solidFill>
                <a:effectLst/>
                <a:latin typeface="Ubuntu-Regular"/>
              </a:rPr>
              <a:t>Within the microchamber, the cell-specific barcode is added to the target sequences; </a:t>
            </a:r>
          </a:p>
          <a:p>
            <a:pPr algn="l"/>
            <a:r>
              <a:rPr lang="en-GB" b="0" i="0" u="none" strike="noStrike" dirty="0">
                <a:solidFill>
                  <a:srgbClr val="585858"/>
                </a:solidFill>
                <a:effectLst/>
                <a:latin typeface="Ubuntu-Regular"/>
              </a:rPr>
              <a:t>thus, all fragments from the same cell will share a common identifier. </a:t>
            </a:r>
          </a:p>
          <a:p>
            <a:pPr algn="l"/>
            <a:r>
              <a:rPr lang="en-GB" b="0" i="0" u="none" strike="noStrike" dirty="0">
                <a:solidFill>
                  <a:srgbClr val="585858"/>
                </a:solidFill>
                <a:effectLst/>
                <a:latin typeface="Ubuntu-Regular"/>
              </a:rPr>
              <a:t>The barcoded fragments from all microchambers are then pooled, and the final steps of library construction (i.e., amplification and adding a sample index) are performed.</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4. Sequencing</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The pooled library is sequenced.</a:t>
            </a:r>
          </a:p>
          <a:p>
            <a:endParaRPr lang="en-GB" dirty="0"/>
          </a:p>
          <a:p>
            <a:r>
              <a:rPr lang="en-GB" b="1" i="0" u="none" strike="noStrike" dirty="0">
                <a:solidFill>
                  <a:srgbClr val="585858"/>
                </a:solidFill>
                <a:effectLst/>
                <a:latin typeface="Ubuntu-Regular"/>
              </a:rPr>
              <a:t>5. Data Analysis</a:t>
            </a:r>
            <a:br>
              <a:rPr lang="en-GB" dirty="0"/>
            </a:br>
            <a:r>
              <a:rPr lang="en-GB" dirty="0"/>
              <a:t>The sequencing data will then be </a:t>
            </a:r>
            <a:r>
              <a:rPr lang="en-GB" dirty="0" err="1"/>
              <a:t>preprocessed</a:t>
            </a:r>
            <a:r>
              <a:rPr lang="en-GB" dirty="0"/>
              <a:t>, filtered, and </a:t>
            </a:r>
            <a:r>
              <a:rPr lang="en-GB" dirty="0" err="1"/>
              <a:t>anlayzed</a:t>
            </a:r>
            <a:r>
              <a:rPr lang="en-GB" dirty="0"/>
              <a:t>.</a:t>
            </a:r>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pPr algn="l"/>
            <a:r>
              <a:rPr lang="en-GB" b="1" i="0" u="none" strike="noStrike" dirty="0">
                <a:solidFill>
                  <a:srgbClr val="585858"/>
                </a:solidFill>
                <a:effectLst/>
                <a:latin typeface="Ubuntu-Regular"/>
              </a:rPr>
              <a:t>1. Sample Preparation</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In …, one dissociates the cells, which can be tricky for tissues with an extracellular matrix, in such situations, nuclei can be isolated instead. </a:t>
            </a:r>
          </a:p>
          <a:p>
            <a:pPr algn="l"/>
            <a:r>
              <a:rPr lang="en-GB" b="0" i="0" u="none" strike="noStrike" dirty="0">
                <a:solidFill>
                  <a:srgbClr val="585858"/>
                </a:solidFill>
                <a:effectLst/>
                <a:latin typeface="Ubuntu-Regular"/>
              </a:rPr>
              <a:t>Cell viability should be checked before proceeding to the next step, as a high percentage of intact and live cells is required for obtaining good data.</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2. Cell Capture</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The cell suspension is loaded onto a microfluidic chip or cartridge, where cells are partitioned into </a:t>
            </a:r>
            <a:r>
              <a:rPr lang="en-GB" b="0" i="0" u="none" strike="noStrike" dirty="0" err="1">
                <a:solidFill>
                  <a:srgbClr val="585858"/>
                </a:solidFill>
                <a:effectLst/>
                <a:latin typeface="Ubuntu-Regular"/>
              </a:rPr>
              <a:t>nanoliter</a:t>
            </a:r>
            <a:r>
              <a:rPr lang="en-GB" b="0" i="0" u="none" strike="noStrike" dirty="0">
                <a:solidFill>
                  <a:srgbClr val="585858"/>
                </a:solidFill>
                <a:effectLst/>
                <a:latin typeface="Ubuntu-Regular"/>
              </a:rPr>
              <a:t>-scale chambers, such as droplets or wells. The technology for cell capture differs between commercial platforms, but each employs its own set of measures to deter and/or detect loading of more than one cell per chamber (see </a:t>
            </a:r>
            <a:r>
              <a:rPr lang="en-GB" b="0" i="0" u="none" strike="noStrike" dirty="0">
                <a:solidFill>
                  <a:srgbClr val="826EC3"/>
                </a:solidFill>
                <a:effectLst/>
                <a:latin typeface="Ubuntu-Regular"/>
                <a:hlinkClick r:id="rId3" tooltip="Single-Cell Platforms"/>
              </a:rPr>
              <a:t>Single-Cell Platforms</a:t>
            </a:r>
            <a:r>
              <a:rPr lang="en-GB" b="0" i="0" u="none" strike="noStrike" dirty="0">
                <a:solidFill>
                  <a:srgbClr val="585858"/>
                </a:solidFill>
                <a:effectLst/>
                <a:latin typeface="Ubuntu-Regular"/>
              </a:rPr>
              <a:t> section). During or shortly after cell capture, a unique oligonucleotide sequence (i.e., barcode) is added to each chamber, allowing for downstream identification of the cell. This can be accomplished with oligo-tagged beads, for example.</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3. Library Preparation</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Cells are lysed, and library construction begins. The enzymatic reactions that follow depend on the application (see </a:t>
            </a:r>
            <a:r>
              <a:rPr lang="en-GB" b="0" i="0" u="none" strike="noStrike" dirty="0">
                <a:solidFill>
                  <a:srgbClr val="826EC3"/>
                </a:solidFill>
                <a:effectLst/>
                <a:latin typeface="Ubuntu-Regular"/>
                <a:hlinkClick r:id="rId4" tooltip="Single-Cell Techniques"/>
              </a:rPr>
              <a:t>Single-Cell Techniques</a:t>
            </a:r>
            <a:r>
              <a:rPr lang="en-GB" b="0" i="0" u="none" strike="noStrike" dirty="0">
                <a:solidFill>
                  <a:srgbClr val="585858"/>
                </a:solidFill>
                <a:effectLst/>
                <a:latin typeface="Ubuntu-Regular"/>
              </a:rPr>
              <a:t> section). Within the microchamber, the cell-specific barcode is added to the target sequences; thus, all fragments from the same cell will share a common identifier. The barcoded fragments from all microchambers are then pooled, and the final steps of library construction (i.e., amplification and adding a sample index) are performed.</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4. Sequencing</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The pooled library is sequenced on the Illumina platform.</a:t>
            </a:r>
          </a:p>
          <a:p>
            <a:endParaRPr lang="en-GB" dirty="0"/>
          </a:p>
          <a:p>
            <a:r>
              <a:rPr lang="en-GB" b="1" i="0" u="none" strike="noStrike" dirty="0">
                <a:solidFill>
                  <a:srgbClr val="585858"/>
                </a:solidFill>
                <a:effectLst/>
                <a:latin typeface="Ubuntu-Regular"/>
              </a:rPr>
              <a:t>5. Data Analysis</a:t>
            </a:r>
            <a:br>
              <a:rPr lang="en-GB" dirty="0"/>
            </a:br>
            <a:r>
              <a:rPr lang="en-GB" b="0" i="0" u="none" strike="noStrike" dirty="0">
                <a:solidFill>
                  <a:srgbClr val="585858"/>
                </a:solidFill>
                <a:effectLst/>
                <a:latin typeface="Ubuntu-Regular"/>
              </a:rPr>
              <a:t>Raw sequencing data undergoes pre-processing. Reads of low quality and those unlikely to have originated from a viable cell are thrown out. For example, reads containing a barcode with a low count and few detected genes probably represent background noise. After quality control, the data is normalized across cellular barcodes. The number of useful reads varies greatly between cells, mainly due to the low depth of sequencing per cell (i.e., sampling effects). The data is then subjected to downstream analysis, which includes feature selection, dimensionality reduction, and/or visualization</a:t>
            </a:r>
            <a:r>
              <a:rPr lang="en-GB" b="0" i="0" u="none" strike="noStrike" baseline="30000" dirty="0">
                <a:solidFill>
                  <a:srgbClr val="585858"/>
                </a:solidFill>
                <a:effectLst/>
                <a:latin typeface="Ubuntu-Regular"/>
              </a:rPr>
              <a:t>2</a:t>
            </a:r>
            <a:r>
              <a:rPr lang="en-GB" b="0" i="0" u="none" strike="noStrike" dirty="0">
                <a:solidFill>
                  <a:srgbClr val="585858"/>
                </a:solidFill>
                <a:effectLst/>
                <a:latin typeface="Ubuntu-Regular"/>
              </a:rPr>
              <a:t>. The goal here is to find biologically meaningful patterns, such as clusters in t-SNE plots that represent distinct cell types.</a:t>
            </a:r>
            <a:endParaRPr lang="en-SE" dirty="0"/>
          </a:p>
          <a:p>
            <a:endParaRPr lang="en-SE" dirty="0"/>
          </a:p>
          <a:p>
            <a:endParaRPr lang="en-SE" dirty="0"/>
          </a:p>
        </p:txBody>
      </p:sp>
      <p:sp>
        <p:nvSpPr>
          <p:cNvPr id="4" name="Slide Number Placeholder 3">
            <a:extLst>
              <a:ext uri="{FF2B5EF4-FFF2-40B4-BE49-F238E27FC236}">
                <a16:creationId xmlns:a16="http://schemas.microsoft.com/office/drawing/2014/main" id="{057EC279-8732-5092-4334-AC1A1BACB0C0}"/>
              </a:ext>
            </a:extLst>
          </p:cNvPr>
          <p:cNvSpPr>
            <a:spLocks noGrp="1"/>
          </p:cNvSpPr>
          <p:nvPr>
            <p:ph type="sldNum" sz="quarter" idx="5"/>
          </p:nvPr>
        </p:nvSpPr>
        <p:spPr/>
        <p:txBody>
          <a:bodyPr/>
          <a:lstStyle/>
          <a:p>
            <a:fld id="{4F94EAD7-C080-EA41-9B84-79497172280C}" type="slidenum">
              <a:rPr lang="en-SE" smtClean="0"/>
              <a:t>9</a:t>
            </a:fld>
            <a:endParaRPr lang="en-SE"/>
          </a:p>
        </p:txBody>
      </p:sp>
    </p:spTree>
    <p:extLst>
      <p:ext uri="{BB962C8B-B14F-4D97-AF65-F5344CB8AC3E}">
        <p14:creationId xmlns:p14="http://schemas.microsoft.com/office/powerpoint/2010/main" val="814187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dirty="0">
                <a:solidFill>
                  <a:srgbClr val="585858"/>
                </a:solidFill>
                <a:effectLst/>
                <a:latin typeface="Ubuntu-Regular"/>
              </a:rPr>
              <a:t>In sample preparation, one dissociates the cells, which can be tricky for tissues with an extracellular matrix, in such situations, nuclei can be isolated instead. </a:t>
            </a:r>
          </a:p>
          <a:p>
            <a:pPr algn="l"/>
            <a:r>
              <a:rPr lang="en-GB" b="0" i="0" u="none" strike="noStrike" dirty="0">
                <a:solidFill>
                  <a:srgbClr val="585858"/>
                </a:solidFill>
                <a:effectLst/>
                <a:latin typeface="Ubuntu-Regular"/>
              </a:rPr>
              <a:t>Cell viability should be checked before proceeding to the next step, as a high percentage of intact and live cells is required for obtaining good data.</a:t>
            </a:r>
          </a:p>
          <a:p>
            <a:pPr algn="l"/>
            <a:r>
              <a:rPr lang="en-GB" b="0" i="0" u="none" strike="noStrike" dirty="0">
                <a:solidFill>
                  <a:srgbClr val="585858"/>
                </a:solidFill>
                <a:effectLst/>
                <a:latin typeface="Ubuntu-Regular"/>
              </a:rPr>
              <a:t> </a:t>
            </a:r>
          </a:p>
          <a:p>
            <a:endParaRPr lang="en-SE" dirty="0"/>
          </a:p>
        </p:txBody>
      </p:sp>
      <p:sp>
        <p:nvSpPr>
          <p:cNvPr id="4" name="Slide Number Placeholder 3"/>
          <p:cNvSpPr>
            <a:spLocks noGrp="1"/>
          </p:cNvSpPr>
          <p:nvPr>
            <p:ph type="sldNum" sz="quarter" idx="5"/>
          </p:nvPr>
        </p:nvSpPr>
        <p:spPr/>
        <p:txBody>
          <a:bodyPr/>
          <a:lstStyle/>
          <a:p>
            <a:fld id="{4F94EAD7-C080-EA41-9B84-79497172280C}" type="slidenum">
              <a:rPr lang="en-SE" smtClean="0"/>
              <a:t>10</a:t>
            </a:fld>
            <a:endParaRPr lang="en-SE"/>
          </a:p>
        </p:txBody>
      </p:sp>
    </p:spTree>
    <p:extLst>
      <p:ext uri="{BB962C8B-B14F-4D97-AF65-F5344CB8AC3E}">
        <p14:creationId xmlns:p14="http://schemas.microsoft.com/office/powerpoint/2010/main" val="3074597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u="none" strike="noStrike" dirty="0">
                <a:solidFill>
                  <a:srgbClr val="585858"/>
                </a:solidFill>
                <a:effectLst/>
                <a:latin typeface="Ubuntu-Regular"/>
              </a:rPr>
              <a:t>The cell suspension is then loaded onto </a:t>
            </a:r>
            <a:r>
              <a:rPr lang="en-GB" b="0" i="0" u="none" strike="noStrike" dirty="0" err="1">
                <a:solidFill>
                  <a:srgbClr val="585858"/>
                </a:solidFill>
                <a:effectLst/>
                <a:latin typeface="Ubuntu-Regular"/>
              </a:rPr>
              <a:t>nanoliter</a:t>
            </a:r>
            <a:r>
              <a:rPr lang="en-GB" b="0" i="0" u="none" strike="noStrike" dirty="0">
                <a:solidFill>
                  <a:srgbClr val="585858"/>
                </a:solidFill>
                <a:effectLst/>
                <a:latin typeface="Ubuntu-Regular"/>
              </a:rPr>
              <a:t>-scale chambers, such as droplets or wells. </a:t>
            </a:r>
          </a:p>
          <a:p>
            <a:pPr algn="l"/>
            <a:r>
              <a:rPr lang="en-GB" b="0" i="0" u="none" strike="noStrike" dirty="0">
                <a:solidFill>
                  <a:srgbClr val="585858"/>
                </a:solidFill>
                <a:effectLst/>
                <a:latin typeface="Ubuntu-Regular"/>
              </a:rPr>
              <a:t>During or shortly after this process, a unique oligonucleotide sequence is added to each chamber, </a:t>
            </a:r>
          </a:p>
          <a:p>
            <a:pPr algn="l"/>
            <a:r>
              <a:rPr lang="en-GB" b="0" i="0" u="none" strike="noStrike" dirty="0">
                <a:solidFill>
                  <a:srgbClr val="585858"/>
                </a:solidFill>
                <a:effectLst/>
                <a:latin typeface="Ubuntu-Regular"/>
              </a:rPr>
              <a:t>This can be accomplished with oligo-tagged beads, for example.</a:t>
            </a:r>
          </a:p>
          <a:p>
            <a:pPr algn="l"/>
            <a:r>
              <a:rPr lang="en-GB" b="0" i="0" u="none" strike="noStrike" dirty="0">
                <a:solidFill>
                  <a:srgbClr val="585858"/>
                </a:solidFill>
                <a:effectLst/>
                <a:latin typeface="Ubuntu-Regular"/>
              </a:rPr>
              <a:t> </a:t>
            </a:r>
          </a:p>
          <a:p>
            <a:endParaRPr lang="en-SE" dirty="0"/>
          </a:p>
        </p:txBody>
      </p:sp>
      <p:sp>
        <p:nvSpPr>
          <p:cNvPr id="4" name="Slide Number Placeholder 3"/>
          <p:cNvSpPr>
            <a:spLocks noGrp="1"/>
          </p:cNvSpPr>
          <p:nvPr>
            <p:ph type="sldNum" sz="quarter" idx="5"/>
          </p:nvPr>
        </p:nvSpPr>
        <p:spPr/>
        <p:txBody>
          <a:bodyPr/>
          <a:lstStyle/>
          <a:p>
            <a:fld id="{4F94EAD7-C080-EA41-9B84-79497172280C}" type="slidenum">
              <a:rPr lang="en-SE" smtClean="0"/>
              <a:t>11</a:t>
            </a:fld>
            <a:endParaRPr lang="en-SE"/>
          </a:p>
        </p:txBody>
      </p:sp>
    </p:spTree>
    <p:extLst>
      <p:ext uri="{BB962C8B-B14F-4D97-AF65-F5344CB8AC3E}">
        <p14:creationId xmlns:p14="http://schemas.microsoft.com/office/powerpoint/2010/main" val="2531807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u="none" strike="noStrike" dirty="0">
                <a:solidFill>
                  <a:srgbClr val="585858"/>
                </a:solidFill>
                <a:effectLst/>
                <a:latin typeface="Ubuntu-Regular"/>
              </a:rPr>
              <a:t>3. Library Preparation</a:t>
            </a:r>
            <a:endParaRPr lang="en-GB" b="0" i="0" u="none" strike="noStrike" dirty="0">
              <a:solidFill>
                <a:srgbClr val="585858"/>
              </a:solidFill>
              <a:effectLst/>
              <a:latin typeface="Ubuntu-Regular"/>
            </a:endParaRPr>
          </a:p>
          <a:p>
            <a:pPr algn="l"/>
            <a:r>
              <a:rPr lang="en-GB" b="0" i="0" u="none" strike="noStrike" dirty="0" err="1">
                <a:solidFill>
                  <a:srgbClr val="585858"/>
                </a:solidFill>
                <a:effectLst/>
                <a:latin typeface="Ubuntu-Regular"/>
              </a:rPr>
              <a:t>Wtihin</a:t>
            </a:r>
            <a:r>
              <a:rPr lang="en-GB" b="0" i="0" u="none" strike="noStrike" dirty="0">
                <a:solidFill>
                  <a:srgbClr val="585858"/>
                </a:solidFill>
                <a:effectLst/>
                <a:latin typeface="Ubuntu-Regular"/>
              </a:rPr>
              <a:t> each microchamber, Cells are lysed to release the RNA molecules they contain, and library construction begins. </a:t>
            </a:r>
          </a:p>
          <a:p>
            <a:pPr algn="l"/>
            <a:r>
              <a:rPr lang="en-GB" b="0" i="0" u="none" strike="noStrike" dirty="0">
                <a:solidFill>
                  <a:srgbClr val="585858"/>
                </a:solidFill>
                <a:effectLst/>
                <a:latin typeface="Ubuntu-Regular"/>
              </a:rPr>
              <a:t>Within the microchamber, RNA molecules are attached to oligos on the beads, there, each RNA oligo gets a cell-specific barcode,</a:t>
            </a:r>
          </a:p>
          <a:p>
            <a:pPr algn="l"/>
            <a:r>
              <a:rPr lang="en-GB" b="0" i="0" u="none" strike="noStrike" dirty="0">
                <a:solidFill>
                  <a:srgbClr val="585858"/>
                </a:solidFill>
                <a:effectLst/>
                <a:latin typeface="Ubuntu-Regular"/>
              </a:rPr>
              <a:t>All RNA molecules from one cell will share the same barcode, this is important, because during the last step of library preparation, the RNA molecules from all cells will be pooled together.</a:t>
            </a:r>
          </a:p>
          <a:p>
            <a:r>
              <a:rPr lang="en-SE" dirty="0"/>
              <a:t>Apart from barcode, sometimes, each RNA molecule will also acquire a UMI sequence from the oligo, </a:t>
            </a:r>
          </a:p>
          <a:p>
            <a:r>
              <a:rPr lang="en-SE" dirty="0"/>
              <a:t>which is unique individually, and this can be treated as an ind. RNA molecule identifier, </a:t>
            </a:r>
          </a:p>
          <a:p>
            <a:r>
              <a:rPr lang="en-SE" dirty="0"/>
              <a:t>this is also important, because during the last steps of library preparation, the molecules will be amilplified to make many copies of each molecule, so we can have enough material to sequence.</a:t>
            </a:r>
          </a:p>
          <a:p>
            <a:r>
              <a:rPr lang="en-GB" dirty="0"/>
              <a:t>W</a:t>
            </a:r>
            <a:r>
              <a:rPr lang="en-SE" dirty="0"/>
              <a:t>ith UMIs, we can know how many copies of each RNA molecule we have in the cell.</a:t>
            </a:r>
          </a:p>
          <a:p>
            <a:endParaRPr lang="en-SE" dirty="0"/>
          </a:p>
          <a:p>
            <a:endParaRPr lang="en-SE" dirty="0"/>
          </a:p>
          <a:p>
            <a:endParaRPr lang="en-SE" dirty="0"/>
          </a:p>
        </p:txBody>
      </p:sp>
      <p:sp>
        <p:nvSpPr>
          <p:cNvPr id="4" name="Slide Number Placeholder 3"/>
          <p:cNvSpPr>
            <a:spLocks noGrp="1"/>
          </p:cNvSpPr>
          <p:nvPr>
            <p:ph type="sldNum" sz="quarter" idx="5"/>
          </p:nvPr>
        </p:nvSpPr>
        <p:spPr/>
        <p:txBody>
          <a:bodyPr/>
          <a:lstStyle/>
          <a:p>
            <a:fld id="{4F94EAD7-C080-EA41-9B84-79497172280C}" type="slidenum">
              <a:rPr lang="en-SE" smtClean="0"/>
              <a:t>12</a:t>
            </a:fld>
            <a:endParaRPr lang="en-SE"/>
          </a:p>
        </p:txBody>
      </p:sp>
    </p:spTree>
    <p:extLst>
      <p:ext uri="{BB962C8B-B14F-4D97-AF65-F5344CB8AC3E}">
        <p14:creationId xmlns:p14="http://schemas.microsoft.com/office/powerpoint/2010/main" val="1476503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Next, the RNA molecules will be sequenced 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acquired sequencing data will be </a:t>
            </a:r>
            <a:r>
              <a:rPr lang="en-GB" dirty="0" err="1"/>
              <a:t>preprocessed</a:t>
            </a:r>
            <a:r>
              <a:rPr lang="en-GB" dirty="0"/>
              <a:t>, filtered, and </a:t>
            </a:r>
            <a:r>
              <a:rPr lang="en-GB" dirty="0" err="1"/>
              <a:t>anlayzed</a:t>
            </a:r>
            <a:r>
              <a:rPr lang="en-GB" dirty="0"/>
              <a:t>.</a:t>
            </a:r>
            <a:endParaRPr lang="en-GB" b="0" i="0" u="none" strike="noStrike" dirty="0">
              <a:solidFill>
                <a:srgbClr val="585858"/>
              </a:solidFill>
              <a:effectLst/>
              <a:latin typeface="Ubuntu-Regular"/>
            </a:endParaRPr>
          </a:p>
          <a:p>
            <a:endParaRPr lang="en-SE" dirty="0"/>
          </a:p>
        </p:txBody>
      </p:sp>
      <p:sp>
        <p:nvSpPr>
          <p:cNvPr id="4" name="Slide Number Placeholder 3"/>
          <p:cNvSpPr>
            <a:spLocks noGrp="1"/>
          </p:cNvSpPr>
          <p:nvPr>
            <p:ph type="sldNum" sz="quarter" idx="5"/>
          </p:nvPr>
        </p:nvSpPr>
        <p:spPr/>
        <p:txBody>
          <a:bodyPr/>
          <a:lstStyle/>
          <a:p>
            <a:fld id="{4F94EAD7-C080-EA41-9B84-79497172280C}" type="slidenum">
              <a:rPr lang="en-SE" smtClean="0"/>
              <a:t>13</a:t>
            </a:fld>
            <a:endParaRPr lang="en-SE"/>
          </a:p>
        </p:txBody>
      </p:sp>
    </p:spTree>
    <p:extLst>
      <p:ext uri="{BB962C8B-B14F-4D97-AF65-F5344CB8AC3E}">
        <p14:creationId xmlns:p14="http://schemas.microsoft.com/office/powerpoint/2010/main" val="2613322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Helvetica" pitchFamily="2" charset="0"/>
              </a:rPr>
              <a:t>in the first few years of </a:t>
            </a:r>
            <a:r>
              <a:rPr lang="en-GB" b="0" i="0" u="none" strike="noStrike" dirty="0" err="1">
                <a:solidFill>
                  <a:srgbClr val="000000"/>
                </a:solidFill>
                <a:effectLst/>
                <a:latin typeface="Helvetica" pitchFamily="2" charset="0"/>
              </a:rPr>
              <a:t>scRNAseq</a:t>
            </a:r>
            <a:r>
              <a:rPr lang="en-GB" b="0" i="0" u="none" strike="noStrike" dirty="0">
                <a:solidFill>
                  <a:srgbClr val="000000"/>
                </a:solidFill>
                <a:effectLst/>
                <a:latin typeface="Helvetica" pitchFamily="2" charset="0"/>
              </a:rPr>
              <a:t> development, the methods mostly focused on sorting each individual cells into separate wells,</a:t>
            </a:r>
          </a:p>
          <a:p>
            <a:r>
              <a:rPr lang="en-GB" b="0" i="0" u="none" strike="noStrike" dirty="0">
                <a:solidFill>
                  <a:srgbClr val="000000"/>
                </a:solidFill>
                <a:effectLst/>
                <a:latin typeface="Helvetica" pitchFamily="2" charset="0"/>
              </a:rPr>
              <a:t> and make sequencing library within each of those wells and sequence them, </a:t>
            </a:r>
          </a:p>
          <a:p>
            <a:r>
              <a:rPr lang="en-GB" b="0" i="0" u="none" strike="noStrike" dirty="0">
                <a:solidFill>
                  <a:srgbClr val="000000"/>
                </a:solidFill>
                <a:effectLst/>
                <a:latin typeface="Helvetica" pitchFamily="2" charset="0"/>
              </a:rPr>
              <a:t>the most popular method is plate-based smart </a:t>
            </a:r>
            <a:r>
              <a:rPr lang="en-GB" b="0" i="0" u="none" strike="noStrike" dirty="0" err="1">
                <a:solidFill>
                  <a:srgbClr val="000000"/>
                </a:solidFill>
                <a:effectLst/>
                <a:latin typeface="Helvetica" pitchFamily="2" charset="0"/>
              </a:rPr>
              <a:t>seq</a:t>
            </a:r>
            <a:r>
              <a:rPr lang="en-GB" b="0" i="0" u="none" strike="noStrike" dirty="0">
                <a:solidFill>
                  <a:srgbClr val="000000"/>
                </a:solidFill>
                <a:effectLst/>
                <a:latin typeface="Helvetica" pitchFamily="2" charset="0"/>
              </a:rPr>
              <a:t> method</a:t>
            </a:r>
            <a:endParaRPr lang="en-SE" dirty="0"/>
          </a:p>
        </p:txBody>
      </p:sp>
      <p:sp>
        <p:nvSpPr>
          <p:cNvPr id="4" name="Slide Number Placeholder 3"/>
          <p:cNvSpPr>
            <a:spLocks noGrp="1"/>
          </p:cNvSpPr>
          <p:nvPr>
            <p:ph type="sldNum" sz="quarter" idx="5"/>
          </p:nvPr>
        </p:nvSpPr>
        <p:spPr/>
        <p:txBody>
          <a:bodyPr/>
          <a:lstStyle/>
          <a:p>
            <a:fld id="{A57BE0FF-2623-D340-847B-F6E4752E041A}" type="slidenum">
              <a:rPr lang="en-SE" smtClean="0"/>
              <a:t>14</a:t>
            </a:fld>
            <a:endParaRPr lang="en-SE"/>
          </a:p>
        </p:txBody>
      </p:sp>
    </p:spTree>
    <p:extLst>
      <p:ext uri="{BB962C8B-B14F-4D97-AF65-F5344CB8AC3E}">
        <p14:creationId xmlns:p14="http://schemas.microsoft.com/office/powerpoint/2010/main" val="2210281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Helvetica" pitchFamily="2" charset="0"/>
              </a:rPr>
              <a:t>in this method, you use a </a:t>
            </a:r>
            <a:r>
              <a:rPr lang="en-GB" b="0" i="0" u="none" strike="noStrike" dirty="0" err="1">
                <a:solidFill>
                  <a:srgbClr val="000000"/>
                </a:solidFill>
                <a:effectLst/>
                <a:latin typeface="Helvetica" pitchFamily="2" charset="0"/>
              </a:rPr>
              <a:t>cytoflowmetry</a:t>
            </a:r>
            <a:r>
              <a:rPr lang="en-GB" b="0" i="0" u="none" strike="noStrike" dirty="0">
                <a:solidFill>
                  <a:srgbClr val="000000"/>
                </a:solidFill>
                <a:effectLst/>
                <a:latin typeface="Helvetica" pitchFamily="2" charset="0"/>
              </a:rPr>
              <a:t> method to sort the cells of interest one cell per well in a 96 well or 384 well plates, </a:t>
            </a:r>
          </a:p>
          <a:p>
            <a:r>
              <a:rPr lang="en-GB" b="0" i="0" u="none" strike="noStrike" dirty="0">
                <a:solidFill>
                  <a:srgbClr val="000000"/>
                </a:solidFill>
                <a:effectLst/>
                <a:latin typeface="Helvetica" pitchFamily="2" charset="0"/>
              </a:rPr>
              <a:t>This method sequence the full length of a RNA molecule, so it’s good if you want to detect isoforms</a:t>
            </a:r>
          </a:p>
          <a:p>
            <a:r>
              <a:rPr lang="en-GB" b="0" i="0" u="none" strike="noStrike" dirty="0">
                <a:solidFill>
                  <a:srgbClr val="000000"/>
                </a:solidFill>
                <a:effectLst/>
                <a:latin typeface="Helvetica" pitchFamily="2" charset="0"/>
              </a:rPr>
              <a:t>However, it can only sequence a few hundreds and maybe a few thousands of cells, with a lot of manual efforts and it’s very expensive.</a:t>
            </a:r>
          </a:p>
          <a:p>
            <a:endParaRPr lang="en-GB" b="0" i="0" u="none" strike="noStrike" dirty="0">
              <a:solidFill>
                <a:srgbClr val="000000"/>
              </a:solidFill>
              <a:effectLst/>
              <a:latin typeface="Helvetica" pitchFamily="2" charset="0"/>
            </a:endParaRPr>
          </a:p>
          <a:p>
            <a:r>
              <a:rPr lang="en-GB" b="1" i="0" u="none" strike="noStrike" dirty="0">
                <a:solidFill>
                  <a:srgbClr val="5F6368"/>
                </a:solidFill>
                <a:effectLst/>
                <a:latin typeface="Arial" panose="020B0604020202020204" pitchFamily="34" charset="0"/>
              </a:rPr>
              <a:t>Fluorescence-activated cell sorting</a:t>
            </a:r>
            <a:r>
              <a:rPr lang="en-GB" b="0" i="0" u="none" strike="noStrike" dirty="0">
                <a:solidFill>
                  <a:srgbClr val="4D5156"/>
                </a:solidFill>
                <a:effectLst/>
                <a:latin typeface="Arial" panose="020B0604020202020204" pitchFamily="34" charset="0"/>
              </a:rPr>
              <a:t> (</a:t>
            </a:r>
            <a:r>
              <a:rPr lang="en-GB" b="1" i="0" u="none" strike="noStrike" dirty="0">
                <a:solidFill>
                  <a:srgbClr val="5F6368"/>
                </a:solidFill>
                <a:effectLst/>
                <a:latin typeface="Arial" panose="020B0604020202020204" pitchFamily="34" charset="0"/>
              </a:rPr>
              <a:t>FACS</a:t>
            </a:r>
            <a:r>
              <a:rPr lang="en-GB" b="0" i="0" u="none" strike="noStrike" dirty="0">
                <a:solidFill>
                  <a:srgbClr val="4D5156"/>
                </a:solidFill>
                <a:effectLst/>
                <a:latin typeface="Arial" panose="020B0604020202020204" pitchFamily="34" charset="0"/>
              </a:rPr>
              <a:t>) is a specialized type of flow cytometry</a:t>
            </a:r>
          </a:p>
          <a:p>
            <a:r>
              <a:rPr lang="en-GB" b="0" i="0" u="none" strike="noStrike" dirty="0">
                <a:solidFill>
                  <a:srgbClr val="4D5156"/>
                </a:solidFill>
                <a:effectLst/>
                <a:latin typeface="Arial" panose="020B0604020202020204" pitchFamily="34" charset="0"/>
              </a:rPr>
              <a:t>Flow cytometry (FC) is a technique used to detect and measure the physical and chemical characteristics of a population of cells or particles.</a:t>
            </a:r>
            <a:endParaRPr lang="en-GB" b="0" i="0" u="none" strike="noStrike" dirty="0">
              <a:solidFill>
                <a:srgbClr val="000000"/>
              </a:solidFill>
              <a:effectLst/>
              <a:latin typeface="Helvetica" pitchFamily="2" charset="0"/>
            </a:endParaRPr>
          </a:p>
          <a:p>
            <a:r>
              <a:rPr lang="en-GB" b="0" i="0" u="none" strike="noStrike" dirty="0" err="1">
                <a:solidFill>
                  <a:srgbClr val="000000"/>
                </a:solidFill>
                <a:effectLst/>
                <a:latin typeface="Helvetica" pitchFamily="2" charset="0"/>
              </a:rPr>
              <a:t>SMARTseq</a:t>
            </a:r>
            <a:r>
              <a:rPr lang="en-GB" b="0" i="0" u="none" strike="noStrike" dirty="0">
                <a:solidFill>
                  <a:srgbClr val="000000"/>
                </a:solidFill>
                <a:effectLst/>
                <a:latin typeface="Helvetica" pitchFamily="2" charset="0"/>
              </a:rPr>
              <a:t> 3 has UMI, but the previous versions don’t have.</a:t>
            </a:r>
          </a:p>
          <a:p>
            <a:endParaRPr lang="en-GB" b="0" i="0" u="none" strike="noStrike" dirty="0">
              <a:solidFill>
                <a:srgbClr val="000000"/>
              </a:solidFill>
              <a:effectLst/>
              <a:latin typeface="Helvetica"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u="none" strike="noStrike" dirty="0">
                <a:solidFill>
                  <a:srgbClr val="000000"/>
                </a:solidFill>
                <a:effectLst/>
                <a:latin typeface="Helvetica" pitchFamily="2" charset="0"/>
              </a:rPr>
              <a:t>where you lyse the cell, synthesize cDNA from mRNA, fragment the cDNA, amplified them and sequence the transcriptome of each cell. </a:t>
            </a:r>
          </a:p>
          <a:p>
            <a:endParaRPr lang="en-GB" b="0" i="0" u="none" strike="noStrike" dirty="0">
              <a:solidFill>
                <a:srgbClr val="000000"/>
              </a:solidFill>
              <a:effectLst/>
              <a:latin typeface="Helvetica" pitchFamily="2" charset="0"/>
            </a:endParaRPr>
          </a:p>
          <a:p>
            <a:r>
              <a:rPr lang="en-GB" b="0" i="0" u="none" strike="noStrike" dirty="0">
                <a:solidFill>
                  <a:srgbClr val="000000"/>
                </a:solidFill>
                <a:effectLst/>
                <a:latin typeface="Helvetica" pitchFamily="2" charset="0"/>
              </a:rPr>
              <a:t>in this method, you use a </a:t>
            </a:r>
            <a:r>
              <a:rPr lang="en-GB" b="0" i="0" u="none" strike="noStrike" dirty="0" err="1">
                <a:solidFill>
                  <a:srgbClr val="000000"/>
                </a:solidFill>
                <a:effectLst/>
                <a:latin typeface="Helvetica" pitchFamily="2" charset="0"/>
              </a:rPr>
              <a:t>cytoflowmetry</a:t>
            </a:r>
            <a:r>
              <a:rPr lang="en-GB" b="0" i="0" u="none" strike="noStrike" dirty="0">
                <a:solidFill>
                  <a:srgbClr val="000000"/>
                </a:solidFill>
                <a:effectLst/>
                <a:latin typeface="Helvetica" pitchFamily="2" charset="0"/>
              </a:rPr>
              <a:t> method to sort the cells of interest one cell per well in a 96 well or 384 well plates, and you lyse those cells, and you do a </a:t>
            </a:r>
            <a:r>
              <a:rPr lang="en-GB" b="0" i="0" u="none" strike="noStrike" dirty="0" err="1">
                <a:solidFill>
                  <a:srgbClr val="000000"/>
                </a:solidFill>
                <a:effectLst/>
                <a:latin typeface="Helvetica" pitchFamily="2" charset="0"/>
              </a:rPr>
              <a:t>retrotranscription</a:t>
            </a:r>
            <a:r>
              <a:rPr lang="en-GB" b="0" i="0" u="none" strike="noStrike" dirty="0">
                <a:solidFill>
                  <a:srgbClr val="000000"/>
                </a:solidFill>
                <a:effectLst/>
                <a:latin typeface="Helvetica" pitchFamily="2" charset="0"/>
              </a:rPr>
              <a:t> reaction for library preparation, during this process, you have a oligodendrocyte dT which bind to the </a:t>
            </a:r>
            <a:r>
              <a:rPr lang="en-GB" b="0" i="0" u="none" strike="noStrike" dirty="0" err="1">
                <a:solidFill>
                  <a:srgbClr val="000000"/>
                </a:solidFill>
                <a:effectLst/>
                <a:latin typeface="Helvetica" pitchFamily="2" charset="0"/>
              </a:rPr>
              <a:t>polyA</a:t>
            </a:r>
            <a:r>
              <a:rPr lang="en-GB" b="0" i="0" u="none" strike="noStrike" dirty="0">
                <a:solidFill>
                  <a:srgbClr val="000000"/>
                </a:solidFill>
                <a:effectLst/>
                <a:latin typeface="Helvetica" pitchFamily="2" charset="0"/>
              </a:rPr>
              <a:t> tail of the messenger RNA, this oligodendrocyte dT has a handle on the end. During the </a:t>
            </a:r>
            <a:r>
              <a:rPr lang="en-GB" b="0" i="0" u="none" strike="noStrike" dirty="0" err="1">
                <a:solidFill>
                  <a:srgbClr val="000000"/>
                </a:solidFill>
                <a:effectLst/>
                <a:latin typeface="Helvetica" pitchFamily="2" charset="0"/>
              </a:rPr>
              <a:t>retrotranscription</a:t>
            </a:r>
            <a:r>
              <a:rPr lang="en-GB" b="0" i="0" u="none" strike="noStrike" dirty="0">
                <a:solidFill>
                  <a:srgbClr val="000000"/>
                </a:solidFill>
                <a:effectLst/>
                <a:latin typeface="Helvetica" pitchFamily="2" charset="0"/>
              </a:rPr>
              <a:t> process, the a DNA strand will get synthesized using the RNA as a template. In the end, a few non-templates C bases will be added, these G bases will bind to a template switching oligo, apart from the complementary G bases, the template switching oligo also has a handle. After the </a:t>
            </a:r>
            <a:r>
              <a:rPr lang="en-GB" b="0" i="0" u="none" strike="noStrike" dirty="0" err="1">
                <a:solidFill>
                  <a:srgbClr val="000000"/>
                </a:solidFill>
                <a:effectLst/>
                <a:latin typeface="Helvetica" pitchFamily="2" charset="0"/>
              </a:rPr>
              <a:t>reotranscription</a:t>
            </a:r>
            <a:r>
              <a:rPr lang="en-GB" b="0" i="0" u="none" strike="noStrike" dirty="0">
                <a:solidFill>
                  <a:srgbClr val="000000"/>
                </a:solidFill>
                <a:effectLst/>
                <a:latin typeface="Helvetica" pitchFamily="2" charset="0"/>
              </a:rPr>
              <a:t> reaction, you will end up with a cDNA with a PCR handle on both ends. This undergoes amplification, and you get many many copies of each cDNA, then the </a:t>
            </a:r>
            <a:r>
              <a:rPr lang="en-GB" b="0" i="0" u="none" strike="noStrike" dirty="0" err="1">
                <a:solidFill>
                  <a:srgbClr val="000000"/>
                </a:solidFill>
                <a:effectLst/>
                <a:latin typeface="Helvetica" pitchFamily="2" charset="0"/>
              </a:rPr>
              <a:t>cDNN</a:t>
            </a:r>
            <a:r>
              <a:rPr lang="en-GB" b="0" i="0" u="none" strike="noStrike" dirty="0">
                <a:solidFill>
                  <a:srgbClr val="000000"/>
                </a:solidFill>
                <a:effectLst/>
                <a:latin typeface="Helvetica" pitchFamily="2" charset="0"/>
              </a:rPr>
              <a:t> get broken down to many fragments, add adapters, and PCR amplification, and you end your library preparation. With this method, you will be able to sequence a few hundreds and maybe a few thousands samples, with a lot of manual efforts and it’s very expensive.</a:t>
            </a:r>
            <a:endParaRPr lang="en-SE" dirty="0"/>
          </a:p>
        </p:txBody>
      </p:sp>
      <p:sp>
        <p:nvSpPr>
          <p:cNvPr id="4" name="Slide Number Placeholder 3"/>
          <p:cNvSpPr>
            <a:spLocks noGrp="1"/>
          </p:cNvSpPr>
          <p:nvPr>
            <p:ph type="sldNum" sz="quarter" idx="5"/>
          </p:nvPr>
        </p:nvSpPr>
        <p:spPr/>
        <p:txBody>
          <a:bodyPr/>
          <a:lstStyle/>
          <a:p>
            <a:fld id="{A57BE0FF-2623-D340-847B-F6E4752E041A}" type="slidenum">
              <a:rPr lang="en-SE" smtClean="0"/>
              <a:t>15</a:t>
            </a:fld>
            <a:endParaRPr lang="en-SE"/>
          </a:p>
        </p:txBody>
      </p:sp>
    </p:spTree>
    <p:extLst>
      <p:ext uri="{BB962C8B-B14F-4D97-AF65-F5344CB8AC3E}">
        <p14:creationId xmlns:p14="http://schemas.microsoft.com/office/powerpoint/2010/main" val="2820689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Helvetica" pitchFamily="2" charset="0"/>
              </a:rPr>
              <a:t>Later on, a few new  droplet-based methods pop up in parallel with those plate-based methods. One typical such example is 10X genomics,</a:t>
            </a:r>
            <a:endParaRPr lang="en-SE" dirty="0"/>
          </a:p>
        </p:txBody>
      </p:sp>
      <p:sp>
        <p:nvSpPr>
          <p:cNvPr id="4" name="Slide Number Placeholder 3"/>
          <p:cNvSpPr>
            <a:spLocks noGrp="1"/>
          </p:cNvSpPr>
          <p:nvPr>
            <p:ph type="sldNum" sz="quarter" idx="5"/>
          </p:nvPr>
        </p:nvSpPr>
        <p:spPr/>
        <p:txBody>
          <a:bodyPr/>
          <a:lstStyle/>
          <a:p>
            <a:fld id="{A57BE0FF-2623-D340-847B-F6E4752E041A}" type="slidenum">
              <a:rPr lang="en-SE" smtClean="0"/>
              <a:t>16</a:t>
            </a:fld>
            <a:endParaRPr lang="en-SE"/>
          </a:p>
        </p:txBody>
      </p:sp>
    </p:spTree>
    <p:extLst>
      <p:ext uri="{BB962C8B-B14F-4D97-AF65-F5344CB8AC3E}">
        <p14:creationId xmlns:p14="http://schemas.microsoft.com/office/powerpoint/2010/main" val="6139688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Helvetica" pitchFamily="2" charset="0"/>
              </a:rPr>
              <a:t>10X genomics, which uses a micro fluidic device, </a:t>
            </a:r>
          </a:p>
          <a:p>
            <a:r>
              <a:rPr lang="en-GB" b="0" i="0" u="none" strike="noStrike" dirty="0">
                <a:solidFill>
                  <a:srgbClr val="000000"/>
                </a:solidFill>
                <a:effectLst/>
                <a:latin typeface="Helvetica" pitchFamily="2" charset="0"/>
              </a:rPr>
              <a:t>With this device, single cells and oligo-</a:t>
            </a:r>
            <a:r>
              <a:rPr lang="en-GB" b="0" i="0" u="none" strike="noStrike" dirty="0" err="1">
                <a:solidFill>
                  <a:srgbClr val="000000"/>
                </a:solidFill>
                <a:effectLst/>
                <a:latin typeface="Helvetica" pitchFamily="2" charset="0"/>
              </a:rPr>
              <a:t>taged</a:t>
            </a:r>
            <a:r>
              <a:rPr lang="en-GB" b="0" i="0" u="none" strike="noStrike" dirty="0">
                <a:solidFill>
                  <a:srgbClr val="000000"/>
                </a:solidFill>
                <a:effectLst/>
                <a:latin typeface="Helvetica" pitchFamily="2" charset="0"/>
              </a:rPr>
              <a:t> beads are captured simultaneously into oil droplets, </a:t>
            </a:r>
          </a:p>
          <a:p>
            <a:r>
              <a:rPr lang="en-GB" b="0" i="0" u="none" strike="noStrike" dirty="0">
                <a:solidFill>
                  <a:srgbClr val="000000"/>
                </a:solidFill>
                <a:effectLst/>
                <a:latin typeface="Helvetica" pitchFamily="2" charset="0"/>
              </a:rPr>
              <a:t>Lyse and tag the RNA molecules with cellular barcodes and UMI within those droplets</a:t>
            </a:r>
          </a:p>
          <a:p>
            <a:r>
              <a:rPr lang="en-GB" b="0" i="0" u="none" strike="noStrike" dirty="0">
                <a:solidFill>
                  <a:srgbClr val="000000"/>
                </a:solidFill>
                <a:effectLst/>
                <a:latin typeface="Helvetica" pitchFamily="2" charset="0"/>
              </a:rPr>
              <a:t>This technique only sequence 3’end of mRNA</a:t>
            </a:r>
          </a:p>
          <a:p>
            <a:r>
              <a:rPr lang="en-GB" b="0" i="0" u="none" strike="noStrike" dirty="0">
                <a:solidFill>
                  <a:srgbClr val="000000"/>
                </a:solidFill>
                <a:effectLst/>
                <a:latin typeface="Helvetica" pitchFamily="2" charset="0"/>
              </a:rPr>
              <a:t>In 10X, we tend to do low </a:t>
            </a:r>
            <a:r>
              <a:rPr lang="en-GB" b="0" i="0" u="none" strike="noStrike" dirty="0" err="1">
                <a:solidFill>
                  <a:srgbClr val="000000"/>
                </a:solidFill>
                <a:effectLst/>
                <a:latin typeface="Helvetica" pitchFamily="2" charset="0"/>
              </a:rPr>
              <a:t>seq</a:t>
            </a:r>
            <a:r>
              <a:rPr lang="en-GB" b="0" i="0" u="none" strike="noStrike" dirty="0">
                <a:solidFill>
                  <a:srgbClr val="000000"/>
                </a:solidFill>
                <a:effectLst/>
                <a:latin typeface="Helvetica" pitchFamily="2" charset="0"/>
              </a:rPr>
              <a:t> depth sequencing, sequence a small proportion of the transcriptome, lots of genes that are expressed but not sequences, so we will have lots of missing values, lots of those missing values represent technical missing values,  not genes that </a:t>
            </a:r>
            <a:r>
              <a:rPr lang="en-GB" b="0" i="0" u="none" strike="noStrike">
                <a:solidFill>
                  <a:srgbClr val="000000"/>
                </a:solidFill>
                <a:effectLst/>
                <a:latin typeface="Helvetica" pitchFamily="2" charset="0"/>
              </a:rPr>
              <a:t>not expressed. And </a:t>
            </a:r>
            <a:r>
              <a:rPr lang="en-GB" b="0" i="0" u="none" strike="noStrike" dirty="0">
                <a:solidFill>
                  <a:srgbClr val="000000"/>
                </a:solidFill>
                <a:effectLst/>
                <a:latin typeface="Helvetica" pitchFamily="2" charset="0"/>
              </a:rPr>
              <a:t>it has lots of missing values, which is the well known dropout problem</a:t>
            </a:r>
          </a:p>
          <a:p>
            <a:r>
              <a:rPr lang="en-GB" b="0" i="0" u="none" strike="noStrike" dirty="0">
                <a:solidFill>
                  <a:srgbClr val="000000"/>
                </a:solidFill>
                <a:effectLst/>
                <a:latin typeface="Helvetica" pitchFamily="2" charset="0"/>
              </a:rPr>
              <a:t>But it can simultaneously </a:t>
            </a:r>
            <a:r>
              <a:rPr lang="en-GB" b="0" i="0" u="none" strike="noStrike" dirty="0" err="1">
                <a:solidFill>
                  <a:srgbClr val="000000"/>
                </a:solidFill>
                <a:effectLst/>
                <a:latin typeface="Helvetica" pitchFamily="2" charset="0"/>
              </a:rPr>
              <a:t>analyze</a:t>
            </a:r>
            <a:r>
              <a:rPr lang="en-GB" b="0" i="0" u="none" strike="noStrike" dirty="0">
                <a:solidFill>
                  <a:srgbClr val="000000"/>
                </a:solidFill>
                <a:effectLst/>
                <a:latin typeface="Helvetica" pitchFamily="2" charset="0"/>
              </a:rPr>
              <a:t> a large number of cells, good for identifying rare cell types</a:t>
            </a:r>
          </a:p>
          <a:p>
            <a:endParaRPr lang="en-GB" b="0" i="0" u="none" strike="noStrike" dirty="0">
              <a:solidFill>
                <a:srgbClr val="000000"/>
              </a:solidFill>
              <a:effectLst/>
              <a:latin typeface="Helvetica" pitchFamily="2" charset="0"/>
            </a:endParaRPr>
          </a:p>
          <a:p>
            <a:endParaRPr lang="en-GB" b="0" i="0" u="none" strike="noStrike" dirty="0">
              <a:solidFill>
                <a:srgbClr val="000000"/>
              </a:solidFill>
              <a:effectLst/>
              <a:latin typeface="Helvetica" pitchFamily="2" charset="0"/>
            </a:endParaRPr>
          </a:p>
          <a:p>
            <a:endParaRPr lang="en-GB" b="0" i="0" u="none" strike="noStrike" dirty="0">
              <a:solidFill>
                <a:srgbClr val="000000"/>
              </a:solidFill>
              <a:effectLst/>
              <a:latin typeface="Helvetica" pitchFamily="2" charset="0"/>
            </a:endParaRPr>
          </a:p>
          <a:p>
            <a:r>
              <a:rPr lang="en-GB" b="0" i="0" u="none" strike="noStrike" dirty="0">
                <a:solidFill>
                  <a:srgbClr val="000000"/>
                </a:solidFill>
                <a:effectLst/>
                <a:latin typeface="Helvetica" pitchFamily="2" charset="0"/>
              </a:rPr>
              <a:t>in this device, beads each with a unique barcode flow in from the side,</a:t>
            </a:r>
          </a:p>
          <a:p>
            <a:r>
              <a:rPr lang="en-GB" b="0" i="0" u="none" strike="noStrike" dirty="0">
                <a:solidFill>
                  <a:srgbClr val="000000"/>
                </a:solidFill>
                <a:effectLst/>
                <a:latin typeface="Helvetica" pitchFamily="2" charset="0"/>
              </a:rPr>
              <a:t> then cells comes, they mixed together, </a:t>
            </a:r>
          </a:p>
          <a:p>
            <a:r>
              <a:rPr lang="en-GB" b="0" i="0" u="none" strike="noStrike" dirty="0">
                <a:solidFill>
                  <a:srgbClr val="000000"/>
                </a:solidFill>
                <a:effectLst/>
                <a:latin typeface="Helvetica" pitchFamily="2" charset="0"/>
              </a:rPr>
              <a:t>the oil come in to encapsulate beads and maybe cell as well into oil droplets. </a:t>
            </a:r>
          </a:p>
          <a:p>
            <a:r>
              <a:rPr lang="en-GB" b="0" i="0" u="none" strike="noStrike" dirty="0">
                <a:solidFill>
                  <a:srgbClr val="000000"/>
                </a:solidFill>
                <a:effectLst/>
                <a:latin typeface="Helvetica" pitchFamily="2" charset="0"/>
              </a:rPr>
              <a:t>You can see most of the generated oil droplets contain one bead per droplet. </a:t>
            </a:r>
          </a:p>
          <a:p>
            <a:r>
              <a:rPr lang="en-GB" b="0" i="0" u="none" strike="noStrike" dirty="0">
                <a:solidFill>
                  <a:srgbClr val="000000"/>
                </a:solidFill>
                <a:effectLst/>
                <a:latin typeface="Helvetica" pitchFamily="2" charset="0"/>
              </a:rPr>
              <a:t>Within each droplet, the cells will be </a:t>
            </a:r>
            <a:r>
              <a:rPr lang="en-GB" b="0" i="0" u="none" strike="noStrike" dirty="0" err="1">
                <a:solidFill>
                  <a:srgbClr val="000000"/>
                </a:solidFill>
                <a:effectLst/>
                <a:latin typeface="Helvetica" pitchFamily="2" charset="0"/>
              </a:rPr>
              <a:t>lyzed</a:t>
            </a:r>
            <a:r>
              <a:rPr lang="en-GB" b="0" i="0" u="none" strike="noStrike" dirty="0">
                <a:solidFill>
                  <a:srgbClr val="000000"/>
                </a:solidFill>
                <a:effectLst/>
                <a:latin typeface="Helvetica" pitchFamily="2" charset="0"/>
              </a:rPr>
              <a:t>, and mRNA will be bind to the unique barcodes that are attached to each beads and goes through retro transcription reaction to synthesize cDNA, </a:t>
            </a:r>
          </a:p>
          <a:p>
            <a:r>
              <a:rPr lang="en-GB" b="0" i="0" u="none" strike="noStrike" dirty="0">
                <a:solidFill>
                  <a:srgbClr val="000000"/>
                </a:solidFill>
                <a:effectLst/>
                <a:latin typeface="Helvetica" pitchFamily="2" charset="0"/>
              </a:rPr>
              <a:t>with those unique barcodes, </a:t>
            </a:r>
          </a:p>
          <a:p>
            <a:r>
              <a:rPr lang="en-GB" b="0" i="0" u="none" strike="noStrike" dirty="0">
                <a:solidFill>
                  <a:srgbClr val="000000"/>
                </a:solidFill>
                <a:effectLst/>
                <a:latin typeface="Helvetica" pitchFamily="2" charset="0"/>
              </a:rPr>
              <a:t>we will later on be able to know which RNA sequences from the same cells. </a:t>
            </a:r>
          </a:p>
          <a:p>
            <a:r>
              <a:rPr lang="en-GB" b="0" i="0" u="none" strike="noStrike" dirty="0">
                <a:solidFill>
                  <a:srgbClr val="000000"/>
                </a:solidFill>
                <a:effectLst/>
                <a:latin typeface="Helvetica" pitchFamily="2" charset="0"/>
              </a:rPr>
              <a:t>Next step, the oil droplets will be broken down, and the cDNAs from different cells will be mixed together, and theses cDNA will be amplified and used for library construction. With this method you can sequence up to 200000 cells on a single chip within one single day, so it’s very efficient. </a:t>
            </a:r>
            <a:endParaRPr lang="en-SE" dirty="0"/>
          </a:p>
        </p:txBody>
      </p:sp>
      <p:sp>
        <p:nvSpPr>
          <p:cNvPr id="4" name="Slide Number Placeholder 3"/>
          <p:cNvSpPr>
            <a:spLocks noGrp="1"/>
          </p:cNvSpPr>
          <p:nvPr>
            <p:ph type="sldNum" sz="quarter" idx="5"/>
          </p:nvPr>
        </p:nvSpPr>
        <p:spPr/>
        <p:txBody>
          <a:bodyPr/>
          <a:lstStyle/>
          <a:p>
            <a:fld id="{A57BE0FF-2623-D340-847B-F6E4752E041A}" type="slidenum">
              <a:rPr lang="en-SE" smtClean="0"/>
              <a:t>17</a:t>
            </a:fld>
            <a:endParaRPr lang="en-SE"/>
          </a:p>
        </p:txBody>
      </p:sp>
    </p:spTree>
    <p:extLst>
      <p:ext uri="{BB962C8B-B14F-4D97-AF65-F5344CB8AC3E}">
        <p14:creationId xmlns:p14="http://schemas.microsoft.com/office/powerpoint/2010/main" val="3778450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To recap a little bit</a:t>
            </a:r>
          </a:p>
          <a:p>
            <a:r>
              <a:rPr lang="en-SE" dirty="0"/>
              <a:t> I have talked about </a:t>
            </a:r>
          </a:p>
          <a:p>
            <a:endParaRPr lang="en-SE" dirty="0"/>
          </a:p>
        </p:txBody>
      </p:sp>
      <p:sp>
        <p:nvSpPr>
          <p:cNvPr id="4" name="Slide Number Placeholder 3"/>
          <p:cNvSpPr>
            <a:spLocks noGrp="1"/>
          </p:cNvSpPr>
          <p:nvPr>
            <p:ph type="sldNum" sz="quarter" idx="5"/>
          </p:nvPr>
        </p:nvSpPr>
        <p:spPr/>
        <p:txBody>
          <a:bodyPr/>
          <a:lstStyle/>
          <a:p>
            <a:fld id="{4F94EAD7-C080-EA41-9B84-79497172280C}" type="slidenum">
              <a:rPr lang="en-SE" smtClean="0"/>
              <a:t>18</a:t>
            </a:fld>
            <a:endParaRPr lang="en-SE"/>
          </a:p>
        </p:txBody>
      </p:sp>
    </p:spTree>
    <p:extLst>
      <p:ext uri="{BB962C8B-B14F-4D97-AF65-F5344CB8AC3E}">
        <p14:creationId xmlns:p14="http://schemas.microsoft.com/office/powerpoint/2010/main" val="16670366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FEB4C-F5C7-9EE4-8AC8-B99C01100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16A63-D9A8-6B5A-5235-CEB6F903E6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3D2C4F-FE9A-9890-1540-4476A7E5635A}"/>
              </a:ext>
            </a:extLst>
          </p:cNvPr>
          <p:cNvSpPr>
            <a:spLocks noGrp="1"/>
          </p:cNvSpPr>
          <p:nvPr>
            <p:ph type="body" idx="1"/>
          </p:nvPr>
        </p:nvSpPr>
        <p:spPr/>
        <p:txBody>
          <a:bodyPr/>
          <a:lstStyle/>
          <a:p>
            <a:pPr algn="l"/>
            <a:r>
              <a:rPr lang="en-GB" b="1" i="0" u="none" strike="noStrike" dirty="0">
                <a:solidFill>
                  <a:srgbClr val="585858"/>
                </a:solidFill>
                <a:effectLst/>
                <a:latin typeface="Ubuntu-Regular"/>
              </a:rPr>
              <a:t>And The basic steps of single cell sequencing usually include 1, 2, 3, 4, and 5.</a:t>
            </a:r>
          </a:p>
          <a:p>
            <a:pPr algn="l"/>
            <a:endParaRPr lang="en-GB" b="1" i="0" u="none" strike="noStrike" dirty="0">
              <a:solidFill>
                <a:srgbClr val="585858"/>
              </a:solidFill>
              <a:effectLst/>
              <a:latin typeface="Ubuntu-Regular"/>
            </a:endParaRPr>
          </a:p>
          <a:p>
            <a:pPr algn="l"/>
            <a:r>
              <a:rPr lang="en-GB" b="1" i="0" u="none" strike="noStrike" dirty="0">
                <a:solidFill>
                  <a:srgbClr val="585858"/>
                </a:solidFill>
                <a:effectLst/>
                <a:latin typeface="Ubuntu-Regular"/>
              </a:rPr>
              <a:t>1. Sample Preparation</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In …, one dissociates the cells, which can be tricky for tissues with an extracellular matrix, in such situations, nuclei can be isolated instead. </a:t>
            </a:r>
          </a:p>
          <a:p>
            <a:pPr algn="l"/>
            <a:r>
              <a:rPr lang="en-GB" b="0" i="0" u="none" strike="noStrike" dirty="0">
                <a:solidFill>
                  <a:srgbClr val="585858"/>
                </a:solidFill>
                <a:effectLst/>
                <a:latin typeface="Ubuntu-Regular"/>
              </a:rPr>
              <a:t>Cell viability should be checked before proceeding to the next step, as a high percentage of intact and live cells is required for obtaining good data.</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2. Cell Capture</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The cell suspension is then loaded onto </a:t>
            </a:r>
            <a:r>
              <a:rPr lang="en-GB" b="0" i="0" u="none" strike="noStrike" dirty="0" err="1">
                <a:solidFill>
                  <a:srgbClr val="585858"/>
                </a:solidFill>
                <a:effectLst/>
                <a:latin typeface="Ubuntu-Regular"/>
              </a:rPr>
              <a:t>nanoliter</a:t>
            </a:r>
            <a:r>
              <a:rPr lang="en-GB" b="0" i="0" u="none" strike="noStrike" dirty="0">
                <a:solidFill>
                  <a:srgbClr val="585858"/>
                </a:solidFill>
                <a:effectLst/>
                <a:latin typeface="Ubuntu-Regular"/>
              </a:rPr>
              <a:t>-scale chambers, such as droplets or wells. </a:t>
            </a:r>
          </a:p>
          <a:p>
            <a:pPr algn="l"/>
            <a:r>
              <a:rPr lang="en-GB" b="0" i="0" u="none" strike="noStrike" dirty="0">
                <a:solidFill>
                  <a:srgbClr val="585858"/>
                </a:solidFill>
                <a:effectLst/>
                <a:latin typeface="Ubuntu-Regular"/>
              </a:rPr>
              <a:t>During or shortly after this process, a unique oligonucleotide sequence (i.e., barcode) is added to each chamber, </a:t>
            </a:r>
          </a:p>
          <a:p>
            <a:pPr algn="l"/>
            <a:r>
              <a:rPr lang="en-GB" b="0" i="0" u="none" strike="noStrike" dirty="0">
                <a:solidFill>
                  <a:srgbClr val="585858"/>
                </a:solidFill>
                <a:effectLst/>
                <a:latin typeface="Ubuntu-Regular"/>
              </a:rPr>
              <a:t>allowing for downstream identification of the cell. This can be accomplished with oligo-tagged beads, for example.</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3. Library Preparation</a:t>
            </a:r>
            <a:endParaRPr lang="en-GB" b="0" i="0" u="none" strike="noStrike" dirty="0">
              <a:solidFill>
                <a:srgbClr val="585858"/>
              </a:solidFill>
              <a:effectLst/>
              <a:latin typeface="Ubuntu-Regular"/>
            </a:endParaRPr>
          </a:p>
          <a:p>
            <a:pPr algn="l"/>
            <a:r>
              <a:rPr lang="en-GB" b="0" i="0" u="none" strike="noStrike" dirty="0" err="1">
                <a:solidFill>
                  <a:srgbClr val="585858"/>
                </a:solidFill>
                <a:effectLst/>
                <a:latin typeface="Ubuntu-Regular"/>
              </a:rPr>
              <a:t>Wtihin</a:t>
            </a:r>
            <a:r>
              <a:rPr lang="en-GB" b="0" i="0" u="none" strike="noStrike" dirty="0">
                <a:solidFill>
                  <a:srgbClr val="585858"/>
                </a:solidFill>
                <a:effectLst/>
                <a:latin typeface="Ubuntu-Regular"/>
              </a:rPr>
              <a:t> each microchamber, Cells are lysed, and library construction begins. </a:t>
            </a:r>
          </a:p>
          <a:p>
            <a:pPr algn="l"/>
            <a:r>
              <a:rPr lang="en-GB" b="0" i="0" u="none" strike="noStrike" dirty="0">
                <a:solidFill>
                  <a:srgbClr val="585858"/>
                </a:solidFill>
                <a:effectLst/>
                <a:latin typeface="Ubuntu-Regular"/>
              </a:rPr>
              <a:t>Within the microchamber, the cell-specific barcode is added to the target sequences; </a:t>
            </a:r>
          </a:p>
          <a:p>
            <a:pPr algn="l"/>
            <a:r>
              <a:rPr lang="en-GB" b="0" i="0" u="none" strike="noStrike" dirty="0">
                <a:solidFill>
                  <a:srgbClr val="585858"/>
                </a:solidFill>
                <a:effectLst/>
                <a:latin typeface="Ubuntu-Regular"/>
              </a:rPr>
              <a:t>thus, all fragments from the same cell will share a common identifier. </a:t>
            </a:r>
          </a:p>
          <a:p>
            <a:pPr algn="l"/>
            <a:r>
              <a:rPr lang="en-GB" b="0" i="0" u="none" strike="noStrike" dirty="0">
                <a:solidFill>
                  <a:srgbClr val="585858"/>
                </a:solidFill>
                <a:effectLst/>
                <a:latin typeface="Ubuntu-Regular"/>
              </a:rPr>
              <a:t>The barcoded fragments from all microchambers are then pooled, and the final steps of library construction (i.e., amplification and adding a sample index) are performed.</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4. Sequencing</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The pooled library is sequenced.</a:t>
            </a:r>
          </a:p>
          <a:p>
            <a:endParaRPr lang="en-GB" dirty="0"/>
          </a:p>
          <a:p>
            <a:r>
              <a:rPr lang="en-GB" b="1" i="0" u="none" strike="noStrike" dirty="0">
                <a:solidFill>
                  <a:srgbClr val="585858"/>
                </a:solidFill>
                <a:effectLst/>
                <a:latin typeface="Ubuntu-Regular"/>
              </a:rPr>
              <a:t>5. Data Analysis</a:t>
            </a:r>
            <a:br>
              <a:rPr lang="en-GB" dirty="0"/>
            </a:br>
            <a:r>
              <a:rPr lang="en-GB" dirty="0"/>
              <a:t>The sequencing data will then be </a:t>
            </a:r>
            <a:r>
              <a:rPr lang="en-GB" dirty="0" err="1"/>
              <a:t>preprocessed</a:t>
            </a:r>
            <a:r>
              <a:rPr lang="en-GB" dirty="0"/>
              <a:t>, filtered, and </a:t>
            </a:r>
            <a:r>
              <a:rPr lang="en-GB" dirty="0" err="1"/>
              <a:t>anlayzed</a:t>
            </a:r>
            <a:r>
              <a:rPr lang="en-GB" dirty="0"/>
              <a:t>.</a:t>
            </a:r>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endParaRPr lang="en-GB" b="0" i="0" u="none" strike="noStrike" dirty="0">
              <a:solidFill>
                <a:srgbClr val="585858"/>
              </a:solidFill>
              <a:effectLst/>
              <a:latin typeface="Ubuntu-Regular"/>
            </a:endParaRPr>
          </a:p>
          <a:p>
            <a:pPr algn="l"/>
            <a:r>
              <a:rPr lang="en-GB" b="1" i="0" u="none" strike="noStrike" dirty="0">
                <a:solidFill>
                  <a:srgbClr val="585858"/>
                </a:solidFill>
                <a:effectLst/>
                <a:latin typeface="Ubuntu-Regular"/>
              </a:rPr>
              <a:t>1. Sample Preparation</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In …, one dissociates the cells, which can be tricky for tissues with an extracellular matrix, in such situations, nuclei can be isolated instead. </a:t>
            </a:r>
          </a:p>
          <a:p>
            <a:pPr algn="l"/>
            <a:r>
              <a:rPr lang="en-GB" b="0" i="0" u="none" strike="noStrike" dirty="0">
                <a:solidFill>
                  <a:srgbClr val="585858"/>
                </a:solidFill>
                <a:effectLst/>
                <a:latin typeface="Ubuntu-Regular"/>
              </a:rPr>
              <a:t>Cell viability should be checked before proceeding to the next step, as a high percentage of intact and live cells is required for obtaining good data.</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2. Cell Capture</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The cell suspension is loaded onto a microfluidic chip or cartridge, where cells are partitioned into </a:t>
            </a:r>
            <a:r>
              <a:rPr lang="en-GB" b="0" i="0" u="none" strike="noStrike" dirty="0" err="1">
                <a:solidFill>
                  <a:srgbClr val="585858"/>
                </a:solidFill>
                <a:effectLst/>
                <a:latin typeface="Ubuntu-Regular"/>
              </a:rPr>
              <a:t>nanoliter</a:t>
            </a:r>
            <a:r>
              <a:rPr lang="en-GB" b="0" i="0" u="none" strike="noStrike" dirty="0">
                <a:solidFill>
                  <a:srgbClr val="585858"/>
                </a:solidFill>
                <a:effectLst/>
                <a:latin typeface="Ubuntu-Regular"/>
              </a:rPr>
              <a:t>-scale chambers, such as droplets or wells. The technology for cell capture differs between commercial platforms, but each employs its own set of measures to deter and/or detect loading of more than one cell per chamber (see </a:t>
            </a:r>
            <a:r>
              <a:rPr lang="en-GB" b="0" i="0" u="none" strike="noStrike" dirty="0">
                <a:solidFill>
                  <a:srgbClr val="826EC3"/>
                </a:solidFill>
                <a:effectLst/>
                <a:latin typeface="Ubuntu-Regular"/>
                <a:hlinkClick r:id="rId3" tooltip="Single-Cell Platforms"/>
              </a:rPr>
              <a:t>Single-Cell Platforms</a:t>
            </a:r>
            <a:r>
              <a:rPr lang="en-GB" b="0" i="0" u="none" strike="noStrike" dirty="0">
                <a:solidFill>
                  <a:srgbClr val="585858"/>
                </a:solidFill>
                <a:effectLst/>
                <a:latin typeface="Ubuntu-Regular"/>
              </a:rPr>
              <a:t> section). During or shortly after cell capture, a unique oligonucleotide sequence (i.e., barcode) is added to each chamber, allowing for downstream identification of the cell. This can be accomplished with oligo-tagged beads, for example.</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3. Library Preparation</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Cells are lysed, and library construction begins. The enzymatic reactions that follow depend on the application (see </a:t>
            </a:r>
            <a:r>
              <a:rPr lang="en-GB" b="0" i="0" u="none" strike="noStrike" dirty="0">
                <a:solidFill>
                  <a:srgbClr val="826EC3"/>
                </a:solidFill>
                <a:effectLst/>
                <a:latin typeface="Ubuntu-Regular"/>
                <a:hlinkClick r:id="rId4" tooltip="Single-Cell Techniques"/>
              </a:rPr>
              <a:t>Single-Cell Techniques</a:t>
            </a:r>
            <a:r>
              <a:rPr lang="en-GB" b="0" i="0" u="none" strike="noStrike" dirty="0">
                <a:solidFill>
                  <a:srgbClr val="585858"/>
                </a:solidFill>
                <a:effectLst/>
                <a:latin typeface="Ubuntu-Regular"/>
              </a:rPr>
              <a:t> section). Within the microchamber, the cell-specific barcode is added to the target sequences; thus, all fragments from the same cell will share a common identifier. The barcoded fragments from all microchambers are then pooled, and the final steps of library construction (i.e., amplification and adding a sample index) are performed.</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4. Sequencing</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The pooled library is sequenced on the Illumina platform.</a:t>
            </a:r>
          </a:p>
          <a:p>
            <a:endParaRPr lang="en-GB" dirty="0"/>
          </a:p>
          <a:p>
            <a:r>
              <a:rPr lang="en-GB" b="1" i="0" u="none" strike="noStrike" dirty="0">
                <a:solidFill>
                  <a:srgbClr val="585858"/>
                </a:solidFill>
                <a:effectLst/>
                <a:latin typeface="Ubuntu-Regular"/>
              </a:rPr>
              <a:t>5. Data Analysis</a:t>
            </a:r>
            <a:br>
              <a:rPr lang="en-GB" dirty="0"/>
            </a:br>
            <a:r>
              <a:rPr lang="en-GB" b="0" i="0" u="none" strike="noStrike" dirty="0">
                <a:solidFill>
                  <a:srgbClr val="585858"/>
                </a:solidFill>
                <a:effectLst/>
                <a:latin typeface="Ubuntu-Regular"/>
              </a:rPr>
              <a:t>Raw sequencing data undergoes pre-processing. Reads of low quality and those unlikely to have originated from a viable cell are thrown out. For example, reads containing a barcode with a low count and few detected genes probably represent background noise. After quality control, the data is normalized across cellular barcodes. The number of useful reads varies greatly between cells, mainly due to the low depth of sequencing per cell (i.e., sampling effects). The data is then subjected to downstream analysis, which includes feature selection, dimensionality reduction, and/or visualization</a:t>
            </a:r>
            <a:r>
              <a:rPr lang="en-GB" b="0" i="0" u="none" strike="noStrike" baseline="30000" dirty="0">
                <a:solidFill>
                  <a:srgbClr val="585858"/>
                </a:solidFill>
                <a:effectLst/>
                <a:latin typeface="Ubuntu-Regular"/>
              </a:rPr>
              <a:t>2</a:t>
            </a:r>
            <a:r>
              <a:rPr lang="en-GB" b="0" i="0" u="none" strike="noStrike" dirty="0">
                <a:solidFill>
                  <a:srgbClr val="585858"/>
                </a:solidFill>
                <a:effectLst/>
                <a:latin typeface="Ubuntu-Regular"/>
              </a:rPr>
              <a:t>. The goal here is to find biologically meaningful patterns, such as clusters in t-SNE plots that represent distinct cell types.</a:t>
            </a:r>
            <a:endParaRPr lang="en-SE" dirty="0"/>
          </a:p>
          <a:p>
            <a:endParaRPr lang="en-SE" dirty="0"/>
          </a:p>
          <a:p>
            <a:endParaRPr lang="en-SE" dirty="0"/>
          </a:p>
        </p:txBody>
      </p:sp>
      <p:sp>
        <p:nvSpPr>
          <p:cNvPr id="4" name="Slide Number Placeholder 3">
            <a:extLst>
              <a:ext uri="{FF2B5EF4-FFF2-40B4-BE49-F238E27FC236}">
                <a16:creationId xmlns:a16="http://schemas.microsoft.com/office/drawing/2014/main" id="{088C81E6-9426-181B-FED2-2740EC00E978}"/>
              </a:ext>
            </a:extLst>
          </p:cNvPr>
          <p:cNvSpPr>
            <a:spLocks noGrp="1"/>
          </p:cNvSpPr>
          <p:nvPr>
            <p:ph type="sldNum" sz="quarter" idx="5"/>
          </p:nvPr>
        </p:nvSpPr>
        <p:spPr/>
        <p:txBody>
          <a:bodyPr/>
          <a:lstStyle/>
          <a:p>
            <a:fld id="{4F94EAD7-C080-EA41-9B84-79497172280C}" type="slidenum">
              <a:rPr lang="en-SE" smtClean="0"/>
              <a:t>21</a:t>
            </a:fld>
            <a:endParaRPr lang="en-SE"/>
          </a:p>
        </p:txBody>
      </p:sp>
    </p:spTree>
    <p:extLst>
      <p:ext uri="{BB962C8B-B14F-4D97-AF65-F5344CB8AC3E}">
        <p14:creationId xmlns:p14="http://schemas.microsoft.com/office/powerpoint/2010/main" val="17358236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C34D1-295E-6E50-4D4F-457A6F0D5F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97E791-7219-A586-AA2E-BB39A37DD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E10B0-7AFC-2AA5-B6B8-D39BB576E5F8}"/>
              </a:ext>
            </a:extLst>
          </p:cNvPr>
          <p:cNvSpPr>
            <a:spLocks noGrp="1"/>
          </p:cNvSpPr>
          <p:nvPr>
            <p:ph type="body" idx="1"/>
          </p:nvPr>
        </p:nvSpPr>
        <p:spPr/>
        <p:txBody>
          <a:bodyPr/>
          <a:lstStyle/>
          <a:p>
            <a:r>
              <a:rPr lang="en-SE" dirty="0"/>
              <a:t>Today, we gonna talk about single cell RNAseq</a:t>
            </a:r>
          </a:p>
          <a:p>
            <a:r>
              <a:rPr lang="en-GB" dirty="0"/>
              <a:t>S</a:t>
            </a:r>
            <a:r>
              <a:rPr lang="en-SE" dirty="0"/>
              <a:t>ingle cell RNAseq is a transcriptomics technique that has revolutionized recent biology</a:t>
            </a:r>
          </a:p>
          <a:p>
            <a:r>
              <a:rPr lang="en-SE" dirty="0"/>
              <a:t>Basically, it is a method where we analyze the gene expression profiles of individual cells in a hetergeneous cell population</a:t>
            </a:r>
          </a:p>
          <a:p>
            <a:endParaRPr lang="en-SE" dirty="0"/>
          </a:p>
          <a:p>
            <a:endParaRPr lang="en-SE" dirty="0"/>
          </a:p>
          <a:p>
            <a:endParaRPr lang="en-SE" dirty="0"/>
          </a:p>
          <a:p>
            <a:r>
              <a:rPr lang="en-SE" dirty="0"/>
              <a:t>Assume we are looking at a human tissue, it is hetergeneous and contains many different cell types</a:t>
            </a:r>
          </a:p>
          <a:p>
            <a:r>
              <a:rPr lang="en-GB" dirty="0"/>
              <a:t>A</a:t>
            </a:r>
            <a:r>
              <a:rPr lang="en-SE" dirty="0"/>
              <a:t>lso assume the transcriptome only contains 4 genes, which is not true, we know the transcirptome of human contains thousands of genes, here just for demonstration, we use 4 genes to represent the transcritome</a:t>
            </a:r>
          </a:p>
          <a:p>
            <a:r>
              <a:rPr lang="en-SE" dirty="0"/>
              <a:t>Very likely, these four genes will not be expressed in the same fashion in all cell types, for example, celltype2 and celltype 5 tend to express more the green gene B, while celltype5 tend to express less the red gene A</a:t>
            </a:r>
          </a:p>
          <a:p>
            <a:r>
              <a:rPr lang="en-SE" dirty="0"/>
              <a:t>This gene expression variability among cells can be explored using techniques such as single cell RNAseq</a:t>
            </a:r>
          </a:p>
          <a:p>
            <a:endParaRPr lang="en-SE" dirty="0"/>
          </a:p>
        </p:txBody>
      </p:sp>
      <p:sp>
        <p:nvSpPr>
          <p:cNvPr id="4" name="Slide Number Placeholder 3">
            <a:extLst>
              <a:ext uri="{FF2B5EF4-FFF2-40B4-BE49-F238E27FC236}">
                <a16:creationId xmlns:a16="http://schemas.microsoft.com/office/drawing/2014/main" id="{1470799F-C1B8-F7B1-BA2C-028D3705354E}"/>
              </a:ext>
            </a:extLst>
          </p:cNvPr>
          <p:cNvSpPr>
            <a:spLocks noGrp="1"/>
          </p:cNvSpPr>
          <p:nvPr>
            <p:ph type="sldNum" sz="quarter" idx="5"/>
          </p:nvPr>
        </p:nvSpPr>
        <p:spPr/>
        <p:txBody>
          <a:bodyPr/>
          <a:lstStyle/>
          <a:p>
            <a:fld id="{4F94EAD7-C080-EA41-9B84-79497172280C}" type="slidenum">
              <a:rPr lang="en-SE" smtClean="0"/>
              <a:t>22</a:t>
            </a:fld>
            <a:endParaRPr lang="en-SE"/>
          </a:p>
        </p:txBody>
      </p:sp>
    </p:spTree>
    <p:extLst>
      <p:ext uri="{BB962C8B-B14F-4D97-AF65-F5344CB8AC3E}">
        <p14:creationId xmlns:p14="http://schemas.microsoft.com/office/powerpoint/2010/main" val="1768091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dirty="0"/>
              <a:t>Nowadays, single cell RNAseq is taking over from 2009,</a:t>
            </a:r>
          </a:p>
          <a:p>
            <a:r>
              <a:rPr lang="en-GB" dirty="0"/>
              <a:t>I</a:t>
            </a:r>
            <a:r>
              <a:rPr lang="en-SE" dirty="0"/>
              <a:t>t is sequencing based</a:t>
            </a:r>
          </a:p>
          <a:p>
            <a:r>
              <a:rPr lang="en-SE" dirty="0"/>
              <a:t>It can measure the expression levels of a large number of genes for individual cells</a:t>
            </a:r>
          </a:p>
          <a:p>
            <a:r>
              <a:rPr lang="en-SE" dirty="0"/>
              <a:t>and over the last decade, single cell RNAseq has been extensively used in the field of biology and neuroscience and many more</a:t>
            </a:r>
          </a:p>
          <a:p>
            <a:endParaRPr lang="en-SE" dirty="0"/>
          </a:p>
          <a:p>
            <a:pPr algn="l"/>
            <a:r>
              <a:rPr lang="en-GB" b="1" i="0" u="none" strike="noStrike" dirty="0">
                <a:solidFill>
                  <a:srgbClr val="585858"/>
                </a:solidFill>
                <a:effectLst/>
                <a:latin typeface="Ubuntu-Regular"/>
              </a:rPr>
              <a:t>1. Sample Preparation</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The input for the overall workflow is a suspension of single cells. If </a:t>
            </a:r>
            <a:r>
              <a:rPr lang="en-GB" b="0" i="0" u="none" strike="noStrike" dirty="0" err="1">
                <a:solidFill>
                  <a:srgbClr val="585858"/>
                </a:solidFill>
                <a:effectLst/>
                <a:latin typeface="Ubuntu-Regular"/>
              </a:rPr>
              <a:t>analyzing</a:t>
            </a:r>
            <a:r>
              <a:rPr lang="en-GB" b="0" i="0" u="none" strike="noStrike" dirty="0">
                <a:solidFill>
                  <a:srgbClr val="585858"/>
                </a:solidFill>
                <a:effectLst/>
                <a:latin typeface="Ubuntu-Regular"/>
              </a:rPr>
              <a:t> tissue, dissociation is necessary, which can be tricky for tissues with an extracellular matrix. Depending on the application, isolated nuclei may be used as an alternative. Cell viability should be measured before proceeding to the next step, as a high percentage of intact and live cells is required for obtaining good data.</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2. Cell Capture</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The cell suspension is loaded onto a microfluidic chip or cartridge, where cells are partitioned into </a:t>
            </a:r>
            <a:r>
              <a:rPr lang="en-GB" b="0" i="0" u="none" strike="noStrike" dirty="0" err="1">
                <a:solidFill>
                  <a:srgbClr val="585858"/>
                </a:solidFill>
                <a:effectLst/>
                <a:latin typeface="Ubuntu-Regular"/>
              </a:rPr>
              <a:t>nanoliter</a:t>
            </a:r>
            <a:r>
              <a:rPr lang="en-GB" b="0" i="0" u="none" strike="noStrike" dirty="0">
                <a:solidFill>
                  <a:srgbClr val="585858"/>
                </a:solidFill>
                <a:effectLst/>
                <a:latin typeface="Ubuntu-Regular"/>
              </a:rPr>
              <a:t>-scale chambers, such as droplets or wells. The technology for cell capture differs between commercial platforms, but each employs its own set of measures to deter and/or detect loading of more than one cell per chamber (see </a:t>
            </a:r>
            <a:r>
              <a:rPr lang="en-GB" b="0" i="0" u="none" strike="noStrike" dirty="0">
                <a:solidFill>
                  <a:srgbClr val="826EC3"/>
                </a:solidFill>
                <a:effectLst/>
                <a:latin typeface="Ubuntu-Regular"/>
                <a:hlinkClick r:id="rId3" tooltip="Single-Cell Platforms"/>
              </a:rPr>
              <a:t>Single-Cell Platforms</a:t>
            </a:r>
            <a:r>
              <a:rPr lang="en-GB" b="0" i="0" u="none" strike="noStrike" dirty="0">
                <a:solidFill>
                  <a:srgbClr val="585858"/>
                </a:solidFill>
                <a:effectLst/>
                <a:latin typeface="Ubuntu-Regular"/>
              </a:rPr>
              <a:t> section). During or shortly after cell capture, a unique oligonucleotide sequence (i.e., barcode) is added to each chamber, allowing for downstream identification of the cell. This can be accomplished with oligo-tagged beads, for example.</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3. Library Preparation</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Cells are lysed, and library construction begins. The enzymatic reactions that follow depend on the application (see </a:t>
            </a:r>
            <a:r>
              <a:rPr lang="en-GB" b="0" i="0" u="none" strike="noStrike" dirty="0">
                <a:solidFill>
                  <a:srgbClr val="826EC3"/>
                </a:solidFill>
                <a:effectLst/>
                <a:latin typeface="Ubuntu-Regular"/>
                <a:hlinkClick r:id="rId4" tooltip="Single-Cell Techniques"/>
              </a:rPr>
              <a:t>Single-Cell Techniques</a:t>
            </a:r>
            <a:r>
              <a:rPr lang="en-GB" b="0" i="0" u="none" strike="noStrike" dirty="0">
                <a:solidFill>
                  <a:srgbClr val="585858"/>
                </a:solidFill>
                <a:effectLst/>
                <a:latin typeface="Ubuntu-Regular"/>
              </a:rPr>
              <a:t> section). Within the microchamber, the cell-specific barcode is added to the target sequences; thus, all fragments from the same cell will share a common identifier. The barcoded fragments from all microchambers are then pooled, and the final steps of library construction (i.e., amplification and adding a sample index) are performed.</a:t>
            </a:r>
          </a:p>
          <a:p>
            <a:pPr algn="l"/>
            <a:r>
              <a:rPr lang="en-GB" b="0" i="0" u="none" strike="noStrike" dirty="0">
                <a:solidFill>
                  <a:srgbClr val="585858"/>
                </a:solidFill>
                <a:effectLst/>
                <a:latin typeface="Ubuntu-Regular"/>
              </a:rPr>
              <a:t> </a:t>
            </a:r>
          </a:p>
          <a:p>
            <a:pPr algn="l"/>
            <a:r>
              <a:rPr lang="en-GB" b="1" i="0" u="none" strike="noStrike" dirty="0">
                <a:solidFill>
                  <a:srgbClr val="585858"/>
                </a:solidFill>
                <a:effectLst/>
                <a:latin typeface="Ubuntu-Regular"/>
              </a:rPr>
              <a:t>4. Sequencing</a:t>
            </a:r>
            <a:endParaRPr lang="en-GB" b="0" i="0" u="none" strike="noStrike" dirty="0">
              <a:solidFill>
                <a:srgbClr val="585858"/>
              </a:solidFill>
              <a:effectLst/>
              <a:latin typeface="Ubuntu-Regular"/>
            </a:endParaRPr>
          </a:p>
          <a:p>
            <a:pPr algn="l"/>
            <a:r>
              <a:rPr lang="en-GB" b="0" i="0" u="none" strike="noStrike" dirty="0">
                <a:solidFill>
                  <a:srgbClr val="585858"/>
                </a:solidFill>
                <a:effectLst/>
                <a:latin typeface="Ubuntu-Regular"/>
              </a:rPr>
              <a:t>The pooled library is sequenced on the Illumina platform.</a:t>
            </a:r>
          </a:p>
          <a:p>
            <a:endParaRPr lang="en-GB" dirty="0"/>
          </a:p>
          <a:p>
            <a:r>
              <a:rPr lang="en-GB" b="1" i="0" u="none" strike="noStrike" dirty="0">
                <a:solidFill>
                  <a:srgbClr val="585858"/>
                </a:solidFill>
                <a:effectLst/>
                <a:latin typeface="Ubuntu-Regular"/>
              </a:rPr>
              <a:t>5. Data Analysis</a:t>
            </a:r>
            <a:br>
              <a:rPr lang="en-GB" dirty="0"/>
            </a:br>
            <a:r>
              <a:rPr lang="en-GB" b="0" i="0" u="none" strike="noStrike" dirty="0">
                <a:solidFill>
                  <a:srgbClr val="585858"/>
                </a:solidFill>
                <a:effectLst/>
                <a:latin typeface="Ubuntu-Regular"/>
              </a:rPr>
              <a:t>Raw sequencing data undergoes pre-processing. Reads of low quality and those unlikely to have originated from a viable cell are thrown out. For example, reads containing a barcode with a low count and few detected genes probably represent background noise. After quality control, the data is normalized across cellular barcodes. The number of useful reads varies greatly between cells, mainly due to the low depth of sequencing per cell (i.e., sampling effects). The data is then subjected to downstream analysis, which includes feature selection, dimensionality reduction, and/or visualization</a:t>
            </a:r>
            <a:r>
              <a:rPr lang="en-GB" b="0" i="0" u="none" strike="noStrike" baseline="30000" dirty="0">
                <a:solidFill>
                  <a:srgbClr val="585858"/>
                </a:solidFill>
                <a:effectLst/>
                <a:latin typeface="Ubuntu-Regular"/>
              </a:rPr>
              <a:t>2</a:t>
            </a:r>
            <a:r>
              <a:rPr lang="en-GB" b="0" i="0" u="none" strike="noStrike" dirty="0">
                <a:solidFill>
                  <a:srgbClr val="585858"/>
                </a:solidFill>
                <a:effectLst/>
                <a:latin typeface="Ubuntu-Regular"/>
              </a:rPr>
              <a:t>. The goal here is to find biologically meaningful patterns, such as clusters in t-SNE plots that represent distinct cell types.</a:t>
            </a:r>
            <a:endParaRPr lang="en-SE" dirty="0"/>
          </a:p>
        </p:txBody>
      </p:sp>
      <p:sp>
        <p:nvSpPr>
          <p:cNvPr id="4" name="Slide Number Placeholder 3"/>
          <p:cNvSpPr>
            <a:spLocks noGrp="1"/>
          </p:cNvSpPr>
          <p:nvPr>
            <p:ph type="sldNum" sz="quarter" idx="5"/>
          </p:nvPr>
        </p:nvSpPr>
        <p:spPr/>
        <p:txBody>
          <a:bodyPr/>
          <a:lstStyle/>
          <a:p>
            <a:fld id="{4F94EAD7-C080-EA41-9B84-79497172280C}" type="slidenum">
              <a:rPr lang="en-SE" smtClean="0"/>
              <a:t>23</a:t>
            </a:fld>
            <a:endParaRPr lang="en-SE"/>
          </a:p>
        </p:txBody>
      </p:sp>
    </p:spTree>
    <p:extLst>
      <p:ext uri="{BB962C8B-B14F-4D97-AF65-F5344CB8AC3E}">
        <p14:creationId xmlns:p14="http://schemas.microsoft.com/office/powerpoint/2010/main" val="35461832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Helvetica" pitchFamily="2" charset="0"/>
              </a:rPr>
              <a:t>One very cool thing is that you can identify many different cell types, this is a blood samples, in this case, many cells were processed together in parallel, each of those single cell’s transcriptome were sequenced and </a:t>
            </a:r>
            <a:r>
              <a:rPr lang="en-GB" b="0" i="0" u="none" strike="noStrike" dirty="0" err="1">
                <a:solidFill>
                  <a:srgbClr val="000000"/>
                </a:solidFill>
                <a:effectLst/>
                <a:latin typeface="Helvetica" pitchFamily="2" charset="0"/>
              </a:rPr>
              <a:t>analyzed</a:t>
            </a:r>
            <a:r>
              <a:rPr lang="en-GB" b="0" i="0" u="none" strike="noStrike" dirty="0">
                <a:solidFill>
                  <a:srgbClr val="000000"/>
                </a:solidFill>
                <a:effectLst/>
                <a:latin typeface="Helvetica" pitchFamily="2" charset="0"/>
              </a:rPr>
              <a:t>, you can detect up to 20000 human genes in the human genome, it’s very hard to visualize the data in a 20000 dimension, one common method is to press them down to 2 dimensions. There are many different methods, one common one is UMAP, and with this method, you end up with a plot like this, where each single dot represents a cell, those dots are clustered, and those dots that clustered close together are more similar to each other, you end up with different cell grouping that are represented on this plot, this kind of plot is useful, you see there are cell clusters, but you have no idea what they are. </a:t>
            </a:r>
            <a:endParaRPr lang="en-SE" dirty="0"/>
          </a:p>
        </p:txBody>
      </p:sp>
      <p:sp>
        <p:nvSpPr>
          <p:cNvPr id="4" name="Slide Number Placeholder 3"/>
          <p:cNvSpPr>
            <a:spLocks noGrp="1"/>
          </p:cNvSpPr>
          <p:nvPr>
            <p:ph type="sldNum" sz="quarter" idx="5"/>
          </p:nvPr>
        </p:nvSpPr>
        <p:spPr/>
        <p:txBody>
          <a:bodyPr/>
          <a:lstStyle/>
          <a:p>
            <a:fld id="{A57BE0FF-2623-D340-847B-F6E4752E041A}" type="slidenum">
              <a:rPr lang="en-SE" smtClean="0"/>
              <a:t>24</a:t>
            </a:fld>
            <a:endParaRPr lang="en-SE"/>
          </a:p>
        </p:txBody>
      </p:sp>
    </p:spTree>
    <p:extLst>
      <p:ext uri="{BB962C8B-B14F-4D97-AF65-F5344CB8AC3E}">
        <p14:creationId xmlns:p14="http://schemas.microsoft.com/office/powerpoint/2010/main" val="22120640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Helvetica" pitchFamily="2" charset="0"/>
              </a:rPr>
              <a:t>But you can dig into using marker genes, and see which marker genes are differentially expressed between those different clusters, you can use this information to identify different clusters</a:t>
            </a:r>
            <a:endParaRPr lang="en-SE" dirty="0"/>
          </a:p>
        </p:txBody>
      </p:sp>
      <p:sp>
        <p:nvSpPr>
          <p:cNvPr id="4" name="Slide Number Placeholder 3"/>
          <p:cNvSpPr>
            <a:spLocks noGrp="1"/>
          </p:cNvSpPr>
          <p:nvPr>
            <p:ph type="sldNum" sz="quarter" idx="5"/>
          </p:nvPr>
        </p:nvSpPr>
        <p:spPr/>
        <p:txBody>
          <a:bodyPr/>
          <a:lstStyle/>
          <a:p>
            <a:fld id="{A57BE0FF-2623-D340-847B-F6E4752E041A}" type="slidenum">
              <a:rPr lang="en-SE" smtClean="0"/>
              <a:t>25</a:t>
            </a:fld>
            <a:endParaRPr lang="en-SE"/>
          </a:p>
        </p:txBody>
      </p:sp>
    </p:spTree>
    <p:extLst>
      <p:ext uri="{BB962C8B-B14F-4D97-AF65-F5344CB8AC3E}">
        <p14:creationId xmlns:p14="http://schemas.microsoft.com/office/powerpoint/2010/main" val="18259279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Helvetica" pitchFamily="2" charset="0"/>
              </a:rPr>
              <a:t>, for instance, the blue you have B cells, red you have activated CD8 cells, you have dendritic cells in purple, NK cells in grey, this goes on and on, and you can identify different cell types, and you can identified lots of cell types by looking the </a:t>
            </a:r>
            <a:r>
              <a:rPr lang="en-GB" b="0" i="0" u="none" strike="noStrike" dirty="0" err="1">
                <a:solidFill>
                  <a:srgbClr val="000000"/>
                </a:solidFill>
                <a:effectLst/>
                <a:latin typeface="Helvetica" pitchFamily="2" charset="0"/>
              </a:rPr>
              <a:t>transcriptimics</a:t>
            </a:r>
            <a:r>
              <a:rPr lang="en-GB" b="0" i="0" u="none" strike="noStrike" dirty="0">
                <a:solidFill>
                  <a:srgbClr val="000000"/>
                </a:solidFill>
                <a:effectLst/>
                <a:latin typeface="Helvetica" pitchFamily="2" charset="0"/>
              </a:rPr>
              <a:t> profile within each single cluster.</a:t>
            </a:r>
            <a:endParaRPr lang="en-SE" dirty="0"/>
          </a:p>
        </p:txBody>
      </p:sp>
      <p:sp>
        <p:nvSpPr>
          <p:cNvPr id="4" name="Slide Number Placeholder 3"/>
          <p:cNvSpPr>
            <a:spLocks noGrp="1"/>
          </p:cNvSpPr>
          <p:nvPr>
            <p:ph type="sldNum" sz="quarter" idx="5"/>
          </p:nvPr>
        </p:nvSpPr>
        <p:spPr/>
        <p:txBody>
          <a:bodyPr/>
          <a:lstStyle/>
          <a:p>
            <a:fld id="{A57BE0FF-2623-D340-847B-F6E4752E041A}" type="slidenum">
              <a:rPr lang="en-SE" smtClean="0"/>
              <a:t>26</a:t>
            </a:fld>
            <a:endParaRPr lang="en-SE"/>
          </a:p>
        </p:txBody>
      </p:sp>
    </p:spTree>
    <p:extLst>
      <p:ext uri="{BB962C8B-B14F-4D97-AF65-F5344CB8AC3E}">
        <p14:creationId xmlns:p14="http://schemas.microsoft.com/office/powerpoint/2010/main" val="6294384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Helvetica" pitchFamily="2" charset="0"/>
              </a:rPr>
              <a:t>Another impressed paper that come up in 2017, for which over millions of cells got sequenced. This paper uses a method called combinational indexing, where you don’t deal with </a:t>
            </a:r>
            <a:r>
              <a:rPr lang="en-GB" b="0" i="0" u="none" strike="noStrike" dirty="0" err="1">
                <a:solidFill>
                  <a:srgbClr val="000000"/>
                </a:solidFill>
                <a:effectLst/>
                <a:latin typeface="Helvetica" pitchFamily="2" charset="0"/>
              </a:rPr>
              <a:t>singl</a:t>
            </a:r>
            <a:r>
              <a:rPr lang="en-GB" b="0" i="0" u="none" strike="noStrike" dirty="0">
                <a:solidFill>
                  <a:srgbClr val="000000"/>
                </a:solidFill>
                <a:effectLst/>
                <a:latin typeface="Helvetica" pitchFamily="2" charset="0"/>
              </a:rPr>
              <a:t> cell directly, instead, you do multiple rounds of barcoding and mixing, through you generate combinational barcodes that allow you to generate single cell data. The way it works is that you start with fixed cells to the left that is permeable so that regents can flow in and out. You sort a few dozen of cells into each well of those 96-well plate, you are not dealing with single cell, you still have multiple cells in each well of the plate, you undergo </a:t>
            </a:r>
            <a:r>
              <a:rPr lang="en-GB" b="0" i="0" u="none" strike="noStrike" dirty="0" err="1">
                <a:solidFill>
                  <a:srgbClr val="000000"/>
                </a:solidFill>
                <a:effectLst/>
                <a:latin typeface="Helvetica" pitchFamily="2" charset="0"/>
              </a:rPr>
              <a:t>retrotranscription</a:t>
            </a:r>
            <a:r>
              <a:rPr lang="en-GB" b="0" i="0" u="none" strike="noStrike" dirty="0">
                <a:solidFill>
                  <a:srgbClr val="000000"/>
                </a:solidFill>
                <a:effectLst/>
                <a:latin typeface="Helvetica" pitchFamily="2" charset="0"/>
              </a:rPr>
              <a:t> reaction with barcoded oligo dT, each of those wells, you have a different barcode oligo dT, so all the cells in the same well will have the same barcode at this step, and this depicted by the </a:t>
            </a:r>
            <a:r>
              <a:rPr lang="en-GB" b="0" i="0" u="none" strike="noStrike" dirty="0" err="1">
                <a:solidFill>
                  <a:srgbClr val="000000"/>
                </a:solidFill>
                <a:effectLst/>
                <a:latin typeface="Helvetica" pitchFamily="2" charset="0"/>
              </a:rPr>
              <a:t>color</a:t>
            </a:r>
            <a:r>
              <a:rPr lang="en-GB" b="0" i="0" u="none" strike="noStrike" dirty="0">
                <a:solidFill>
                  <a:srgbClr val="000000"/>
                </a:solidFill>
                <a:effectLst/>
                <a:latin typeface="Helvetica" pitchFamily="2" charset="0"/>
              </a:rPr>
              <a:t> over here, you can combined the cells from all those wells together and randomize them up, and redistribute them into wells of a 96-well plate, at this stage you take those cDNA and you do a different reaction to add a different barcode, and cells in each well will receive the same barcode. The total possible barcode combination types until this step will 96*96 that 9216 different </a:t>
            </a:r>
            <a:r>
              <a:rPr lang="en-GB" b="0" i="0" u="none" strike="noStrike" dirty="0" err="1">
                <a:solidFill>
                  <a:srgbClr val="000000"/>
                </a:solidFill>
                <a:effectLst/>
                <a:latin typeface="Helvetica" pitchFamily="2" charset="0"/>
              </a:rPr>
              <a:t>combinations.If</a:t>
            </a:r>
            <a:r>
              <a:rPr lang="en-GB" b="0" i="0" u="none" strike="noStrike" dirty="0">
                <a:solidFill>
                  <a:srgbClr val="000000"/>
                </a:solidFill>
                <a:effectLst/>
                <a:latin typeface="Helvetica" pitchFamily="2" charset="0"/>
              </a:rPr>
              <a:t> you do three rounds of those redistribution, you will end up with 96*96*96 that is 884736, almost one million cell barcode combinations,  If you just sequence a few thousand cells you don’t have a high chance to get two cells that have the same barcodes.</a:t>
            </a:r>
            <a:endParaRPr lang="en-SE" dirty="0"/>
          </a:p>
        </p:txBody>
      </p:sp>
      <p:sp>
        <p:nvSpPr>
          <p:cNvPr id="4" name="Slide Number Placeholder 3"/>
          <p:cNvSpPr>
            <a:spLocks noGrp="1"/>
          </p:cNvSpPr>
          <p:nvPr>
            <p:ph type="sldNum" sz="quarter" idx="5"/>
          </p:nvPr>
        </p:nvSpPr>
        <p:spPr/>
        <p:txBody>
          <a:bodyPr/>
          <a:lstStyle/>
          <a:p>
            <a:fld id="{A57BE0FF-2623-D340-847B-F6E4752E041A}" type="slidenum">
              <a:rPr lang="en-SE" smtClean="0"/>
              <a:t>27</a:t>
            </a:fld>
            <a:endParaRPr lang="en-SE"/>
          </a:p>
        </p:txBody>
      </p:sp>
    </p:spTree>
    <p:extLst>
      <p:ext uri="{BB962C8B-B14F-4D97-AF65-F5344CB8AC3E}">
        <p14:creationId xmlns:p14="http://schemas.microsoft.com/office/powerpoint/2010/main" val="33416063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Helvetica" pitchFamily="2" charset="0"/>
              </a:rPr>
              <a:t>So far we only use single cell platform to do RNA sequencing, but we can use the single cell platform to do some other things, such as quantifying proteins using CITE-seq. You may ask how do I quantify a protein with DNA sequencing. For </a:t>
            </a:r>
            <a:r>
              <a:rPr lang="en-GB" b="0" i="0" u="none" strike="noStrike" dirty="0" err="1">
                <a:solidFill>
                  <a:srgbClr val="000000"/>
                </a:solidFill>
                <a:effectLst/>
                <a:latin typeface="Helvetica" pitchFamily="2" charset="0"/>
              </a:rPr>
              <a:t>CITseq</a:t>
            </a:r>
            <a:r>
              <a:rPr lang="en-GB" b="0" i="0" u="none" strike="noStrike" dirty="0">
                <a:solidFill>
                  <a:srgbClr val="000000"/>
                </a:solidFill>
                <a:effectLst/>
                <a:latin typeface="Helvetica" pitchFamily="2" charset="0"/>
              </a:rPr>
              <a:t>, you have an antibody that will bind to proteins of interest. And this antibody is conjugated with a DNA barcode, this DNA barcode will have a PCR handle at the end, an antibody barcode will tell you which antibody you are attaching to, and a </a:t>
            </a:r>
            <a:r>
              <a:rPr lang="en-GB" b="0" i="0" u="none" strike="noStrike" dirty="0" err="1">
                <a:solidFill>
                  <a:srgbClr val="000000"/>
                </a:solidFill>
                <a:effectLst/>
                <a:latin typeface="Helvetica" pitchFamily="2" charset="0"/>
              </a:rPr>
              <a:t>polyA</a:t>
            </a:r>
            <a:r>
              <a:rPr lang="en-GB" b="0" i="0" u="none" strike="noStrike" dirty="0">
                <a:solidFill>
                  <a:srgbClr val="000000"/>
                </a:solidFill>
                <a:effectLst/>
                <a:latin typeface="Helvetica" pitchFamily="2" charset="0"/>
              </a:rPr>
              <a:t> tail, this </a:t>
            </a:r>
            <a:r>
              <a:rPr lang="en-GB" b="0" i="0" u="none" strike="noStrike" dirty="0" err="1">
                <a:solidFill>
                  <a:srgbClr val="000000"/>
                </a:solidFill>
                <a:effectLst/>
                <a:latin typeface="Helvetica" pitchFamily="2" charset="0"/>
              </a:rPr>
              <a:t>polyA</a:t>
            </a:r>
            <a:r>
              <a:rPr lang="en-GB" b="0" i="0" u="none" strike="noStrike" dirty="0">
                <a:solidFill>
                  <a:srgbClr val="000000"/>
                </a:solidFill>
                <a:effectLst/>
                <a:latin typeface="Helvetica" pitchFamily="2" charset="0"/>
              </a:rPr>
              <a:t> tail will enable the DNA barcode to be captured by sing cell RNA sequencing. You can read out this DNA barcode eventually and tell how many copies you have for each cell. </a:t>
            </a:r>
            <a:endParaRPr lang="en-SE" dirty="0"/>
          </a:p>
        </p:txBody>
      </p:sp>
      <p:sp>
        <p:nvSpPr>
          <p:cNvPr id="4" name="Slide Number Placeholder 3"/>
          <p:cNvSpPr>
            <a:spLocks noGrp="1"/>
          </p:cNvSpPr>
          <p:nvPr>
            <p:ph type="sldNum" sz="quarter" idx="5"/>
          </p:nvPr>
        </p:nvSpPr>
        <p:spPr/>
        <p:txBody>
          <a:bodyPr/>
          <a:lstStyle/>
          <a:p>
            <a:fld id="{A57BE0FF-2623-D340-847B-F6E4752E041A}" type="slidenum">
              <a:rPr lang="en-SE" smtClean="0"/>
              <a:t>28</a:t>
            </a:fld>
            <a:endParaRPr lang="en-SE"/>
          </a:p>
        </p:txBody>
      </p:sp>
    </p:spTree>
    <p:extLst>
      <p:ext uri="{BB962C8B-B14F-4D97-AF65-F5344CB8AC3E}">
        <p14:creationId xmlns:p14="http://schemas.microsoft.com/office/powerpoint/2010/main" val="245776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DEFF7-4BB7-4B9C-0591-F6E467E731B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E"/>
          </a:p>
        </p:txBody>
      </p:sp>
      <p:sp>
        <p:nvSpPr>
          <p:cNvPr id="3" name="Subtitle 2">
            <a:extLst>
              <a:ext uri="{FF2B5EF4-FFF2-40B4-BE49-F238E27FC236}">
                <a16:creationId xmlns:a16="http://schemas.microsoft.com/office/drawing/2014/main" id="{6E36CEE1-DBB0-1F34-0C1D-CD900E213A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13565BA6-468D-1D18-D19E-C78F14204FD3}"/>
              </a:ext>
            </a:extLst>
          </p:cNvPr>
          <p:cNvSpPr>
            <a:spLocks noGrp="1"/>
          </p:cNvSpPr>
          <p:nvPr>
            <p:ph type="dt" sz="half" idx="10"/>
          </p:nvPr>
        </p:nvSpPr>
        <p:spPr/>
        <p:txBody>
          <a:bodyPr/>
          <a:lstStyle/>
          <a:p>
            <a:fld id="{1250C503-BDA9-9242-AADA-0C023A79DD2A}" type="datetimeFigureOut">
              <a:rPr lang="en-SE" smtClean="0"/>
              <a:t>2024-11-28</a:t>
            </a:fld>
            <a:endParaRPr lang="en-SE"/>
          </a:p>
        </p:txBody>
      </p:sp>
      <p:sp>
        <p:nvSpPr>
          <p:cNvPr id="5" name="Footer Placeholder 4">
            <a:extLst>
              <a:ext uri="{FF2B5EF4-FFF2-40B4-BE49-F238E27FC236}">
                <a16:creationId xmlns:a16="http://schemas.microsoft.com/office/drawing/2014/main" id="{8CC6FFC9-EEB3-6974-2AE9-742E1DD5C8EE}"/>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631828F0-8D67-785C-7122-B5E312790228}"/>
              </a:ext>
            </a:extLst>
          </p:cNvPr>
          <p:cNvSpPr>
            <a:spLocks noGrp="1"/>
          </p:cNvSpPr>
          <p:nvPr>
            <p:ph type="sldNum" sz="quarter" idx="12"/>
          </p:nvPr>
        </p:nvSpPr>
        <p:spPr/>
        <p:txBody>
          <a:bodyPr/>
          <a:lstStyle/>
          <a:p>
            <a:fld id="{B2316DA9-C842-4442-9743-E5D3443C6B0F}" type="slidenum">
              <a:rPr lang="en-SE" smtClean="0"/>
              <a:t>‹#›</a:t>
            </a:fld>
            <a:endParaRPr lang="en-SE"/>
          </a:p>
        </p:txBody>
      </p:sp>
    </p:spTree>
    <p:extLst>
      <p:ext uri="{BB962C8B-B14F-4D97-AF65-F5344CB8AC3E}">
        <p14:creationId xmlns:p14="http://schemas.microsoft.com/office/powerpoint/2010/main" val="2327431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92E73-A60E-32A8-E78D-0512482C5887}"/>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6B7011CF-5434-6109-B759-BFD3F6208CA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625F637D-865D-F520-3A3F-5593CDB4DBA4}"/>
              </a:ext>
            </a:extLst>
          </p:cNvPr>
          <p:cNvSpPr>
            <a:spLocks noGrp="1"/>
          </p:cNvSpPr>
          <p:nvPr>
            <p:ph type="dt" sz="half" idx="10"/>
          </p:nvPr>
        </p:nvSpPr>
        <p:spPr/>
        <p:txBody>
          <a:bodyPr/>
          <a:lstStyle/>
          <a:p>
            <a:fld id="{1250C503-BDA9-9242-AADA-0C023A79DD2A}" type="datetimeFigureOut">
              <a:rPr lang="en-SE" smtClean="0"/>
              <a:t>2024-11-28</a:t>
            </a:fld>
            <a:endParaRPr lang="en-SE"/>
          </a:p>
        </p:txBody>
      </p:sp>
      <p:sp>
        <p:nvSpPr>
          <p:cNvPr id="5" name="Footer Placeholder 4">
            <a:extLst>
              <a:ext uri="{FF2B5EF4-FFF2-40B4-BE49-F238E27FC236}">
                <a16:creationId xmlns:a16="http://schemas.microsoft.com/office/drawing/2014/main" id="{96DADFCC-CC2A-9E6A-728F-DE4429BA1780}"/>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CEAFF862-AAA6-7717-0EC1-717C171BFD38}"/>
              </a:ext>
            </a:extLst>
          </p:cNvPr>
          <p:cNvSpPr>
            <a:spLocks noGrp="1"/>
          </p:cNvSpPr>
          <p:nvPr>
            <p:ph type="sldNum" sz="quarter" idx="12"/>
          </p:nvPr>
        </p:nvSpPr>
        <p:spPr/>
        <p:txBody>
          <a:bodyPr/>
          <a:lstStyle/>
          <a:p>
            <a:fld id="{B2316DA9-C842-4442-9743-E5D3443C6B0F}" type="slidenum">
              <a:rPr lang="en-SE" smtClean="0"/>
              <a:t>‹#›</a:t>
            </a:fld>
            <a:endParaRPr lang="en-SE"/>
          </a:p>
        </p:txBody>
      </p:sp>
    </p:spTree>
    <p:extLst>
      <p:ext uri="{BB962C8B-B14F-4D97-AF65-F5344CB8AC3E}">
        <p14:creationId xmlns:p14="http://schemas.microsoft.com/office/powerpoint/2010/main" val="1908891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B8CF0-9539-D8E0-F3CB-41D42D77A56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E1AB73CC-3670-6D95-845E-05B551CBC1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4A30598-463B-8DF1-5CFD-1D2A1710384A}"/>
              </a:ext>
            </a:extLst>
          </p:cNvPr>
          <p:cNvSpPr>
            <a:spLocks noGrp="1"/>
          </p:cNvSpPr>
          <p:nvPr>
            <p:ph type="dt" sz="half" idx="10"/>
          </p:nvPr>
        </p:nvSpPr>
        <p:spPr/>
        <p:txBody>
          <a:bodyPr/>
          <a:lstStyle/>
          <a:p>
            <a:fld id="{1250C503-BDA9-9242-AADA-0C023A79DD2A}" type="datetimeFigureOut">
              <a:rPr lang="en-SE" smtClean="0"/>
              <a:t>2024-11-28</a:t>
            </a:fld>
            <a:endParaRPr lang="en-SE"/>
          </a:p>
        </p:txBody>
      </p:sp>
      <p:sp>
        <p:nvSpPr>
          <p:cNvPr id="5" name="Footer Placeholder 4">
            <a:extLst>
              <a:ext uri="{FF2B5EF4-FFF2-40B4-BE49-F238E27FC236}">
                <a16:creationId xmlns:a16="http://schemas.microsoft.com/office/drawing/2014/main" id="{6BEE530A-7550-F4EA-9FF2-7680E9116E4F}"/>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A3B05F77-AD6E-618C-1EC2-E8C9CF11C416}"/>
              </a:ext>
            </a:extLst>
          </p:cNvPr>
          <p:cNvSpPr>
            <a:spLocks noGrp="1"/>
          </p:cNvSpPr>
          <p:nvPr>
            <p:ph type="sldNum" sz="quarter" idx="12"/>
          </p:nvPr>
        </p:nvSpPr>
        <p:spPr/>
        <p:txBody>
          <a:bodyPr/>
          <a:lstStyle/>
          <a:p>
            <a:fld id="{B2316DA9-C842-4442-9743-E5D3443C6B0F}" type="slidenum">
              <a:rPr lang="en-SE" smtClean="0"/>
              <a:t>‹#›</a:t>
            </a:fld>
            <a:endParaRPr lang="en-SE"/>
          </a:p>
        </p:txBody>
      </p:sp>
    </p:spTree>
    <p:extLst>
      <p:ext uri="{BB962C8B-B14F-4D97-AF65-F5344CB8AC3E}">
        <p14:creationId xmlns:p14="http://schemas.microsoft.com/office/powerpoint/2010/main" val="1456639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05D70-EC9F-9DCC-F0BC-DBBDD3CD2F32}"/>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6338F5AB-4E3D-D1C3-11EF-71DCD7C2E47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EF07DA00-E977-FCC4-F2E7-46D21DF43D6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C81DE5EC-1C93-AF85-34D2-1A7D48A31DE3}"/>
              </a:ext>
            </a:extLst>
          </p:cNvPr>
          <p:cNvSpPr>
            <a:spLocks noGrp="1"/>
          </p:cNvSpPr>
          <p:nvPr>
            <p:ph type="dt" sz="half" idx="10"/>
          </p:nvPr>
        </p:nvSpPr>
        <p:spPr/>
        <p:txBody>
          <a:bodyPr/>
          <a:lstStyle/>
          <a:p>
            <a:fld id="{1250C503-BDA9-9242-AADA-0C023A79DD2A}" type="datetimeFigureOut">
              <a:rPr lang="en-SE" smtClean="0"/>
              <a:t>2024-11-28</a:t>
            </a:fld>
            <a:endParaRPr lang="en-SE"/>
          </a:p>
        </p:txBody>
      </p:sp>
      <p:sp>
        <p:nvSpPr>
          <p:cNvPr id="6" name="Footer Placeholder 5">
            <a:extLst>
              <a:ext uri="{FF2B5EF4-FFF2-40B4-BE49-F238E27FC236}">
                <a16:creationId xmlns:a16="http://schemas.microsoft.com/office/drawing/2014/main" id="{1B7F589F-20FC-1229-14EB-1BD3D77B61A1}"/>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5894E1C8-A4A9-8701-8D02-B6C61A57F5D8}"/>
              </a:ext>
            </a:extLst>
          </p:cNvPr>
          <p:cNvSpPr>
            <a:spLocks noGrp="1"/>
          </p:cNvSpPr>
          <p:nvPr>
            <p:ph type="sldNum" sz="quarter" idx="12"/>
          </p:nvPr>
        </p:nvSpPr>
        <p:spPr/>
        <p:txBody>
          <a:bodyPr/>
          <a:lstStyle/>
          <a:p>
            <a:fld id="{B2316DA9-C842-4442-9743-E5D3443C6B0F}" type="slidenum">
              <a:rPr lang="en-SE" smtClean="0"/>
              <a:t>‹#›</a:t>
            </a:fld>
            <a:endParaRPr lang="en-SE"/>
          </a:p>
        </p:txBody>
      </p:sp>
    </p:spTree>
    <p:extLst>
      <p:ext uri="{BB962C8B-B14F-4D97-AF65-F5344CB8AC3E}">
        <p14:creationId xmlns:p14="http://schemas.microsoft.com/office/powerpoint/2010/main" val="754850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A1765-7C5A-58C7-6FC3-A12FE2E689AB}"/>
              </a:ext>
            </a:extLst>
          </p:cNvPr>
          <p:cNvSpPr>
            <a:spLocks noGrp="1"/>
          </p:cNvSpPr>
          <p:nvPr>
            <p:ph type="title"/>
          </p:nvPr>
        </p:nvSpPr>
        <p:spPr>
          <a:xfrm>
            <a:off x="839788" y="365125"/>
            <a:ext cx="105156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45E307FB-BE9C-D28E-07AF-412B22E84C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6AD75D3-FC64-A094-824B-33F295AF905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C75C9C01-EE22-CA32-E713-58A03C15E6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828D5EA-E77B-3FAD-9DDD-C385D037924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D1D9596D-0D12-4ED2-99B3-880005F7C0D9}"/>
              </a:ext>
            </a:extLst>
          </p:cNvPr>
          <p:cNvSpPr>
            <a:spLocks noGrp="1"/>
          </p:cNvSpPr>
          <p:nvPr>
            <p:ph type="dt" sz="half" idx="10"/>
          </p:nvPr>
        </p:nvSpPr>
        <p:spPr/>
        <p:txBody>
          <a:bodyPr/>
          <a:lstStyle/>
          <a:p>
            <a:fld id="{1250C503-BDA9-9242-AADA-0C023A79DD2A}" type="datetimeFigureOut">
              <a:rPr lang="en-SE" smtClean="0"/>
              <a:t>2024-11-28</a:t>
            </a:fld>
            <a:endParaRPr lang="en-SE"/>
          </a:p>
        </p:txBody>
      </p:sp>
      <p:sp>
        <p:nvSpPr>
          <p:cNvPr id="8" name="Footer Placeholder 7">
            <a:extLst>
              <a:ext uri="{FF2B5EF4-FFF2-40B4-BE49-F238E27FC236}">
                <a16:creationId xmlns:a16="http://schemas.microsoft.com/office/drawing/2014/main" id="{9B757464-4D3C-8EDB-7822-74B1FB1BF818}"/>
              </a:ext>
            </a:extLst>
          </p:cNvPr>
          <p:cNvSpPr>
            <a:spLocks noGrp="1"/>
          </p:cNvSpPr>
          <p:nvPr>
            <p:ph type="ftr" sz="quarter" idx="11"/>
          </p:nvPr>
        </p:nvSpPr>
        <p:spPr/>
        <p:txBody>
          <a:bodyPr/>
          <a:lstStyle/>
          <a:p>
            <a:endParaRPr lang="en-SE"/>
          </a:p>
        </p:txBody>
      </p:sp>
      <p:sp>
        <p:nvSpPr>
          <p:cNvPr id="9" name="Slide Number Placeholder 8">
            <a:extLst>
              <a:ext uri="{FF2B5EF4-FFF2-40B4-BE49-F238E27FC236}">
                <a16:creationId xmlns:a16="http://schemas.microsoft.com/office/drawing/2014/main" id="{23D50C63-5DE9-A88D-D135-BEDF6BF722BF}"/>
              </a:ext>
            </a:extLst>
          </p:cNvPr>
          <p:cNvSpPr>
            <a:spLocks noGrp="1"/>
          </p:cNvSpPr>
          <p:nvPr>
            <p:ph type="sldNum" sz="quarter" idx="12"/>
          </p:nvPr>
        </p:nvSpPr>
        <p:spPr/>
        <p:txBody>
          <a:bodyPr/>
          <a:lstStyle/>
          <a:p>
            <a:fld id="{B2316DA9-C842-4442-9743-E5D3443C6B0F}" type="slidenum">
              <a:rPr lang="en-SE" smtClean="0"/>
              <a:t>‹#›</a:t>
            </a:fld>
            <a:endParaRPr lang="en-SE"/>
          </a:p>
        </p:txBody>
      </p:sp>
    </p:spTree>
    <p:extLst>
      <p:ext uri="{BB962C8B-B14F-4D97-AF65-F5344CB8AC3E}">
        <p14:creationId xmlns:p14="http://schemas.microsoft.com/office/powerpoint/2010/main" val="49328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3A2D0-9A77-215C-7435-4E7BCCA7151B}"/>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241930B8-2FB4-956A-6511-69A8312B0283}"/>
              </a:ext>
            </a:extLst>
          </p:cNvPr>
          <p:cNvSpPr>
            <a:spLocks noGrp="1"/>
          </p:cNvSpPr>
          <p:nvPr>
            <p:ph type="dt" sz="half" idx="10"/>
          </p:nvPr>
        </p:nvSpPr>
        <p:spPr/>
        <p:txBody>
          <a:bodyPr/>
          <a:lstStyle/>
          <a:p>
            <a:fld id="{1250C503-BDA9-9242-AADA-0C023A79DD2A}" type="datetimeFigureOut">
              <a:rPr lang="en-SE" smtClean="0"/>
              <a:t>2024-11-28</a:t>
            </a:fld>
            <a:endParaRPr lang="en-SE"/>
          </a:p>
        </p:txBody>
      </p:sp>
      <p:sp>
        <p:nvSpPr>
          <p:cNvPr id="4" name="Footer Placeholder 3">
            <a:extLst>
              <a:ext uri="{FF2B5EF4-FFF2-40B4-BE49-F238E27FC236}">
                <a16:creationId xmlns:a16="http://schemas.microsoft.com/office/drawing/2014/main" id="{1D1C7101-5086-479B-0A52-0D642EAF89F8}"/>
              </a:ext>
            </a:extLst>
          </p:cNvPr>
          <p:cNvSpPr>
            <a:spLocks noGrp="1"/>
          </p:cNvSpPr>
          <p:nvPr>
            <p:ph type="ftr" sz="quarter" idx="11"/>
          </p:nvPr>
        </p:nvSpPr>
        <p:spPr/>
        <p:txBody>
          <a:bodyPr/>
          <a:lstStyle/>
          <a:p>
            <a:endParaRPr lang="en-SE"/>
          </a:p>
        </p:txBody>
      </p:sp>
      <p:sp>
        <p:nvSpPr>
          <p:cNvPr id="5" name="Slide Number Placeholder 4">
            <a:extLst>
              <a:ext uri="{FF2B5EF4-FFF2-40B4-BE49-F238E27FC236}">
                <a16:creationId xmlns:a16="http://schemas.microsoft.com/office/drawing/2014/main" id="{8E8A27FE-5F8F-20D2-2962-FA0567085D2A}"/>
              </a:ext>
            </a:extLst>
          </p:cNvPr>
          <p:cNvSpPr>
            <a:spLocks noGrp="1"/>
          </p:cNvSpPr>
          <p:nvPr>
            <p:ph type="sldNum" sz="quarter" idx="12"/>
          </p:nvPr>
        </p:nvSpPr>
        <p:spPr/>
        <p:txBody>
          <a:bodyPr/>
          <a:lstStyle/>
          <a:p>
            <a:fld id="{B2316DA9-C842-4442-9743-E5D3443C6B0F}" type="slidenum">
              <a:rPr lang="en-SE" smtClean="0"/>
              <a:t>‹#›</a:t>
            </a:fld>
            <a:endParaRPr lang="en-SE"/>
          </a:p>
        </p:txBody>
      </p:sp>
    </p:spTree>
    <p:extLst>
      <p:ext uri="{BB962C8B-B14F-4D97-AF65-F5344CB8AC3E}">
        <p14:creationId xmlns:p14="http://schemas.microsoft.com/office/powerpoint/2010/main" val="2329300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5F53A3-CCB0-99AC-5962-44BDC831F1F0}"/>
              </a:ext>
            </a:extLst>
          </p:cNvPr>
          <p:cNvSpPr>
            <a:spLocks noGrp="1"/>
          </p:cNvSpPr>
          <p:nvPr>
            <p:ph type="dt" sz="half" idx="10"/>
          </p:nvPr>
        </p:nvSpPr>
        <p:spPr/>
        <p:txBody>
          <a:bodyPr/>
          <a:lstStyle/>
          <a:p>
            <a:fld id="{1250C503-BDA9-9242-AADA-0C023A79DD2A}" type="datetimeFigureOut">
              <a:rPr lang="en-SE" smtClean="0"/>
              <a:t>2024-11-28</a:t>
            </a:fld>
            <a:endParaRPr lang="en-SE"/>
          </a:p>
        </p:txBody>
      </p:sp>
      <p:sp>
        <p:nvSpPr>
          <p:cNvPr id="3" name="Footer Placeholder 2">
            <a:extLst>
              <a:ext uri="{FF2B5EF4-FFF2-40B4-BE49-F238E27FC236}">
                <a16:creationId xmlns:a16="http://schemas.microsoft.com/office/drawing/2014/main" id="{183132CC-6148-E965-28D1-C77BD60C31AD}"/>
              </a:ext>
            </a:extLst>
          </p:cNvPr>
          <p:cNvSpPr>
            <a:spLocks noGrp="1"/>
          </p:cNvSpPr>
          <p:nvPr>
            <p:ph type="ftr" sz="quarter" idx="11"/>
          </p:nvPr>
        </p:nvSpPr>
        <p:spPr/>
        <p:txBody>
          <a:bodyPr/>
          <a:lstStyle/>
          <a:p>
            <a:endParaRPr lang="en-SE"/>
          </a:p>
        </p:txBody>
      </p:sp>
      <p:sp>
        <p:nvSpPr>
          <p:cNvPr id="4" name="Slide Number Placeholder 3">
            <a:extLst>
              <a:ext uri="{FF2B5EF4-FFF2-40B4-BE49-F238E27FC236}">
                <a16:creationId xmlns:a16="http://schemas.microsoft.com/office/drawing/2014/main" id="{29EC5255-A165-C5E2-9F1E-985BA4190AE2}"/>
              </a:ext>
            </a:extLst>
          </p:cNvPr>
          <p:cNvSpPr>
            <a:spLocks noGrp="1"/>
          </p:cNvSpPr>
          <p:nvPr>
            <p:ph type="sldNum" sz="quarter" idx="12"/>
          </p:nvPr>
        </p:nvSpPr>
        <p:spPr/>
        <p:txBody>
          <a:bodyPr/>
          <a:lstStyle/>
          <a:p>
            <a:fld id="{B2316DA9-C842-4442-9743-E5D3443C6B0F}" type="slidenum">
              <a:rPr lang="en-SE" smtClean="0"/>
              <a:t>‹#›</a:t>
            </a:fld>
            <a:endParaRPr lang="en-SE"/>
          </a:p>
        </p:txBody>
      </p:sp>
    </p:spTree>
    <p:extLst>
      <p:ext uri="{BB962C8B-B14F-4D97-AF65-F5344CB8AC3E}">
        <p14:creationId xmlns:p14="http://schemas.microsoft.com/office/powerpoint/2010/main" val="375121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DD69C-A7BD-BD48-800B-C0362E4F225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84980F4C-16F7-2C33-2A76-87C345EC40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422C8FBA-A7EC-1DA7-4D64-63F9CED483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A192374-DCA0-8DF0-723A-E4EBDF5DB7A3}"/>
              </a:ext>
            </a:extLst>
          </p:cNvPr>
          <p:cNvSpPr>
            <a:spLocks noGrp="1"/>
          </p:cNvSpPr>
          <p:nvPr>
            <p:ph type="dt" sz="half" idx="10"/>
          </p:nvPr>
        </p:nvSpPr>
        <p:spPr/>
        <p:txBody>
          <a:bodyPr/>
          <a:lstStyle/>
          <a:p>
            <a:fld id="{1250C503-BDA9-9242-AADA-0C023A79DD2A}" type="datetimeFigureOut">
              <a:rPr lang="en-SE" smtClean="0"/>
              <a:t>2024-11-28</a:t>
            </a:fld>
            <a:endParaRPr lang="en-SE"/>
          </a:p>
        </p:txBody>
      </p:sp>
      <p:sp>
        <p:nvSpPr>
          <p:cNvPr id="6" name="Footer Placeholder 5">
            <a:extLst>
              <a:ext uri="{FF2B5EF4-FFF2-40B4-BE49-F238E27FC236}">
                <a16:creationId xmlns:a16="http://schemas.microsoft.com/office/drawing/2014/main" id="{AEFA986F-CCAA-BAA4-E756-0A97174D18A3}"/>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C9357A24-65CB-7267-8A4E-234A55AB8947}"/>
              </a:ext>
            </a:extLst>
          </p:cNvPr>
          <p:cNvSpPr>
            <a:spLocks noGrp="1"/>
          </p:cNvSpPr>
          <p:nvPr>
            <p:ph type="sldNum" sz="quarter" idx="12"/>
          </p:nvPr>
        </p:nvSpPr>
        <p:spPr/>
        <p:txBody>
          <a:bodyPr/>
          <a:lstStyle/>
          <a:p>
            <a:fld id="{B2316DA9-C842-4442-9743-E5D3443C6B0F}" type="slidenum">
              <a:rPr lang="en-SE" smtClean="0"/>
              <a:t>‹#›</a:t>
            </a:fld>
            <a:endParaRPr lang="en-SE"/>
          </a:p>
        </p:txBody>
      </p:sp>
    </p:spTree>
    <p:extLst>
      <p:ext uri="{BB962C8B-B14F-4D97-AF65-F5344CB8AC3E}">
        <p14:creationId xmlns:p14="http://schemas.microsoft.com/office/powerpoint/2010/main" val="2054112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AE803-BE92-248C-4D2D-D2151CB1DD5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7D986626-FB50-BBC9-BB06-DE7E50A746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4C83AE92-BEF2-3C8D-F500-E35EC684D3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F985CE7-C085-EAAD-80DE-24E56F9D83DB}"/>
              </a:ext>
            </a:extLst>
          </p:cNvPr>
          <p:cNvSpPr>
            <a:spLocks noGrp="1"/>
          </p:cNvSpPr>
          <p:nvPr>
            <p:ph type="dt" sz="half" idx="10"/>
          </p:nvPr>
        </p:nvSpPr>
        <p:spPr/>
        <p:txBody>
          <a:bodyPr/>
          <a:lstStyle/>
          <a:p>
            <a:fld id="{1250C503-BDA9-9242-AADA-0C023A79DD2A}" type="datetimeFigureOut">
              <a:rPr lang="en-SE" smtClean="0"/>
              <a:t>2024-11-28</a:t>
            </a:fld>
            <a:endParaRPr lang="en-SE"/>
          </a:p>
        </p:txBody>
      </p:sp>
      <p:sp>
        <p:nvSpPr>
          <p:cNvPr id="6" name="Footer Placeholder 5">
            <a:extLst>
              <a:ext uri="{FF2B5EF4-FFF2-40B4-BE49-F238E27FC236}">
                <a16:creationId xmlns:a16="http://schemas.microsoft.com/office/drawing/2014/main" id="{987C5CBE-F36E-083C-1051-39BD4F1012F4}"/>
              </a:ext>
            </a:extLst>
          </p:cNvPr>
          <p:cNvSpPr>
            <a:spLocks noGrp="1"/>
          </p:cNvSpPr>
          <p:nvPr>
            <p:ph type="ftr" sz="quarter" idx="11"/>
          </p:nvPr>
        </p:nvSpPr>
        <p:spPr/>
        <p:txBody>
          <a:bodyPr/>
          <a:lstStyle/>
          <a:p>
            <a:endParaRPr lang="en-SE"/>
          </a:p>
        </p:txBody>
      </p:sp>
      <p:sp>
        <p:nvSpPr>
          <p:cNvPr id="7" name="Slide Number Placeholder 6">
            <a:extLst>
              <a:ext uri="{FF2B5EF4-FFF2-40B4-BE49-F238E27FC236}">
                <a16:creationId xmlns:a16="http://schemas.microsoft.com/office/drawing/2014/main" id="{3A3C918E-AC24-87AA-36DB-E7F0AD2A08A3}"/>
              </a:ext>
            </a:extLst>
          </p:cNvPr>
          <p:cNvSpPr>
            <a:spLocks noGrp="1"/>
          </p:cNvSpPr>
          <p:nvPr>
            <p:ph type="sldNum" sz="quarter" idx="12"/>
          </p:nvPr>
        </p:nvSpPr>
        <p:spPr/>
        <p:txBody>
          <a:bodyPr/>
          <a:lstStyle/>
          <a:p>
            <a:fld id="{B2316DA9-C842-4442-9743-E5D3443C6B0F}" type="slidenum">
              <a:rPr lang="en-SE" smtClean="0"/>
              <a:t>‹#›</a:t>
            </a:fld>
            <a:endParaRPr lang="en-SE"/>
          </a:p>
        </p:txBody>
      </p:sp>
    </p:spTree>
    <p:extLst>
      <p:ext uri="{BB962C8B-B14F-4D97-AF65-F5344CB8AC3E}">
        <p14:creationId xmlns:p14="http://schemas.microsoft.com/office/powerpoint/2010/main" val="238742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45FA6-FFCC-2728-AC2F-194702B10D67}"/>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64AFC978-C240-1C42-E0D5-E7EFD44CEF1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6C4825FE-82AD-BDD5-84DF-4E76D6FFFAE6}"/>
              </a:ext>
            </a:extLst>
          </p:cNvPr>
          <p:cNvSpPr>
            <a:spLocks noGrp="1"/>
          </p:cNvSpPr>
          <p:nvPr>
            <p:ph type="dt" sz="half" idx="10"/>
          </p:nvPr>
        </p:nvSpPr>
        <p:spPr/>
        <p:txBody>
          <a:bodyPr/>
          <a:lstStyle/>
          <a:p>
            <a:fld id="{1250C503-BDA9-9242-AADA-0C023A79DD2A}" type="datetimeFigureOut">
              <a:rPr lang="en-SE" smtClean="0"/>
              <a:t>2024-11-28</a:t>
            </a:fld>
            <a:endParaRPr lang="en-SE"/>
          </a:p>
        </p:txBody>
      </p:sp>
      <p:sp>
        <p:nvSpPr>
          <p:cNvPr id="5" name="Footer Placeholder 4">
            <a:extLst>
              <a:ext uri="{FF2B5EF4-FFF2-40B4-BE49-F238E27FC236}">
                <a16:creationId xmlns:a16="http://schemas.microsoft.com/office/drawing/2014/main" id="{52239457-969C-1DBF-C7E1-71F82D589C76}"/>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AEDA8949-B730-2F97-793E-3A6DBFBCA9BF}"/>
              </a:ext>
            </a:extLst>
          </p:cNvPr>
          <p:cNvSpPr>
            <a:spLocks noGrp="1"/>
          </p:cNvSpPr>
          <p:nvPr>
            <p:ph type="sldNum" sz="quarter" idx="12"/>
          </p:nvPr>
        </p:nvSpPr>
        <p:spPr/>
        <p:txBody>
          <a:bodyPr/>
          <a:lstStyle/>
          <a:p>
            <a:fld id="{B2316DA9-C842-4442-9743-E5D3443C6B0F}" type="slidenum">
              <a:rPr lang="en-SE" smtClean="0"/>
              <a:t>‹#›</a:t>
            </a:fld>
            <a:endParaRPr lang="en-SE"/>
          </a:p>
        </p:txBody>
      </p:sp>
    </p:spTree>
    <p:extLst>
      <p:ext uri="{BB962C8B-B14F-4D97-AF65-F5344CB8AC3E}">
        <p14:creationId xmlns:p14="http://schemas.microsoft.com/office/powerpoint/2010/main" val="2875452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56EE67-7E45-5FC9-A1BF-E0C5C1CDA5E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045AACEC-7885-8502-FFB6-327F42C8E4C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1CF017A5-6749-D7E7-BA67-82E176C7A0D7}"/>
              </a:ext>
            </a:extLst>
          </p:cNvPr>
          <p:cNvSpPr>
            <a:spLocks noGrp="1"/>
          </p:cNvSpPr>
          <p:nvPr>
            <p:ph type="dt" sz="half" idx="10"/>
          </p:nvPr>
        </p:nvSpPr>
        <p:spPr/>
        <p:txBody>
          <a:bodyPr/>
          <a:lstStyle/>
          <a:p>
            <a:fld id="{1250C503-BDA9-9242-AADA-0C023A79DD2A}" type="datetimeFigureOut">
              <a:rPr lang="en-SE" smtClean="0"/>
              <a:t>2024-11-28</a:t>
            </a:fld>
            <a:endParaRPr lang="en-SE"/>
          </a:p>
        </p:txBody>
      </p:sp>
      <p:sp>
        <p:nvSpPr>
          <p:cNvPr id="5" name="Footer Placeholder 4">
            <a:extLst>
              <a:ext uri="{FF2B5EF4-FFF2-40B4-BE49-F238E27FC236}">
                <a16:creationId xmlns:a16="http://schemas.microsoft.com/office/drawing/2014/main" id="{632FE163-6EFE-3E3F-B37A-404741886E0F}"/>
              </a:ext>
            </a:extLst>
          </p:cNvPr>
          <p:cNvSpPr>
            <a:spLocks noGrp="1"/>
          </p:cNvSpPr>
          <p:nvPr>
            <p:ph type="ftr" sz="quarter" idx="11"/>
          </p:nvPr>
        </p:nvSpPr>
        <p:spPr/>
        <p:txBody>
          <a:bodyPr/>
          <a:lstStyle/>
          <a:p>
            <a:endParaRPr lang="en-SE"/>
          </a:p>
        </p:txBody>
      </p:sp>
      <p:sp>
        <p:nvSpPr>
          <p:cNvPr id="6" name="Slide Number Placeholder 5">
            <a:extLst>
              <a:ext uri="{FF2B5EF4-FFF2-40B4-BE49-F238E27FC236}">
                <a16:creationId xmlns:a16="http://schemas.microsoft.com/office/drawing/2014/main" id="{9FBEE568-7616-015B-8F5A-DDA6C95AA67B}"/>
              </a:ext>
            </a:extLst>
          </p:cNvPr>
          <p:cNvSpPr>
            <a:spLocks noGrp="1"/>
          </p:cNvSpPr>
          <p:nvPr>
            <p:ph type="sldNum" sz="quarter" idx="12"/>
          </p:nvPr>
        </p:nvSpPr>
        <p:spPr/>
        <p:txBody>
          <a:bodyPr/>
          <a:lstStyle/>
          <a:p>
            <a:fld id="{B2316DA9-C842-4442-9743-E5D3443C6B0F}" type="slidenum">
              <a:rPr lang="en-SE" smtClean="0"/>
              <a:t>‹#›</a:t>
            </a:fld>
            <a:endParaRPr lang="en-SE"/>
          </a:p>
        </p:txBody>
      </p:sp>
    </p:spTree>
    <p:extLst>
      <p:ext uri="{BB962C8B-B14F-4D97-AF65-F5344CB8AC3E}">
        <p14:creationId xmlns:p14="http://schemas.microsoft.com/office/powerpoint/2010/main" val="2676418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9A015C-4DE8-ABF2-B8FF-4C7614D4E7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ED1AEB8B-5652-4135-3491-81AA0B781F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F31552B7-EEBD-CFD9-0A63-9D966A2AD0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50C503-BDA9-9242-AADA-0C023A79DD2A}" type="datetimeFigureOut">
              <a:rPr lang="en-SE" smtClean="0"/>
              <a:t>2024-11-28</a:t>
            </a:fld>
            <a:endParaRPr lang="en-SE"/>
          </a:p>
        </p:txBody>
      </p:sp>
      <p:sp>
        <p:nvSpPr>
          <p:cNvPr id="5" name="Footer Placeholder 4">
            <a:extLst>
              <a:ext uri="{FF2B5EF4-FFF2-40B4-BE49-F238E27FC236}">
                <a16:creationId xmlns:a16="http://schemas.microsoft.com/office/drawing/2014/main" id="{5C278474-113D-ED96-0A79-BF2E7AD2E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Slide Number Placeholder 5">
            <a:extLst>
              <a:ext uri="{FF2B5EF4-FFF2-40B4-BE49-F238E27FC236}">
                <a16:creationId xmlns:a16="http://schemas.microsoft.com/office/drawing/2014/main" id="{6D237F24-FBB3-C550-DC0D-D93321F19E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316DA9-C842-4442-9743-E5D3443C6B0F}" type="slidenum">
              <a:rPr lang="en-SE" smtClean="0"/>
              <a:t>‹#›</a:t>
            </a:fld>
            <a:endParaRPr lang="en-SE"/>
          </a:p>
        </p:txBody>
      </p:sp>
    </p:spTree>
    <p:extLst>
      <p:ext uri="{BB962C8B-B14F-4D97-AF65-F5344CB8AC3E}">
        <p14:creationId xmlns:p14="http://schemas.microsoft.com/office/powerpoint/2010/main" val="3383189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CE2CD07-E2C8-D32B-FA24-DC1A140BC127}"/>
              </a:ext>
            </a:extLst>
          </p:cNvPr>
          <p:cNvSpPr txBox="1"/>
          <p:nvPr/>
        </p:nvSpPr>
        <p:spPr>
          <a:xfrm>
            <a:off x="3077823" y="406352"/>
            <a:ext cx="6561477" cy="1754326"/>
          </a:xfrm>
          <a:prstGeom prst="rect">
            <a:avLst/>
          </a:prstGeom>
          <a:noFill/>
        </p:spPr>
        <p:txBody>
          <a:bodyPr wrap="square" rtlCol="0">
            <a:spAutoFit/>
          </a:bodyPr>
          <a:lstStyle/>
          <a:p>
            <a:pPr algn="ctr"/>
            <a:r>
              <a:rPr lang="en-SE" sz="3600" b="1" dirty="0">
                <a:latin typeface="Baskerville" panose="02020502070401020303" pitchFamily="18" charset="0"/>
                <a:ea typeface="Baskerville" panose="02020502070401020303" pitchFamily="18" charset="0"/>
              </a:rPr>
              <a:t>Single cell transcriptomics/</a:t>
            </a:r>
          </a:p>
          <a:p>
            <a:pPr algn="ctr"/>
            <a:r>
              <a:rPr lang="en-SE" sz="3600" b="1" dirty="0">
                <a:latin typeface="Baskerville" panose="02020502070401020303" pitchFamily="18" charset="0"/>
                <a:ea typeface="Baskerville" panose="02020502070401020303" pitchFamily="18" charset="0"/>
              </a:rPr>
              <a:t>single cell RNA sequencing/</a:t>
            </a:r>
          </a:p>
          <a:p>
            <a:pPr algn="ctr"/>
            <a:r>
              <a:rPr lang="en-SE" sz="3600" b="1" dirty="0">
                <a:latin typeface="Baskerville" panose="02020502070401020303" pitchFamily="18" charset="0"/>
                <a:ea typeface="Baskerville" panose="02020502070401020303" pitchFamily="18" charset="0"/>
              </a:rPr>
              <a:t>scRNAseq</a:t>
            </a:r>
          </a:p>
        </p:txBody>
      </p:sp>
      <p:grpSp>
        <p:nvGrpSpPr>
          <p:cNvPr id="12" name="Group 11">
            <a:extLst>
              <a:ext uri="{FF2B5EF4-FFF2-40B4-BE49-F238E27FC236}">
                <a16:creationId xmlns:a16="http://schemas.microsoft.com/office/drawing/2014/main" id="{381917B7-7549-054E-32DB-5F9534ED378F}"/>
              </a:ext>
            </a:extLst>
          </p:cNvPr>
          <p:cNvGrpSpPr/>
          <p:nvPr/>
        </p:nvGrpSpPr>
        <p:grpSpPr>
          <a:xfrm>
            <a:off x="63924" y="2790180"/>
            <a:ext cx="7616732" cy="2262801"/>
            <a:chOff x="607258" y="2790180"/>
            <a:chExt cx="7616732" cy="2262801"/>
          </a:xfrm>
        </p:grpSpPr>
        <p:pic>
          <p:nvPicPr>
            <p:cNvPr id="4" name="Picture 3">
              <a:extLst>
                <a:ext uri="{FF2B5EF4-FFF2-40B4-BE49-F238E27FC236}">
                  <a16:creationId xmlns:a16="http://schemas.microsoft.com/office/drawing/2014/main" id="{5DB9C05F-7650-CFEC-FEEA-6845918C9596}"/>
                </a:ext>
              </a:extLst>
            </p:cNvPr>
            <p:cNvPicPr>
              <a:picLocks noChangeAspect="1"/>
            </p:cNvPicPr>
            <p:nvPr/>
          </p:nvPicPr>
          <p:blipFill>
            <a:blip r:embed="rId3"/>
            <a:stretch>
              <a:fillRect/>
            </a:stretch>
          </p:blipFill>
          <p:spPr>
            <a:xfrm>
              <a:off x="607258" y="3020920"/>
              <a:ext cx="1731624" cy="169742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a:extLst>
                <a:ext uri="{FF2B5EF4-FFF2-40B4-BE49-F238E27FC236}">
                  <a16:creationId xmlns:a16="http://schemas.microsoft.com/office/drawing/2014/main" id="{E5EAE2BB-EBB5-6C99-FD51-4332A30BF335}"/>
                </a:ext>
              </a:extLst>
            </p:cNvPr>
            <p:cNvPicPr>
              <a:picLocks noChangeAspect="1"/>
            </p:cNvPicPr>
            <p:nvPr/>
          </p:nvPicPr>
          <p:blipFill>
            <a:blip r:embed="rId4"/>
            <a:stretch>
              <a:fillRect/>
            </a:stretch>
          </p:blipFill>
          <p:spPr>
            <a:xfrm>
              <a:off x="3090870" y="2790180"/>
              <a:ext cx="2213945" cy="226280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style>
            <a:lnRef idx="2">
              <a:schemeClr val="accent5"/>
            </a:lnRef>
            <a:fillRef idx="1">
              <a:schemeClr val="lt1"/>
            </a:fillRef>
            <a:effectRef idx="0">
              <a:schemeClr val="accent5"/>
            </a:effectRef>
            <a:fontRef idx="minor">
              <a:schemeClr val="dk1"/>
            </a:fontRef>
          </p:style>
        </p:pic>
        <p:pic>
          <p:nvPicPr>
            <p:cNvPr id="9" name="Picture 8">
              <a:extLst>
                <a:ext uri="{FF2B5EF4-FFF2-40B4-BE49-F238E27FC236}">
                  <a16:creationId xmlns:a16="http://schemas.microsoft.com/office/drawing/2014/main" id="{3D9F258D-260D-971D-D819-83923DE1D195}"/>
                </a:ext>
              </a:extLst>
            </p:cNvPr>
            <p:cNvPicPr>
              <a:picLocks noChangeAspect="1"/>
            </p:cNvPicPr>
            <p:nvPr/>
          </p:nvPicPr>
          <p:blipFill>
            <a:blip r:embed="rId5"/>
            <a:stretch>
              <a:fillRect/>
            </a:stretch>
          </p:blipFill>
          <p:spPr>
            <a:xfrm>
              <a:off x="6179728" y="2975919"/>
              <a:ext cx="2044262" cy="205578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Right Arrow 9">
              <a:extLst>
                <a:ext uri="{FF2B5EF4-FFF2-40B4-BE49-F238E27FC236}">
                  <a16:creationId xmlns:a16="http://schemas.microsoft.com/office/drawing/2014/main" id="{5F8D0246-F677-5FBA-B060-EEF4DDDEF0CC}"/>
                </a:ext>
              </a:extLst>
            </p:cNvPr>
            <p:cNvSpPr/>
            <p:nvPr/>
          </p:nvSpPr>
          <p:spPr>
            <a:xfrm>
              <a:off x="2478157" y="3606248"/>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1" name="Right Arrow 10">
              <a:extLst>
                <a:ext uri="{FF2B5EF4-FFF2-40B4-BE49-F238E27FC236}">
                  <a16:creationId xmlns:a16="http://schemas.microsoft.com/office/drawing/2014/main" id="{BC9A6A90-CADD-F9D3-EF0D-6C7ACCB28B76}"/>
                </a:ext>
              </a:extLst>
            </p:cNvPr>
            <p:cNvSpPr/>
            <p:nvPr/>
          </p:nvSpPr>
          <p:spPr>
            <a:xfrm>
              <a:off x="5590579" y="3606247"/>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sp>
        <p:nvSpPr>
          <p:cNvPr id="14" name="Right Arrow 13">
            <a:extLst>
              <a:ext uri="{FF2B5EF4-FFF2-40B4-BE49-F238E27FC236}">
                <a16:creationId xmlns:a16="http://schemas.microsoft.com/office/drawing/2014/main" id="{16E8BDD5-204E-6F8D-0D41-7B4FE3CFB45B}"/>
              </a:ext>
            </a:extLst>
          </p:cNvPr>
          <p:cNvSpPr/>
          <p:nvPr/>
        </p:nvSpPr>
        <p:spPr>
          <a:xfrm>
            <a:off x="7966514" y="3670850"/>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extBox 1">
            <a:extLst>
              <a:ext uri="{FF2B5EF4-FFF2-40B4-BE49-F238E27FC236}">
                <a16:creationId xmlns:a16="http://schemas.microsoft.com/office/drawing/2014/main" id="{F9F59E55-6DF6-1235-C534-B74C33E0A73A}"/>
              </a:ext>
            </a:extLst>
          </p:cNvPr>
          <p:cNvSpPr txBox="1"/>
          <p:nvPr/>
        </p:nvSpPr>
        <p:spPr>
          <a:xfrm>
            <a:off x="342592" y="4845965"/>
            <a:ext cx="1449631" cy="461665"/>
          </a:xfrm>
          <a:prstGeom prst="rect">
            <a:avLst/>
          </a:prstGeom>
          <a:noFill/>
        </p:spPr>
        <p:txBody>
          <a:bodyPr wrap="square" rtlCol="0">
            <a:spAutoFit/>
          </a:bodyPr>
          <a:lstStyle/>
          <a:p>
            <a:r>
              <a:rPr lang="en-SE" sz="2400" b="1" dirty="0">
                <a:latin typeface="Times New Roman" panose="02020603050405020304" pitchFamily="18" charset="0"/>
                <a:cs typeface="Times New Roman" panose="02020603050405020304" pitchFamily="18" charset="0"/>
              </a:rPr>
              <a:t>Tissue</a:t>
            </a:r>
          </a:p>
        </p:txBody>
      </p:sp>
      <p:sp>
        <p:nvSpPr>
          <p:cNvPr id="3" name="TextBox 2">
            <a:extLst>
              <a:ext uri="{FF2B5EF4-FFF2-40B4-BE49-F238E27FC236}">
                <a16:creationId xmlns:a16="http://schemas.microsoft.com/office/drawing/2014/main" id="{A49BA397-8731-4FCB-D3B5-C184F706100E}"/>
              </a:ext>
            </a:extLst>
          </p:cNvPr>
          <p:cNvSpPr txBox="1"/>
          <p:nvPr/>
        </p:nvSpPr>
        <p:spPr>
          <a:xfrm>
            <a:off x="2887018" y="5282108"/>
            <a:ext cx="1449631" cy="461665"/>
          </a:xfrm>
          <a:prstGeom prst="rect">
            <a:avLst/>
          </a:prstGeom>
          <a:noFill/>
        </p:spPr>
        <p:txBody>
          <a:bodyPr wrap="square" rtlCol="0">
            <a:spAutoFit/>
          </a:bodyPr>
          <a:lstStyle/>
          <a:p>
            <a:r>
              <a:rPr lang="en-SE" sz="2400" b="1" dirty="0">
                <a:latin typeface="Times New Roman" panose="02020603050405020304" pitchFamily="18" charset="0"/>
                <a:cs typeface="Times New Roman" panose="02020603050405020304" pitchFamily="18" charset="0"/>
              </a:rPr>
              <a:t>Ind. cells</a:t>
            </a:r>
          </a:p>
        </p:txBody>
      </p:sp>
      <p:sp>
        <p:nvSpPr>
          <p:cNvPr id="5" name="TextBox 4">
            <a:extLst>
              <a:ext uri="{FF2B5EF4-FFF2-40B4-BE49-F238E27FC236}">
                <a16:creationId xmlns:a16="http://schemas.microsoft.com/office/drawing/2014/main" id="{9B8FFB1F-5E25-D58C-ACDA-C85A4066BAD9}"/>
              </a:ext>
            </a:extLst>
          </p:cNvPr>
          <p:cNvSpPr txBox="1"/>
          <p:nvPr/>
        </p:nvSpPr>
        <p:spPr>
          <a:xfrm>
            <a:off x="5916408" y="5328275"/>
            <a:ext cx="2217941" cy="830997"/>
          </a:xfrm>
          <a:prstGeom prst="rect">
            <a:avLst/>
          </a:prstGeom>
          <a:noFill/>
        </p:spPr>
        <p:txBody>
          <a:bodyPr wrap="square" rtlCol="0">
            <a:spAutoFit/>
          </a:bodyPr>
          <a:lstStyle/>
          <a:p>
            <a:r>
              <a:rPr lang="en-SE" sz="2400" b="1" dirty="0">
                <a:latin typeface="Times New Roman" panose="02020603050405020304" pitchFamily="18" charset="0"/>
                <a:cs typeface="Times New Roman" panose="02020603050405020304" pitchFamily="18" charset="0"/>
              </a:rPr>
              <a:t>Transcriptome sequencing</a:t>
            </a:r>
          </a:p>
        </p:txBody>
      </p:sp>
      <p:pic>
        <p:nvPicPr>
          <p:cNvPr id="18" name="Picture 17">
            <a:extLst>
              <a:ext uri="{FF2B5EF4-FFF2-40B4-BE49-F238E27FC236}">
                <a16:creationId xmlns:a16="http://schemas.microsoft.com/office/drawing/2014/main" id="{8E8C5126-C592-9450-ED21-5C88C0DABABA}"/>
              </a:ext>
            </a:extLst>
          </p:cNvPr>
          <p:cNvPicPr>
            <a:picLocks noChangeAspect="1"/>
          </p:cNvPicPr>
          <p:nvPr/>
        </p:nvPicPr>
        <p:blipFill>
          <a:blip r:embed="rId6"/>
          <a:stretch>
            <a:fillRect/>
          </a:stretch>
        </p:blipFill>
        <p:spPr>
          <a:xfrm>
            <a:off x="8801208" y="2563509"/>
            <a:ext cx="2911938" cy="3191054"/>
          </a:xfrm>
          <a:prstGeom prst="rect">
            <a:avLst/>
          </a:prstGeom>
        </p:spPr>
      </p:pic>
      <p:sp>
        <p:nvSpPr>
          <p:cNvPr id="19" name="TextBox 18">
            <a:extLst>
              <a:ext uri="{FF2B5EF4-FFF2-40B4-BE49-F238E27FC236}">
                <a16:creationId xmlns:a16="http://schemas.microsoft.com/office/drawing/2014/main" id="{C1DF55F2-AAA1-36B7-6E96-2BF0AE95DD76}"/>
              </a:ext>
            </a:extLst>
          </p:cNvPr>
          <p:cNvSpPr txBox="1"/>
          <p:nvPr/>
        </p:nvSpPr>
        <p:spPr>
          <a:xfrm>
            <a:off x="8801208" y="5754563"/>
            <a:ext cx="2911938" cy="369332"/>
          </a:xfrm>
          <a:prstGeom prst="rect">
            <a:avLst/>
          </a:prstGeom>
          <a:noFill/>
        </p:spPr>
        <p:txBody>
          <a:bodyPr wrap="square" rtlCol="0">
            <a:spAutoFit/>
          </a:bodyPr>
          <a:lstStyle/>
          <a:p>
            <a:r>
              <a:rPr lang="en-GB" dirty="0"/>
              <a:t>L</a:t>
            </a:r>
            <a:r>
              <a:rPr lang="en-SE" dirty="0"/>
              <a:t>uecken &amp; Theis 2019</a:t>
            </a:r>
          </a:p>
        </p:txBody>
      </p:sp>
      <p:sp>
        <p:nvSpPr>
          <p:cNvPr id="20" name="TextBox 19">
            <a:extLst>
              <a:ext uri="{FF2B5EF4-FFF2-40B4-BE49-F238E27FC236}">
                <a16:creationId xmlns:a16="http://schemas.microsoft.com/office/drawing/2014/main" id="{B7D041A5-F95B-CDB2-2323-0D9764CE43C5}"/>
              </a:ext>
            </a:extLst>
          </p:cNvPr>
          <p:cNvSpPr txBox="1"/>
          <p:nvPr/>
        </p:nvSpPr>
        <p:spPr>
          <a:xfrm>
            <a:off x="9968627" y="5122964"/>
            <a:ext cx="1744519"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SE" dirty="0"/>
              <a:t>Each dot: a cell</a:t>
            </a:r>
          </a:p>
        </p:txBody>
      </p:sp>
    </p:spTree>
    <p:extLst>
      <p:ext uri="{BB962C8B-B14F-4D97-AF65-F5344CB8AC3E}">
        <p14:creationId xmlns:p14="http://schemas.microsoft.com/office/powerpoint/2010/main" val="3238395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BCB140-B3B1-DE67-A72C-9BFE975052CB}"/>
              </a:ext>
            </a:extLst>
          </p:cNvPr>
          <p:cNvGrpSpPr/>
          <p:nvPr/>
        </p:nvGrpSpPr>
        <p:grpSpPr>
          <a:xfrm>
            <a:off x="1919673" y="4860234"/>
            <a:ext cx="5584371" cy="394016"/>
            <a:chOff x="1959429" y="3429000"/>
            <a:chExt cx="5584371" cy="394016"/>
          </a:xfrm>
        </p:grpSpPr>
        <p:cxnSp>
          <p:nvCxnSpPr>
            <p:cNvPr id="6" name="Straight Arrow Connector 5">
              <a:extLst>
                <a:ext uri="{FF2B5EF4-FFF2-40B4-BE49-F238E27FC236}">
                  <a16:creationId xmlns:a16="http://schemas.microsoft.com/office/drawing/2014/main" id="{B079F1A2-C82E-9A29-9EFA-BDA9B313A234}"/>
                </a:ext>
              </a:extLst>
            </p:cNvPr>
            <p:cNvCxnSpPr/>
            <p:nvPr/>
          </p:nvCxnSpPr>
          <p:spPr>
            <a:xfrm>
              <a:off x="1959429" y="3635829"/>
              <a:ext cx="5584371" cy="0"/>
            </a:xfrm>
            <a:prstGeom prst="straightConnector1">
              <a:avLst/>
            </a:prstGeom>
            <a:ln w="63500">
              <a:tailEnd type="triangle"/>
            </a:ln>
          </p:spPr>
          <p:style>
            <a:lnRef idx="3">
              <a:schemeClr val="accent1"/>
            </a:lnRef>
            <a:fillRef idx="0">
              <a:schemeClr val="accent1"/>
            </a:fillRef>
            <a:effectRef idx="2">
              <a:schemeClr val="accent1"/>
            </a:effectRef>
            <a:fontRef idx="minor">
              <a:schemeClr val="tx1"/>
            </a:fontRef>
          </p:style>
        </p:cxnSp>
        <p:sp>
          <p:nvSpPr>
            <p:cNvPr id="7" name="Oval 6">
              <a:extLst>
                <a:ext uri="{FF2B5EF4-FFF2-40B4-BE49-F238E27FC236}">
                  <a16:creationId xmlns:a16="http://schemas.microsoft.com/office/drawing/2014/main" id="{0868A023-7C34-26C5-9FA2-45A9565468CE}"/>
                </a:ext>
              </a:extLst>
            </p:cNvPr>
            <p:cNvSpPr/>
            <p:nvPr/>
          </p:nvSpPr>
          <p:spPr>
            <a:xfrm>
              <a:off x="1959429" y="3429000"/>
              <a:ext cx="372954" cy="374374"/>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8" name="Oval 7">
              <a:extLst>
                <a:ext uri="{FF2B5EF4-FFF2-40B4-BE49-F238E27FC236}">
                  <a16:creationId xmlns:a16="http://schemas.microsoft.com/office/drawing/2014/main" id="{F074D4E9-93C1-AC7D-5FB7-F9443F473405}"/>
                </a:ext>
              </a:extLst>
            </p:cNvPr>
            <p:cNvSpPr/>
            <p:nvPr/>
          </p:nvSpPr>
          <p:spPr>
            <a:xfrm>
              <a:off x="3132246" y="3448642"/>
              <a:ext cx="372954" cy="3743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Oval 8">
              <a:extLst>
                <a:ext uri="{FF2B5EF4-FFF2-40B4-BE49-F238E27FC236}">
                  <a16:creationId xmlns:a16="http://schemas.microsoft.com/office/drawing/2014/main" id="{62205BE9-6A41-EEE2-3B8E-8E54F2CC929F}"/>
                </a:ext>
              </a:extLst>
            </p:cNvPr>
            <p:cNvSpPr/>
            <p:nvPr/>
          </p:nvSpPr>
          <p:spPr>
            <a:xfrm>
              <a:off x="4378660" y="3429000"/>
              <a:ext cx="372954" cy="3743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Oval 9">
              <a:extLst>
                <a:ext uri="{FF2B5EF4-FFF2-40B4-BE49-F238E27FC236}">
                  <a16:creationId xmlns:a16="http://schemas.microsoft.com/office/drawing/2014/main" id="{7552F838-AB7D-D3A4-C8F6-068C0BF6FAC0}"/>
                </a:ext>
              </a:extLst>
            </p:cNvPr>
            <p:cNvSpPr/>
            <p:nvPr/>
          </p:nvSpPr>
          <p:spPr>
            <a:xfrm>
              <a:off x="5774753" y="3448642"/>
              <a:ext cx="372954" cy="3743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sp>
        <p:nvSpPr>
          <p:cNvPr id="13" name="TextBox 12">
            <a:extLst>
              <a:ext uri="{FF2B5EF4-FFF2-40B4-BE49-F238E27FC236}">
                <a16:creationId xmlns:a16="http://schemas.microsoft.com/office/drawing/2014/main" id="{4077715F-7FAB-28B2-1C35-E41FB69AE513}"/>
              </a:ext>
            </a:extLst>
          </p:cNvPr>
          <p:cNvSpPr txBox="1"/>
          <p:nvPr/>
        </p:nvSpPr>
        <p:spPr>
          <a:xfrm>
            <a:off x="1282118" y="1205948"/>
            <a:ext cx="1924908" cy="461665"/>
          </a:xfrm>
          <a:prstGeom prst="rect">
            <a:avLst/>
          </a:prstGeom>
          <a:noFill/>
        </p:spPr>
        <p:txBody>
          <a:bodyPr wrap="square" rtlCol="0">
            <a:spAutoFit/>
          </a:bodyPr>
          <a:lstStyle/>
          <a:p>
            <a:r>
              <a:rPr lang="en-SE" sz="2400" b="1" dirty="0">
                <a:latin typeface="Baskerville" panose="02020502070401020303" pitchFamily="18" charset="0"/>
                <a:ea typeface="Baskerville" panose="02020502070401020303" pitchFamily="18" charset="0"/>
              </a:rPr>
              <a:t>qRT-PCR</a:t>
            </a:r>
          </a:p>
        </p:txBody>
      </p:sp>
      <p:pic>
        <p:nvPicPr>
          <p:cNvPr id="14" name="Picture 13">
            <a:extLst>
              <a:ext uri="{FF2B5EF4-FFF2-40B4-BE49-F238E27FC236}">
                <a16:creationId xmlns:a16="http://schemas.microsoft.com/office/drawing/2014/main" id="{9C2F4F0E-1B03-0FE1-DE3B-C5B85FD876AF}"/>
              </a:ext>
            </a:extLst>
          </p:cNvPr>
          <p:cNvPicPr>
            <a:picLocks noChangeAspect="1"/>
          </p:cNvPicPr>
          <p:nvPr/>
        </p:nvPicPr>
        <p:blipFill>
          <a:blip r:embed="rId3"/>
          <a:stretch>
            <a:fillRect/>
          </a:stretch>
        </p:blipFill>
        <p:spPr>
          <a:xfrm>
            <a:off x="262023" y="2143707"/>
            <a:ext cx="3688253" cy="1622744"/>
          </a:xfrm>
          <a:prstGeom prst="rect">
            <a:avLst/>
          </a:prstGeom>
        </p:spPr>
      </p:pic>
      <p:sp>
        <p:nvSpPr>
          <p:cNvPr id="2" name="TextBox 1">
            <a:extLst>
              <a:ext uri="{FF2B5EF4-FFF2-40B4-BE49-F238E27FC236}">
                <a16:creationId xmlns:a16="http://schemas.microsoft.com/office/drawing/2014/main" id="{EF24B18D-4755-F77B-BBFF-38EF1E0F0966}"/>
              </a:ext>
            </a:extLst>
          </p:cNvPr>
          <p:cNvSpPr txBox="1"/>
          <p:nvPr/>
        </p:nvSpPr>
        <p:spPr>
          <a:xfrm>
            <a:off x="4338904" y="2372553"/>
            <a:ext cx="5159659" cy="1200329"/>
          </a:xfrm>
          <a:prstGeom prst="rect">
            <a:avLst/>
          </a:prstGeom>
          <a:noFill/>
        </p:spPr>
        <p:txBody>
          <a:bodyPr wrap="square" rtlCol="0">
            <a:spAutoFit/>
          </a:bodyPr>
          <a:lstStyle/>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PCR</a:t>
            </a:r>
          </a:p>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Sensitive</a:t>
            </a:r>
          </a:p>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A small number of genes/transcripts</a:t>
            </a:r>
          </a:p>
        </p:txBody>
      </p:sp>
    </p:spTree>
    <p:extLst>
      <p:ext uri="{BB962C8B-B14F-4D97-AF65-F5344CB8AC3E}">
        <p14:creationId xmlns:p14="http://schemas.microsoft.com/office/powerpoint/2010/main" val="680145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BCB140-B3B1-DE67-A72C-9BFE975052CB}"/>
              </a:ext>
            </a:extLst>
          </p:cNvPr>
          <p:cNvGrpSpPr/>
          <p:nvPr/>
        </p:nvGrpSpPr>
        <p:grpSpPr>
          <a:xfrm>
            <a:off x="1919673" y="4860234"/>
            <a:ext cx="5584371" cy="394016"/>
            <a:chOff x="1959429" y="3429000"/>
            <a:chExt cx="5584371" cy="394016"/>
          </a:xfrm>
        </p:grpSpPr>
        <p:cxnSp>
          <p:nvCxnSpPr>
            <p:cNvPr id="6" name="Straight Arrow Connector 5">
              <a:extLst>
                <a:ext uri="{FF2B5EF4-FFF2-40B4-BE49-F238E27FC236}">
                  <a16:creationId xmlns:a16="http://schemas.microsoft.com/office/drawing/2014/main" id="{B079F1A2-C82E-9A29-9EFA-BDA9B313A234}"/>
                </a:ext>
              </a:extLst>
            </p:cNvPr>
            <p:cNvCxnSpPr/>
            <p:nvPr/>
          </p:nvCxnSpPr>
          <p:spPr>
            <a:xfrm>
              <a:off x="1959429" y="3635829"/>
              <a:ext cx="5584371" cy="0"/>
            </a:xfrm>
            <a:prstGeom prst="straightConnector1">
              <a:avLst/>
            </a:prstGeom>
            <a:ln w="63500">
              <a:tailEnd type="triangle"/>
            </a:ln>
          </p:spPr>
          <p:style>
            <a:lnRef idx="3">
              <a:schemeClr val="accent1"/>
            </a:lnRef>
            <a:fillRef idx="0">
              <a:schemeClr val="accent1"/>
            </a:fillRef>
            <a:effectRef idx="2">
              <a:schemeClr val="accent1"/>
            </a:effectRef>
            <a:fontRef idx="minor">
              <a:schemeClr val="tx1"/>
            </a:fontRef>
          </p:style>
        </p:cxnSp>
        <p:sp>
          <p:nvSpPr>
            <p:cNvPr id="7" name="Oval 6">
              <a:extLst>
                <a:ext uri="{FF2B5EF4-FFF2-40B4-BE49-F238E27FC236}">
                  <a16:creationId xmlns:a16="http://schemas.microsoft.com/office/drawing/2014/main" id="{0868A023-7C34-26C5-9FA2-45A9565468CE}"/>
                </a:ext>
              </a:extLst>
            </p:cNvPr>
            <p:cNvSpPr/>
            <p:nvPr/>
          </p:nvSpPr>
          <p:spPr>
            <a:xfrm>
              <a:off x="1959429" y="3429000"/>
              <a:ext cx="372954" cy="374374"/>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solidFill>
                  <a:schemeClr val="accent1"/>
                </a:solidFill>
              </a:endParaRPr>
            </a:p>
          </p:txBody>
        </p:sp>
        <p:sp>
          <p:nvSpPr>
            <p:cNvPr id="8" name="Oval 7">
              <a:extLst>
                <a:ext uri="{FF2B5EF4-FFF2-40B4-BE49-F238E27FC236}">
                  <a16:creationId xmlns:a16="http://schemas.microsoft.com/office/drawing/2014/main" id="{F074D4E9-93C1-AC7D-5FB7-F9443F473405}"/>
                </a:ext>
              </a:extLst>
            </p:cNvPr>
            <p:cNvSpPr/>
            <p:nvPr/>
          </p:nvSpPr>
          <p:spPr>
            <a:xfrm>
              <a:off x="3132246" y="3448642"/>
              <a:ext cx="372954" cy="374374"/>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Oval 8">
              <a:extLst>
                <a:ext uri="{FF2B5EF4-FFF2-40B4-BE49-F238E27FC236}">
                  <a16:creationId xmlns:a16="http://schemas.microsoft.com/office/drawing/2014/main" id="{62205BE9-6A41-EEE2-3B8E-8E54F2CC929F}"/>
                </a:ext>
              </a:extLst>
            </p:cNvPr>
            <p:cNvSpPr/>
            <p:nvPr/>
          </p:nvSpPr>
          <p:spPr>
            <a:xfrm>
              <a:off x="4378660" y="3429000"/>
              <a:ext cx="372954" cy="3743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Oval 9">
              <a:extLst>
                <a:ext uri="{FF2B5EF4-FFF2-40B4-BE49-F238E27FC236}">
                  <a16:creationId xmlns:a16="http://schemas.microsoft.com/office/drawing/2014/main" id="{7552F838-AB7D-D3A4-C8F6-068C0BF6FAC0}"/>
                </a:ext>
              </a:extLst>
            </p:cNvPr>
            <p:cNvSpPr/>
            <p:nvPr/>
          </p:nvSpPr>
          <p:spPr>
            <a:xfrm>
              <a:off x="5774753" y="3448642"/>
              <a:ext cx="372954" cy="3743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sp>
        <p:nvSpPr>
          <p:cNvPr id="2" name="TextBox 1">
            <a:extLst>
              <a:ext uri="{FF2B5EF4-FFF2-40B4-BE49-F238E27FC236}">
                <a16:creationId xmlns:a16="http://schemas.microsoft.com/office/drawing/2014/main" id="{DFD5DDA4-E229-EAF1-FB47-9C2CE32C6130}"/>
              </a:ext>
            </a:extLst>
          </p:cNvPr>
          <p:cNvSpPr txBox="1"/>
          <p:nvPr/>
        </p:nvSpPr>
        <p:spPr>
          <a:xfrm>
            <a:off x="2413996" y="1161727"/>
            <a:ext cx="1924908" cy="461665"/>
          </a:xfrm>
          <a:prstGeom prst="rect">
            <a:avLst/>
          </a:prstGeom>
          <a:noFill/>
        </p:spPr>
        <p:txBody>
          <a:bodyPr wrap="square" rtlCol="0">
            <a:spAutoFit/>
          </a:bodyPr>
          <a:lstStyle/>
          <a:p>
            <a:r>
              <a:rPr lang="en-SE" sz="2400" b="1" dirty="0">
                <a:latin typeface="Baskerville" panose="02020502070401020303" pitchFamily="18" charset="0"/>
                <a:ea typeface="Baskerville" panose="02020502070401020303" pitchFamily="18" charset="0"/>
              </a:rPr>
              <a:t>microarray</a:t>
            </a:r>
          </a:p>
        </p:txBody>
      </p:sp>
      <p:pic>
        <p:nvPicPr>
          <p:cNvPr id="4" name="Picture 3" descr="A blurry image of yellow dots&#10;&#10;Description automatically generated">
            <a:extLst>
              <a:ext uri="{FF2B5EF4-FFF2-40B4-BE49-F238E27FC236}">
                <a16:creationId xmlns:a16="http://schemas.microsoft.com/office/drawing/2014/main" id="{1ADB27AA-4717-9449-B31D-B460246E9431}"/>
              </a:ext>
            </a:extLst>
          </p:cNvPr>
          <p:cNvPicPr>
            <a:picLocks noChangeAspect="1"/>
          </p:cNvPicPr>
          <p:nvPr/>
        </p:nvPicPr>
        <p:blipFill>
          <a:blip r:embed="rId3"/>
          <a:stretch>
            <a:fillRect/>
          </a:stretch>
        </p:blipFill>
        <p:spPr>
          <a:xfrm>
            <a:off x="2126461" y="1748191"/>
            <a:ext cx="2585397" cy="2780416"/>
          </a:xfrm>
          <a:prstGeom prst="rect">
            <a:avLst/>
          </a:prstGeom>
        </p:spPr>
      </p:pic>
      <p:sp>
        <p:nvSpPr>
          <p:cNvPr id="5" name="TextBox 4">
            <a:extLst>
              <a:ext uri="{FF2B5EF4-FFF2-40B4-BE49-F238E27FC236}">
                <a16:creationId xmlns:a16="http://schemas.microsoft.com/office/drawing/2014/main" id="{77E24F99-B241-F1B7-46DB-51D22465D5B0}"/>
              </a:ext>
            </a:extLst>
          </p:cNvPr>
          <p:cNvSpPr txBox="1"/>
          <p:nvPr/>
        </p:nvSpPr>
        <p:spPr>
          <a:xfrm>
            <a:off x="2126461" y="4528607"/>
            <a:ext cx="1465825" cy="369332"/>
          </a:xfrm>
          <a:prstGeom prst="rect">
            <a:avLst/>
          </a:prstGeom>
          <a:noFill/>
        </p:spPr>
        <p:txBody>
          <a:bodyPr wrap="square" rtlCol="0">
            <a:spAutoFit/>
          </a:bodyPr>
          <a:lstStyle/>
          <a:p>
            <a:r>
              <a:rPr lang="en-SE" dirty="0"/>
              <a:t>wikipedia</a:t>
            </a:r>
          </a:p>
        </p:txBody>
      </p:sp>
      <p:sp>
        <p:nvSpPr>
          <p:cNvPr id="3" name="TextBox 2">
            <a:extLst>
              <a:ext uri="{FF2B5EF4-FFF2-40B4-BE49-F238E27FC236}">
                <a16:creationId xmlns:a16="http://schemas.microsoft.com/office/drawing/2014/main" id="{77B0CD6F-6232-2950-0810-FCF876598B9D}"/>
              </a:ext>
            </a:extLst>
          </p:cNvPr>
          <p:cNvSpPr txBox="1"/>
          <p:nvPr/>
        </p:nvSpPr>
        <p:spPr>
          <a:xfrm>
            <a:off x="5066692" y="1790937"/>
            <a:ext cx="6092720" cy="1569660"/>
          </a:xfrm>
          <a:prstGeom prst="rect">
            <a:avLst/>
          </a:prstGeom>
          <a:noFill/>
        </p:spPr>
        <p:txBody>
          <a:bodyPr wrap="square" rtlCol="0">
            <a:spAutoFit/>
          </a:bodyPr>
          <a:lstStyle/>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Hybridization based</a:t>
            </a:r>
          </a:p>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Genome wide survey of the </a:t>
            </a:r>
            <a:r>
              <a:rPr lang="en-SE" sz="2400" b="1" dirty="0">
                <a:solidFill>
                  <a:schemeClr val="accent5"/>
                </a:solidFill>
                <a:latin typeface="Times New Roman" panose="02020603050405020304" pitchFamily="18" charset="0"/>
                <a:cs typeface="Times New Roman" panose="02020603050405020304" pitchFamily="18" charset="0"/>
              </a:rPr>
              <a:t>transcriptome</a:t>
            </a:r>
          </a:p>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Only profile predefined transcripts/genes on the chip</a:t>
            </a:r>
          </a:p>
        </p:txBody>
      </p:sp>
      <p:sp>
        <p:nvSpPr>
          <p:cNvPr id="12" name="TextBox 11">
            <a:extLst>
              <a:ext uri="{FF2B5EF4-FFF2-40B4-BE49-F238E27FC236}">
                <a16:creationId xmlns:a16="http://schemas.microsoft.com/office/drawing/2014/main" id="{F6D3CB53-CA55-9356-E82C-4542DCC68220}"/>
              </a:ext>
            </a:extLst>
          </p:cNvPr>
          <p:cNvSpPr txBox="1"/>
          <p:nvPr/>
        </p:nvSpPr>
        <p:spPr>
          <a:xfrm>
            <a:off x="8346503" y="590608"/>
            <a:ext cx="3167743" cy="12003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GB" b="0" i="0" u="none" strike="noStrike" dirty="0">
                <a:solidFill>
                  <a:srgbClr val="202124"/>
                </a:solidFill>
                <a:effectLst/>
                <a:latin typeface="Google Sans"/>
              </a:rPr>
              <a:t>A </a:t>
            </a:r>
            <a:r>
              <a:rPr lang="en-GB" b="1" i="0" u="none" strike="noStrike" dirty="0">
                <a:solidFill>
                  <a:schemeClr val="accent5"/>
                </a:solidFill>
                <a:effectLst/>
                <a:latin typeface="Google Sans"/>
              </a:rPr>
              <a:t>transcriptome</a:t>
            </a:r>
            <a:r>
              <a:rPr lang="en-GB" b="0" i="0" u="none" strike="noStrike" dirty="0">
                <a:solidFill>
                  <a:srgbClr val="202124"/>
                </a:solidFill>
                <a:effectLst/>
                <a:latin typeface="Google Sans"/>
              </a:rPr>
              <a:t> is </a:t>
            </a:r>
            <a:r>
              <a:rPr lang="en-GB" b="0" i="0" u="none" strike="noStrike" dirty="0">
                <a:solidFill>
                  <a:srgbClr val="040C28"/>
                </a:solidFill>
                <a:effectLst/>
                <a:latin typeface="Google Sans"/>
              </a:rPr>
              <a:t>the full range of messenger RNA, or mRNA, molecules expressed by an organism</a:t>
            </a:r>
            <a:endParaRPr lang="en-SE" dirty="0"/>
          </a:p>
        </p:txBody>
      </p:sp>
      <p:sp>
        <p:nvSpPr>
          <p:cNvPr id="13" name="Up Arrow 12">
            <a:extLst>
              <a:ext uri="{FF2B5EF4-FFF2-40B4-BE49-F238E27FC236}">
                <a16:creationId xmlns:a16="http://schemas.microsoft.com/office/drawing/2014/main" id="{707011C8-D111-5EC4-FB38-F215B7C57A74}"/>
              </a:ext>
            </a:extLst>
          </p:cNvPr>
          <p:cNvSpPr/>
          <p:nvPr/>
        </p:nvSpPr>
        <p:spPr>
          <a:xfrm>
            <a:off x="9720942" y="1905000"/>
            <a:ext cx="130629" cy="326572"/>
          </a:xfrm>
          <a:prstGeom prst="up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3739579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BCB140-B3B1-DE67-A72C-9BFE975052CB}"/>
              </a:ext>
            </a:extLst>
          </p:cNvPr>
          <p:cNvGrpSpPr/>
          <p:nvPr/>
        </p:nvGrpSpPr>
        <p:grpSpPr>
          <a:xfrm>
            <a:off x="1919673" y="4860234"/>
            <a:ext cx="5584371" cy="394016"/>
            <a:chOff x="1959429" y="3429000"/>
            <a:chExt cx="5584371" cy="394016"/>
          </a:xfrm>
          <a:solidFill>
            <a:schemeClr val="accent1"/>
          </a:solidFill>
        </p:grpSpPr>
        <p:cxnSp>
          <p:nvCxnSpPr>
            <p:cNvPr id="6" name="Straight Arrow Connector 5">
              <a:extLst>
                <a:ext uri="{FF2B5EF4-FFF2-40B4-BE49-F238E27FC236}">
                  <a16:creationId xmlns:a16="http://schemas.microsoft.com/office/drawing/2014/main" id="{B079F1A2-C82E-9A29-9EFA-BDA9B313A234}"/>
                </a:ext>
              </a:extLst>
            </p:cNvPr>
            <p:cNvCxnSpPr/>
            <p:nvPr/>
          </p:nvCxnSpPr>
          <p:spPr>
            <a:xfrm>
              <a:off x="1959429" y="3635829"/>
              <a:ext cx="5584371" cy="0"/>
            </a:xfrm>
            <a:prstGeom prst="straightConnector1">
              <a:avLst/>
            </a:prstGeom>
            <a:grpFill/>
            <a:ln w="63500">
              <a:tailEnd type="triangle"/>
            </a:ln>
          </p:spPr>
          <p:style>
            <a:lnRef idx="3">
              <a:schemeClr val="accent1"/>
            </a:lnRef>
            <a:fillRef idx="0">
              <a:schemeClr val="accent1"/>
            </a:fillRef>
            <a:effectRef idx="2">
              <a:schemeClr val="accent1"/>
            </a:effectRef>
            <a:fontRef idx="minor">
              <a:schemeClr val="tx1"/>
            </a:fontRef>
          </p:style>
        </p:cxnSp>
        <p:sp>
          <p:nvSpPr>
            <p:cNvPr id="7" name="Oval 6">
              <a:extLst>
                <a:ext uri="{FF2B5EF4-FFF2-40B4-BE49-F238E27FC236}">
                  <a16:creationId xmlns:a16="http://schemas.microsoft.com/office/drawing/2014/main" id="{0868A023-7C34-26C5-9FA2-45A9565468CE}"/>
                </a:ext>
              </a:extLst>
            </p:cNvPr>
            <p:cNvSpPr/>
            <p:nvPr/>
          </p:nvSpPr>
          <p:spPr>
            <a:xfrm>
              <a:off x="1959429" y="3429000"/>
              <a:ext cx="372954" cy="374374"/>
            </a:xfrm>
            <a:prstGeom prst="ellipse">
              <a:avLst/>
            </a:prstGeom>
            <a:grp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solidFill>
                  <a:schemeClr val="accent1"/>
                </a:solidFill>
              </a:endParaRPr>
            </a:p>
          </p:txBody>
        </p:sp>
        <p:sp>
          <p:nvSpPr>
            <p:cNvPr id="8" name="Oval 7">
              <a:extLst>
                <a:ext uri="{FF2B5EF4-FFF2-40B4-BE49-F238E27FC236}">
                  <a16:creationId xmlns:a16="http://schemas.microsoft.com/office/drawing/2014/main" id="{F074D4E9-93C1-AC7D-5FB7-F9443F473405}"/>
                </a:ext>
              </a:extLst>
            </p:cNvPr>
            <p:cNvSpPr/>
            <p:nvPr/>
          </p:nvSpPr>
          <p:spPr>
            <a:xfrm>
              <a:off x="3132246" y="3448642"/>
              <a:ext cx="372954" cy="374374"/>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Oval 8">
              <a:extLst>
                <a:ext uri="{FF2B5EF4-FFF2-40B4-BE49-F238E27FC236}">
                  <a16:creationId xmlns:a16="http://schemas.microsoft.com/office/drawing/2014/main" id="{62205BE9-6A41-EEE2-3B8E-8E54F2CC929F}"/>
                </a:ext>
              </a:extLst>
            </p:cNvPr>
            <p:cNvSpPr/>
            <p:nvPr/>
          </p:nvSpPr>
          <p:spPr>
            <a:xfrm>
              <a:off x="4378660" y="3429000"/>
              <a:ext cx="372954" cy="374374"/>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Oval 9">
              <a:extLst>
                <a:ext uri="{FF2B5EF4-FFF2-40B4-BE49-F238E27FC236}">
                  <a16:creationId xmlns:a16="http://schemas.microsoft.com/office/drawing/2014/main" id="{7552F838-AB7D-D3A4-C8F6-068C0BF6FAC0}"/>
                </a:ext>
              </a:extLst>
            </p:cNvPr>
            <p:cNvSpPr/>
            <p:nvPr/>
          </p:nvSpPr>
          <p:spPr>
            <a:xfrm>
              <a:off x="5774753" y="3448642"/>
              <a:ext cx="372954" cy="374374"/>
            </a:xfrm>
            <a:prstGeom prst="ellips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sp>
        <p:nvSpPr>
          <p:cNvPr id="2" name="TextBox 1">
            <a:extLst>
              <a:ext uri="{FF2B5EF4-FFF2-40B4-BE49-F238E27FC236}">
                <a16:creationId xmlns:a16="http://schemas.microsoft.com/office/drawing/2014/main" id="{DFD5DDA4-E229-EAF1-FB47-9C2CE32C6130}"/>
              </a:ext>
            </a:extLst>
          </p:cNvPr>
          <p:cNvSpPr txBox="1"/>
          <p:nvPr/>
        </p:nvSpPr>
        <p:spPr>
          <a:xfrm>
            <a:off x="3562927" y="1161727"/>
            <a:ext cx="2172070" cy="461665"/>
          </a:xfrm>
          <a:prstGeom prst="rect">
            <a:avLst/>
          </a:prstGeom>
          <a:noFill/>
        </p:spPr>
        <p:txBody>
          <a:bodyPr wrap="square" rtlCol="0">
            <a:spAutoFit/>
          </a:bodyPr>
          <a:lstStyle/>
          <a:p>
            <a:r>
              <a:rPr lang="en-GB" sz="2400" b="1" dirty="0">
                <a:latin typeface="Baskerville" panose="02020502070401020303" pitchFamily="18" charset="0"/>
                <a:ea typeface="Baskerville" panose="02020502070401020303" pitchFamily="18" charset="0"/>
              </a:rPr>
              <a:t>B</a:t>
            </a:r>
            <a:r>
              <a:rPr lang="en-SE" sz="2400" b="1" dirty="0">
                <a:latin typeface="Baskerville" panose="02020502070401020303" pitchFamily="18" charset="0"/>
                <a:ea typeface="Baskerville" panose="02020502070401020303" pitchFamily="18" charset="0"/>
              </a:rPr>
              <a:t>ulk RNAseq</a:t>
            </a:r>
          </a:p>
        </p:txBody>
      </p:sp>
      <p:pic>
        <p:nvPicPr>
          <p:cNvPr id="3" name="Picture 2">
            <a:extLst>
              <a:ext uri="{FF2B5EF4-FFF2-40B4-BE49-F238E27FC236}">
                <a16:creationId xmlns:a16="http://schemas.microsoft.com/office/drawing/2014/main" id="{A9011A86-EF28-AC71-4966-F31C0E5A8809}"/>
              </a:ext>
            </a:extLst>
          </p:cNvPr>
          <p:cNvPicPr>
            <a:picLocks noChangeAspect="1"/>
          </p:cNvPicPr>
          <p:nvPr/>
        </p:nvPicPr>
        <p:blipFill>
          <a:blip r:embed="rId3"/>
          <a:stretch>
            <a:fillRect/>
          </a:stretch>
        </p:blipFill>
        <p:spPr>
          <a:xfrm>
            <a:off x="3143460" y="1915182"/>
            <a:ext cx="2691584" cy="2591499"/>
          </a:xfrm>
          <a:prstGeom prst="rect">
            <a:avLst/>
          </a:prstGeom>
        </p:spPr>
      </p:pic>
      <p:sp>
        <p:nvSpPr>
          <p:cNvPr id="4" name="TextBox 3">
            <a:extLst>
              <a:ext uri="{FF2B5EF4-FFF2-40B4-BE49-F238E27FC236}">
                <a16:creationId xmlns:a16="http://schemas.microsoft.com/office/drawing/2014/main" id="{10BC9E22-2A8C-A71C-CEAF-8DC4D4A2AD55}"/>
              </a:ext>
            </a:extLst>
          </p:cNvPr>
          <p:cNvSpPr txBox="1"/>
          <p:nvPr/>
        </p:nvSpPr>
        <p:spPr>
          <a:xfrm>
            <a:off x="6096000" y="1996819"/>
            <a:ext cx="6092720" cy="461665"/>
          </a:xfrm>
          <a:prstGeom prst="rect">
            <a:avLst/>
          </a:prstGeom>
          <a:noFill/>
        </p:spPr>
        <p:txBody>
          <a:bodyPr wrap="square" rtlCol="0">
            <a:spAutoFit/>
          </a:bodyPr>
          <a:lstStyle/>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Full sequencing of the whole </a:t>
            </a:r>
            <a:r>
              <a:rPr lang="en-SE" sz="2400" b="1" dirty="0">
                <a:solidFill>
                  <a:schemeClr val="accent5"/>
                </a:solidFill>
                <a:latin typeface="Times New Roman" panose="02020603050405020304" pitchFamily="18" charset="0"/>
                <a:cs typeface="Times New Roman" panose="02020603050405020304" pitchFamily="18" charset="0"/>
              </a:rPr>
              <a:t>transcriptome</a:t>
            </a:r>
          </a:p>
        </p:txBody>
      </p:sp>
      <p:sp>
        <p:nvSpPr>
          <p:cNvPr id="5" name="TextBox 4">
            <a:extLst>
              <a:ext uri="{FF2B5EF4-FFF2-40B4-BE49-F238E27FC236}">
                <a16:creationId xmlns:a16="http://schemas.microsoft.com/office/drawing/2014/main" id="{286F5A6D-50A2-E63A-D8D5-77BCB0819624}"/>
              </a:ext>
            </a:extLst>
          </p:cNvPr>
          <p:cNvSpPr txBox="1"/>
          <p:nvPr/>
        </p:nvSpPr>
        <p:spPr>
          <a:xfrm>
            <a:off x="8346503" y="547064"/>
            <a:ext cx="3167743" cy="12003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GB" b="0" i="0" u="none" strike="noStrike" dirty="0">
                <a:solidFill>
                  <a:srgbClr val="202124"/>
                </a:solidFill>
                <a:effectLst/>
                <a:latin typeface="Google Sans"/>
              </a:rPr>
              <a:t>A </a:t>
            </a:r>
            <a:r>
              <a:rPr lang="en-GB" b="1" i="0" u="none" strike="noStrike" dirty="0">
                <a:solidFill>
                  <a:schemeClr val="accent5"/>
                </a:solidFill>
                <a:effectLst/>
                <a:latin typeface="Google Sans"/>
              </a:rPr>
              <a:t>transcriptome</a:t>
            </a:r>
            <a:r>
              <a:rPr lang="en-GB" b="0" i="0" u="none" strike="noStrike" dirty="0">
                <a:solidFill>
                  <a:srgbClr val="202124"/>
                </a:solidFill>
                <a:effectLst/>
                <a:latin typeface="Google Sans"/>
              </a:rPr>
              <a:t> is </a:t>
            </a:r>
            <a:r>
              <a:rPr lang="en-GB" b="0" i="0" u="none" strike="noStrike" dirty="0">
                <a:solidFill>
                  <a:srgbClr val="040C28"/>
                </a:solidFill>
                <a:effectLst/>
                <a:latin typeface="Google Sans"/>
              </a:rPr>
              <a:t>the full range of messenger RNA, or mRNA, molecules expressed by an organism</a:t>
            </a:r>
            <a:endParaRPr lang="en-SE" dirty="0"/>
          </a:p>
        </p:txBody>
      </p:sp>
      <p:sp>
        <p:nvSpPr>
          <p:cNvPr id="12" name="Up Arrow 11">
            <a:extLst>
              <a:ext uri="{FF2B5EF4-FFF2-40B4-BE49-F238E27FC236}">
                <a16:creationId xmlns:a16="http://schemas.microsoft.com/office/drawing/2014/main" id="{8B212596-F29D-B052-7804-E2A426D3EEAE}"/>
              </a:ext>
            </a:extLst>
          </p:cNvPr>
          <p:cNvSpPr/>
          <p:nvPr/>
        </p:nvSpPr>
        <p:spPr>
          <a:xfrm>
            <a:off x="10940142" y="1789989"/>
            <a:ext cx="130629" cy="326572"/>
          </a:xfrm>
          <a:prstGeom prst="up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2051266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F8704-F174-8B04-56D2-8ABB53B98508}"/>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572F9C1D-DFCC-E99E-5CE2-542A4C34D1BE}"/>
              </a:ext>
            </a:extLst>
          </p:cNvPr>
          <p:cNvGrpSpPr/>
          <p:nvPr/>
        </p:nvGrpSpPr>
        <p:grpSpPr>
          <a:xfrm>
            <a:off x="1919673" y="4860234"/>
            <a:ext cx="5584371" cy="394016"/>
            <a:chOff x="1959429" y="3429000"/>
            <a:chExt cx="5584371" cy="394016"/>
          </a:xfrm>
        </p:grpSpPr>
        <p:cxnSp>
          <p:nvCxnSpPr>
            <p:cNvPr id="6" name="Straight Arrow Connector 5">
              <a:extLst>
                <a:ext uri="{FF2B5EF4-FFF2-40B4-BE49-F238E27FC236}">
                  <a16:creationId xmlns:a16="http://schemas.microsoft.com/office/drawing/2014/main" id="{E73F4056-4CBC-95E9-A50F-8B835E570178}"/>
                </a:ext>
              </a:extLst>
            </p:cNvPr>
            <p:cNvCxnSpPr/>
            <p:nvPr/>
          </p:nvCxnSpPr>
          <p:spPr>
            <a:xfrm>
              <a:off x="1959429" y="3635829"/>
              <a:ext cx="5584371" cy="0"/>
            </a:xfrm>
            <a:prstGeom prst="straightConnector1">
              <a:avLst/>
            </a:prstGeom>
            <a:ln w="63500">
              <a:tailEnd type="triangle"/>
            </a:ln>
          </p:spPr>
          <p:style>
            <a:lnRef idx="3">
              <a:schemeClr val="accent1"/>
            </a:lnRef>
            <a:fillRef idx="0">
              <a:schemeClr val="accent1"/>
            </a:fillRef>
            <a:effectRef idx="2">
              <a:schemeClr val="accent1"/>
            </a:effectRef>
            <a:fontRef idx="minor">
              <a:schemeClr val="tx1"/>
            </a:fontRef>
          </p:style>
        </p:cxnSp>
        <p:sp>
          <p:nvSpPr>
            <p:cNvPr id="7" name="Oval 6">
              <a:extLst>
                <a:ext uri="{FF2B5EF4-FFF2-40B4-BE49-F238E27FC236}">
                  <a16:creationId xmlns:a16="http://schemas.microsoft.com/office/drawing/2014/main" id="{29E9D6D8-F371-504F-AA8D-C2060B367181}"/>
                </a:ext>
              </a:extLst>
            </p:cNvPr>
            <p:cNvSpPr/>
            <p:nvPr/>
          </p:nvSpPr>
          <p:spPr>
            <a:xfrm>
              <a:off x="1959429" y="3429000"/>
              <a:ext cx="372954" cy="374374"/>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solidFill>
                  <a:schemeClr val="accent1"/>
                </a:solidFill>
              </a:endParaRPr>
            </a:p>
          </p:txBody>
        </p:sp>
        <p:sp>
          <p:nvSpPr>
            <p:cNvPr id="8" name="Oval 7">
              <a:extLst>
                <a:ext uri="{FF2B5EF4-FFF2-40B4-BE49-F238E27FC236}">
                  <a16:creationId xmlns:a16="http://schemas.microsoft.com/office/drawing/2014/main" id="{81382F6D-86BF-D3C0-07E3-BDBD47C04D0F}"/>
                </a:ext>
              </a:extLst>
            </p:cNvPr>
            <p:cNvSpPr/>
            <p:nvPr/>
          </p:nvSpPr>
          <p:spPr>
            <a:xfrm>
              <a:off x="3132246" y="3448642"/>
              <a:ext cx="372954" cy="374374"/>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Oval 8">
              <a:extLst>
                <a:ext uri="{FF2B5EF4-FFF2-40B4-BE49-F238E27FC236}">
                  <a16:creationId xmlns:a16="http://schemas.microsoft.com/office/drawing/2014/main" id="{2B43B36E-28E2-F055-B855-0DB101E8518A}"/>
                </a:ext>
              </a:extLst>
            </p:cNvPr>
            <p:cNvSpPr/>
            <p:nvPr/>
          </p:nvSpPr>
          <p:spPr>
            <a:xfrm>
              <a:off x="4378660" y="3429000"/>
              <a:ext cx="372954" cy="3743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Oval 9">
              <a:extLst>
                <a:ext uri="{FF2B5EF4-FFF2-40B4-BE49-F238E27FC236}">
                  <a16:creationId xmlns:a16="http://schemas.microsoft.com/office/drawing/2014/main" id="{A7904E5B-2B35-EB2A-218E-9192CEBEAF58}"/>
                </a:ext>
              </a:extLst>
            </p:cNvPr>
            <p:cNvSpPr/>
            <p:nvPr/>
          </p:nvSpPr>
          <p:spPr>
            <a:xfrm>
              <a:off x="5774753" y="3448642"/>
              <a:ext cx="372954" cy="374374"/>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sp>
        <p:nvSpPr>
          <p:cNvPr id="2" name="TextBox 1">
            <a:extLst>
              <a:ext uri="{FF2B5EF4-FFF2-40B4-BE49-F238E27FC236}">
                <a16:creationId xmlns:a16="http://schemas.microsoft.com/office/drawing/2014/main" id="{E9F4CAD4-F33C-EF38-6182-FAE328A63A5A}"/>
              </a:ext>
            </a:extLst>
          </p:cNvPr>
          <p:cNvSpPr txBox="1"/>
          <p:nvPr/>
        </p:nvSpPr>
        <p:spPr>
          <a:xfrm>
            <a:off x="5133546" y="1329272"/>
            <a:ext cx="1924908" cy="461665"/>
          </a:xfrm>
          <a:prstGeom prst="rect">
            <a:avLst/>
          </a:prstGeom>
          <a:noFill/>
        </p:spPr>
        <p:txBody>
          <a:bodyPr wrap="square" rtlCol="0">
            <a:spAutoFit/>
          </a:bodyPr>
          <a:lstStyle/>
          <a:p>
            <a:r>
              <a:rPr lang="en-SE" sz="2400" b="1" dirty="0">
                <a:latin typeface="Baskerville" panose="02020502070401020303" pitchFamily="18" charset="0"/>
                <a:ea typeface="Baskerville" panose="02020502070401020303" pitchFamily="18" charset="0"/>
              </a:rPr>
              <a:t>scRNAseq</a:t>
            </a:r>
          </a:p>
        </p:txBody>
      </p:sp>
      <p:pic>
        <p:nvPicPr>
          <p:cNvPr id="3" name="Picture 2">
            <a:extLst>
              <a:ext uri="{FF2B5EF4-FFF2-40B4-BE49-F238E27FC236}">
                <a16:creationId xmlns:a16="http://schemas.microsoft.com/office/drawing/2014/main" id="{92569607-9D4E-6930-62C3-5BAE09800749}"/>
              </a:ext>
            </a:extLst>
          </p:cNvPr>
          <p:cNvPicPr>
            <a:picLocks noChangeAspect="1"/>
          </p:cNvPicPr>
          <p:nvPr/>
        </p:nvPicPr>
        <p:blipFill rotWithShape="1">
          <a:blip r:embed="rId3"/>
          <a:srcRect t="7395" r="1322"/>
          <a:stretch/>
        </p:blipFill>
        <p:spPr>
          <a:xfrm>
            <a:off x="4536720" y="1969661"/>
            <a:ext cx="2967324" cy="2523949"/>
          </a:xfrm>
          <a:prstGeom prst="rect">
            <a:avLst/>
          </a:prstGeom>
        </p:spPr>
      </p:pic>
      <p:sp>
        <p:nvSpPr>
          <p:cNvPr id="4" name="TextBox 3">
            <a:extLst>
              <a:ext uri="{FF2B5EF4-FFF2-40B4-BE49-F238E27FC236}">
                <a16:creationId xmlns:a16="http://schemas.microsoft.com/office/drawing/2014/main" id="{B4460892-1BED-75C7-FB63-3478F15D5BC2}"/>
              </a:ext>
            </a:extLst>
          </p:cNvPr>
          <p:cNvSpPr txBox="1"/>
          <p:nvPr/>
        </p:nvSpPr>
        <p:spPr>
          <a:xfrm>
            <a:off x="5639384" y="5344062"/>
            <a:ext cx="696104" cy="369332"/>
          </a:xfrm>
          <a:prstGeom prst="rect">
            <a:avLst/>
          </a:prstGeom>
          <a:noFill/>
        </p:spPr>
        <p:txBody>
          <a:bodyPr wrap="square" rtlCol="0">
            <a:spAutoFit/>
          </a:bodyPr>
          <a:lstStyle/>
          <a:p>
            <a:r>
              <a:rPr lang="en-SE" dirty="0"/>
              <a:t>2009</a:t>
            </a:r>
          </a:p>
        </p:txBody>
      </p:sp>
      <p:sp>
        <p:nvSpPr>
          <p:cNvPr id="5" name="TextBox 4">
            <a:extLst>
              <a:ext uri="{FF2B5EF4-FFF2-40B4-BE49-F238E27FC236}">
                <a16:creationId xmlns:a16="http://schemas.microsoft.com/office/drawing/2014/main" id="{FCCFD53E-FE32-4AA1-9A00-477E68D65D46}"/>
              </a:ext>
            </a:extLst>
          </p:cNvPr>
          <p:cNvSpPr txBox="1"/>
          <p:nvPr/>
        </p:nvSpPr>
        <p:spPr>
          <a:xfrm>
            <a:off x="7858608" y="2060159"/>
            <a:ext cx="3748674" cy="1569660"/>
          </a:xfrm>
          <a:prstGeom prst="rect">
            <a:avLst/>
          </a:prstGeom>
          <a:noFill/>
        </p:spPr>
        <p:txBody>
          <a:bodyPr wrap="square" rtlCol="0">
            <a:spAutoFit/>
          </a:bodyPr>
          <a:lstStyle/>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Sequencing</a:t>
            </a:r>
          </a:p>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Genome wide survey of the </a:t>
            </a:r>
            <a:r>
              <a:rPr lang="en-SE" sz="2400" b="1" dirty="0">
                <a:solidFill>
                  <a:schemeClr val="accent5"/>
                </a:solidFill>
                <a:latin typeface="Times New Roman" panose="02020603050405020304" pitchFamily="18" charset="0"/>
                <a:cs typeface="Times New Roman" panose="02020603050405020304" pitchFamily="18" charset="0"/>
              </a:rPr>
              <a:t>transcriptome</a:t>
            </a:r>
          </a:p>
          <a:p>
            <a:pPr marL="285750" indent="-28575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I</a:t>
            </a:r>
            <a:r>
              <a:rPr lang="en-SE" sz="2400" dirty="0">
                <a:latin typeface="Times New Roman" panose="02020603050405020304" pitchFamily="18" charset="0"/>
                <a:cs typeface="Times New Roman" panose="02020603050405020304" pitchFamily="18" charset="0"/>
              </a:rPr>
              <a:t>ndividual cells</a:t>
            </a:r>
          </a:p>
        </p:txBody>
      </p:sp>
      <p:sp>
        <p:nvSpPr>
          <p:cNvPr id="12" name="TextBox 11">
            <a:extLst>
              <a:ext uri="{FF2B5EF4-FFF2-40B4-BE49-F238E27FC236}">
                <a16:creationId xmlns:a16="http://schemas.microsoft.com/office/drawing/2014/main" id="{4ADDF607-E6FA-5CDB-D2D1-EEC8E4723B66}"/>
              </a:ext>
            </a:extLst>
          </p:cNvPr>
          <p:cNvSpPr txBox="1"/>
          <p:nvPr/>
        </p:nvSpPr>
        <p:spPr>
          <a:xfrm>
            <a:off x="8527183" y="3893445"/>
            <a:ext cx="3167743" cy="12003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GB" b="0" i="0" u="none" strike="noStrike" dirty="0">
                <a:solidFill>
                  <a:srgbClr val="202124"/>
                </a:solidFill>
                <a:effectLst/>
                <a:latin typeface="Google Sans"/>
              </a:rPr>
              <a:t>A </a:t>
            </a:r>
            <a:r>
              <a:rPr lang="en-GB" b="1" i="0" u="none" strike="noStrike" dirty="0">
                <a:solidFill>
                  <a:schemeClr val="accent5"/>
                </a:solidFill>
                <a:effectLst/>
                <a:latin typeface="Google Sans"/>
              </a:rPr>
              <a:t>transcriptome</a:t>
            </a:r>
            <a:r>
              <a:rPr lang="en-GB" b="0" i="0" u="none" strike="noStrike" dirty="0">
                <a:solidFill>
                  <a:srgbClr val="202124"/>
                </a:solidFill>
                <a:effectLst/>
                <a:latin typeface="Google Sans"/>
              </a:rPr>
              <a:t> is </a:t>
            </a:r>
            <a:r>
              <a:rPr lang="en-GB" b="0" i="0" u="none" strike="noStrike" dirty="0">
                <a:solidFill>
                  <a:srgbClr val="040C28"/>
                </a:solidFill>
                <a:effectLst/>
                <a:latin typeface="Google Sans"/>
              </a:rPr>
              <a:t>the full range of messenger RNA, or mRNA, molecules expressed by an organism</a:t>
            </a:r>
            <a:endParaRPr lang="en-SE" dirty="0"/>
          </a:p>
        </p:txBody>
      </p:sp>
      <p:sp>
        <p:nvSpPr>
          <p:cNvPr id="13" name="Up Arrow 12">
            <a:extLst>
              <a:ext uri="{FF2B5EF4-FFF2-40B4-BE49-F238E27FC236}">
                <a16:creationId xmlns:a16="http://schemas.microsoft.com/office/drawing/2014/main" id="{FE8BEFC7-0FBB-69A8-8FEC-7E195E04F9EB}"/>
              </a:ext>
            </a:extLst>
          </p:cNvPr>
          <p:cNvSpPr/>
          <p:nvPr/>
        </p:nvSpPr>
        <p:spPr>
          <a:xfrm rot="10800000">
            <a:off x="10276112" y="3239118"/>
            <a:ext cx="76201" cy="522514"/>
          </a:xfrm>
          <a:prstGeom prst="up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705298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ight Arrow 20">
            <a:extLst>
              <a:ext uri="{FF2B5EF4-FFF2-40B4-BE49-F238E27FC236}">
                <a16:creationId xmlns:a16="http://schemas.microsoft.com/office/drawing/2014/main" id="{0E88B6BB-DF89-C046-E565-1104C1EE6B23}"/>
              </a:ext>
            </a:extLst>
          </p:cNvPr>
          <p:cNvSpPr/>
          <p:nvPr/>
        </p:nvSpPr>
        <p:spPr>
          <a:xfrm>
            <a:off x="7059676" y="5053787"/>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2" name="Right Arrow 21">
            <a:extLst>
              <a:ext uri="{FF2B5EF4-FFF2-40B4-BE49-F238E27FC236}">
                <a16:creationId xmlns:a16="http://schemas.microsoft.com/office/drawing/2014/main" id="{05BA0FEA-039E-84F0-01E5-6AB21F1B5EBF}"/>
              </a:ext>
            </a:extLst>
          </p:cNvPr>
          <p:cNvSpPr/>
          <p:nvPr/>
        </p:nvSpPr>
        <p:spPr>
          <a:xfrm>
            <a:off x="7111337" y="1764117"/>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7" name="TextBox 26">
            <a:extLst>
              <a:ext uri="{FF2B5EF4-FFF2-40B4-BE49-F238E27FC236}">
                <a16:creationId xmlns:a16="http://schemas.microsoft.com/office/drawing/2014/main" id="{AA8176D7-16B2-FFFC-71C0-40D9691FC831}"/>
              </a:ext>
            </a:extLst>
          </p:cNvPr>
          <p:cNvSpPr txBox="1"/>
          <p:nvPr/>
        </p:nvSpPr>
        <p:spPr>
          <a:xfrm rot="19675473">
            <a:off x="1377612" y="1538856"/>
            <a:ext cx="1029046" cy="646331"/>
          </a:xfrm>
          <a:prstGeom prst="rect">
            <a:avLst/>
          </a:prstGeom>
          <a:solidFill>
            <a:srgbClr val="FFFF00"/>
          </a:solidFill>
        </p:spPr>
        <p:txBody>
          <a:bodyPr wrap="square" rtlCol="0">
            <a:spAutoFit/>
          </a:bodyPr>
          <a:lstStyle/>
          <a:p>
            <a:r>
              <a:rPr lang="en-SE" dirty="0">
                <a:latin typeface="Berlin Sans FB" panose="020E0602020502020306" pitchFamily="34" charset="77"/>
              </a:rPr>
              <a:t>Bulk</a:t>
            </a:r>
          </a:p>
          <a:p>
            <a:r>
              <a:rPr lang="en-SE" dirty="0">
                <a:latin typeface="Berlin Sans FB" panose="020E0602020502020306" pitchFamily="34" charset="77"/>
              </a:rPr>
              <a:t>RNAseq</a:t>
            </a:r>
          </a:p>
        </p:txBody>
      </p:sp>
      <p:sp>
        <p:nvSpPr>
          <p:cNvPr id="28" name="TextBox 27">
            <a:extLst>
              <a:ext uri="{FF2B5EF4-FFF2-40B4-BE49-F238E27FC236}">
                <a16:creationId xmlns:a16="http://schemas.microsoft.com/office/drawing/2014/main" id="{D96A6891-B20F-DBD7-C36A-E4DBEEDED1F8}"/>
              </a:ext>
            </a:extLst>
          </p:cNvPr>
          <p:cNvSpPr txBox="1"/>
          <p:nvPr/>
        </p:nvSpPr>
        <p:spPr>
          <a:xfrm rot="1906075">
            <a:off x="1191120" y="4730621"/>
            <a:ext cx="1155840" cy="646331"/>
          </a:xfrm>
          <a:prstGeom prst="rect">
            <a:avLst/>
          </a:prstGeom>
          <a:solidFill>
            <a:srgbClr val="FFFF00"/>
          </a:solidFill>
        </p:spPr>
        <p:txBody>
          <a:bodyPr wrap="square" rtlCol="0">
            <a:spAutoFit/>
          </a:bodyPr>
          <a:lstStyle/>
          <a:p>
            <a:r>
              <a:rPr lang="en-SE" dirty="0">
                <a:latin typeface="Berlin Sans FB" panose="020E0602020502020306" pitchFamily="34" charset="77"/>
              </a:rPr>
              <a:t>Single cell</a:t>
            </a:r>
          </a:p>
          <a:p>
            <a:r>
              <a:rPr lang="en-SE" dirty="0">
                <a:latin typeface="Berlin Sans FB" panose="020E0602020502020306" pitchFamily="34" charset="77"/>
              </a:rPr>
              <a:t>RNAseq</a:t>
            </a:r>
          </a:p>
        </p:txBody>
      </p:sp>
      <p:grpSp>
        <p:nvGrpSpPr>
          <p:cNvPr id="31" name="Group 30">
            <a:extLst>
              <a:ext uri="{FF2B5EF4-FFF2-40B4-BE49-F238E27FC236}">
                <a16:creationId xmlns:a16="http://schemas.microsoft.com/office/drawing/2014/main" id="{B3217339-B51F-ADF5-37DA-C2EB26A1A1C9}"/>
              </a:ext>
            </a:extLst>
          </p:cNvPr>
          <p:cNvGrpSpPr/>
          <p:nvPr/>
        </p:nvGrpSpPr>
        <p:grpSpPr>
          <a:xfrm>
            <a:off x="241747" y="731502"/>
            <a:ext cx="8979938" cy="6010657"/>
            <a:chOff x="241747" y="731502"/>
            <a:chExt cx="8979938" cy="6010657"/>
          </a:xfrm>
        </p:grpSpPr>
        <p:grpSp>
          <p:nvGrpSpPr>
            <p:cNvPr id="20" name="Group 19">
              <a:extLst>
                <a:ext uri="{FF2B5EF4-FFF2-40B4-BE49-F238E27FC236}">
                  <a16:creationId xmlns:a16="http://schemas.microsoft.com/office/drawing/2014/main" id="{1C5D53EF-4586-F463-794B-22F2E8DA17DE}"/>
                </a:ext>
              </a:extLst>
            </p:cNvPr>
            <p:cNvGrpSpPr/>
            <p:nvPr/>
          </p:nvGrpSpPr>
          <p:grpSpPr>
            <a:xfrm>
              <a:off x="241747" y="731502"/>
              <a:ext cx="8551439" cy="5786341"/>
              <a:chOff x="300725" y="1017113"/>
              <a:chExt cx="8551439" cy="5786341"/>
            </a:xfrm>
          </p:grpSpPr>
          <p:grpSp>
            <p:nvGrpSpPr>
              <p:cNvPr id="4" name="Group 3">
                <a:extLst>
                  <a:ext uri="{FF2B5EF4-FFF2-40B4-BE49-F238E27FC236}">
                    <a16:creationId xmlns:a16="http://schemas.microsoft.com/office/drawing/2014/main" id="{F094325D-A855-363F-2B5C-DD6586308E44}"/>
                  </a:ext>
                </a:extLst>
              </p:cNvPr>
              <p:cNvGrpSpPr/>
              <p:nvPr/>
            </p:nvGrpSpPr>
            <p:grpSpPr>
              <a:xfrm>
                <a:off x="300725" y="2859286"/>
                <a:ext cx="6150384" cy="3944168"/>
                <a:chOff x="-5025" y="4425851"/>
                <a:chExt cx="6150384" cy="3944168"/>
              </a:xfrm>
            </p:grpSpPr>
            <p:pic>
              <p:nvPicPr>
                <p:cNvPr id="5" name="Picture 4">
                  <a:extLst>
                    <a:ext uri="{FF2B5EF4-FFF2-40B4-BE49-F238E27FC236}">
                      <a16:creationId xmlns:a16="http://schemas.microsoft.com/office/drawing/2014/main" id="{8F03C1E3-257A-3474-2495-2EB16E418655}"/>
                    </a:ext>
                  </a:extLst>
                </p:cNvPr>
                <p:cNvPicPr>
                  <a:picLocks noChangeAspect="1"/>
                </p:cNvPicPr>
                <p:nvPr/>
              </p:nvPicPr>
              <p:blipFill>
                <a:blip r:embed="rId3"/>
                <a:stretch>
                  <a:fillRect/>
                </a:stretch>
              </p:blipFill>
              <p:spPr>
                <a:xfrm>
                  <a:off x="-5025" y="4425851"/>
                  <a:ext cx="1731624" cy="169742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a:extLst>
                    <a:ext uri="{FF2B5EF4-FFF2-40B4-BE49-F238E27FC236}">
                      <a16:creationId xmlns:a16="http://schemas.microsoft.com/office/drawing/2014/main" id="{97866F48-D753-7D1C-FBAC-593F65373479}"/>
                    </a:ext>
                  </a:extLst>
                </p:cNvPr>
                <p:cNvPicPr>
                  <a:picLocks noChangeAspect="1"/>
                </p:cNvPicPr>
                <p:nvPr/>
              </p:nvPicPr>
              <p:blipFill>
                <a:blip r:embed="rId4"/>
                <a:stretch>
                  <a:fillRect/>
                </a:stretch>
              </p:blipFill>
              <p:spPr>
                <a:xfrm>
                  <a:off x="2172344" y="6615892"/>
                  <a:ext cx="1600015" cy="163532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style>
                <a:lnRef idx="2">
                  <a:schemeClr val="accent5"/>
                </a:lnRef>
                <a:fillRef idx="1">
                  <a:schemeClr val="lt1"/>
                </a:fillRef>
                <a:effectRef idx="0">
                  <a:schemeClr val="accent5"/>
                </a:effectRef>
                <a:fontRef idx="minor">
                  <a:schemeClr val="dk1"/>
                </a:fontRef>
              </p:style>
            </p:pic>
            <p:pic>
              <p:nvPicPr>
                <p:cNvPr id="7" name="Picture 6">
                  <a:extLst>
                    <a:ext uri="{FF2B5EF4-FFF2-40B4-BE49-F238E27FC236}">
                      <a16:creationId xmlns:a16="http://schemas.microsoft.com/office/drawing/2014/main" id="{83881E19-0C19-0BA1-E9E8-7FD75BD15832}"/>
                    </a:ext>
                  </a:extLst>
                </p:cNvPr>
                <p:cNvPicPr>
                  <a:picLocks noChangeAspect="1"/>
                </p:cNvPicPr>
                <p:nvPr/>
              </p:nvPicPr>
              <p:blipFill>
                <a:blip r:embed="rId5"/>
                <a:stretch>
                  <a:fillRect/>
                </a:stretch>
              </p:blipFill>
              <p:spPr>
                <a:xfrm>
                  <a:off x="4585608" y="6801476"/>
                  <a:ext cx="1559751" cy="156854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Right Arrow 7">
                  <a:extLst>
                    <a:ext uri="{FF2B5EF4-FFF2-40B4-BE49-F238E27FC236}">
                      <a16:creationId xmlns:a16="http://schemas.microsoft.com/office/drawing/2014/main" id="{69D38CB4-A67B-2953-56AF-0417A73059F5}"/>
                    </a:ext>
                  </a:extLst>
                </p:cNvPr>
                <p:cNvSpPr/>
                <p:nvPr/>
              </p:nvSpPr>
              <p:spPr>
                <a:xfrm rot="1687738">
                  <a:off x="1797621" y="6336488"/>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9" name="Right Arrow 8">
                  <a:extLst>
                    <a:ext uri="{FF2B5EF4-FFF2-40B4-BE49-F238E27FC236}">
                      <a16:creationId xmlns:a16="http://schemas.microsoft.com/office/drawing/2014/main" id="{360322D7-C848-13EF-1C1E-726463F0B863}"/>
                    </a:ext>
                  </a:extLst>
                </p:cNvPr>
                <p:cNvSpPr/>
                <p:nvPr/>
              </p:nvSpPr>
              <p:spPr>
                <a:xfrm>
                  <a:off x="4060985" y="6911900"/>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pic>
            <p:nvPicPr>
              <p:cNvPr id="10" name="Picture 9">
                <a:extLst>
                  <a:ext uri="{FF2B5EF4-FFF2-40B4-BE49-F238E27FC236}">
                    <a16:creationId xmlns:a16="http://schemas.microsoft.com/office/drawing/2014/main" id="{04CB5667-1A50-63FF-85F4-41863AE75B8C}"/>
                  </a:ext>
                </a:extLst>
              </p:cNvPr>
              <p:cNvPicPr>
                <a:picLocks noChangeAspect="1"/>
              </p:cNvPicPr>
              <p:nvPr/>
            </p:nvPicPr>
            <p:blipFill rotWithShape="1">
              <a:blip r:embed="rId6"/>
              <a:srcRect l="70333" t="3535" r="3117" b="73870"/>
              <a:stretch/>
            </p:blipFill>
            <p:spPr>
              <a:xfrm>
                <a:off x="8242564" y="3489737"/>
                <a:ext cx="609600" cy="548189"/>
              </a:xfrm>
              <a:prstGeom prst="rect">
                <a:avLst/>
              </a:prstGeom>
            </p:spPr>
          </p:pic>
          <p:pic>
            <p:nvPicPr>
              <p:cNvPr id="12" name="Picture 11">
                <a:extLst>
                  <a:ext uri="{FF2B5EF4-FFF2-40B4-BE49-F238E27FC236}">
                    <a16:creationId xmlns:a16="http://schemas.microsoft.com/office/drawing/2014/main" id="{D8C9806D-0902-2DBD-32E1-83B9D4001F38}"/>
                  </a:ext>
                </a:extLst>
              </p:cNvPr>
              <p:cNvPicPr>
                <a:picLocks noChangeAspect="1"/>
              </p:cNvPicPr>
              <p:nvPr/>
            </p:nvPicPr>
            <p:blipFill>
              <a:blip r:embed="rId5"/>
              <a:stretch>
                <a:fillRect/>
              </a:stretch>
            </p:blipFill>
            <p:spPr>
              <a:xfrm>
                <a:off x="4861664" y="1185470"/>
                <a:ext cx="1559751" cy="156854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5" name="Right Arrow 14">
                <a:extLst>
                  <a:ext uri="{FF2B5EF4-FFF2-40B4-BE49-F238E27FC236}">
                    <a16:creationId xmlns:a16="http://schemas.microsoft.com/office/drawing/2014/main" id="{E7C33A4C-9C84-E727-40DA-D339C9543A0D}"/>
                  </a:ext>
                </a:extLst>
              </p:cNvPr>
              <p:cNvSpPr/>
              <p:nvPr/>
            </p:nvSpPr>
            <p:spPr>
              <a:xfrm rot="19669732">
                <a:off x="2088406" y="2500708"/>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6" name="Right Arrow 15">
                <a:extLst>
                  <a:ext uri="{FF2B5EF4-FFF2-40B4-BE49-F238E27FC236}">
                    <a16:creationId xmlns:a16="http://schemas.microsoft.com/office/drawing/2014/main" id="{13EABD9B-3D22-9231-AD10-59B928E75BA1}"/>
                  </a:ext>
                </a:extLst>
              </p:cNvPr>
              <p:cNvSpPr/>
              <p:nvPr/>
            </p:nvSpPr>
            <p:spPr>
              <a:xfrm>
                <a:off x="4234214" y="2049728"/>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9" name="Picture 18">
                <a:extLst>
                  <a:ext uri="{FF2B5EF4-FFF2-40B4-BE49-F238E27FC236}">
                    <a16:creationId xmlns:a16="http://schemas.microsoft.com/office/drawing/2014/main" id="{07B5439F-158B-597E-32D7-5D5CD230C2A6}"/>
                  </a:ext>
                </a:extLst>
              </p:cNvPr>
              <p:cNvPicPr>
                <a:picLocks noChangeAspect="1"/>
              </p:cNvPicPr>
              <p:nvPr/>
            </p:nvPicPr>
            <p:blipFill>
              <a:blip r:embed="rId7"/>
              <a:stretch>
                <a:fillRect/>
              </a:stretch>
            </p:blipFill>
            <p:spPr>
              <a:xfrm flipH="1">
                <a:off x="2929179" y="1017113"/>
                <a:ext cx="507114" cy="1905259"/>
              </a:xfrm>
              <a:prstGeom prst="rect">
                <a:avLst/>
              </a:prstGeom>
            </p:spPr>
          </p:pic>
        </p:grpSp>
        <p:pic>
          <p:nvPicPr>
            <p:cNvPr id="29" name="Picture 28">
              <a:extLst>
                <a:ext uri="{FF2B5EF4-FFF2-40B4-BE49-F238E27FC236}">
                  <a16:creationId xmlns:a16="http://schemas.microsoft.com/office/drawing/2014/main" id="{3D86F00D-3F9F-439E-E16D-6E58872CA8EE}"/>
                </a:ext>
              </a:extLst>
            </p:cNvPr>
            <p:cNvPicPr>
              <a:picLocks noChangeAspect="1"/>
            </p:cNvPicPr>
            <p:nvPr/>
          </p:nvPicPr>
          <p:blipFill>
            <a:blip r:embed="rId8"/>
            <a:stretch>
              <a:fillRect/>
            </a:stretch>
          </p:blipFill>
          <p:spPr>
            <a:xfrm>
              <a:off x="7755086" y="3943160"/>
              <a:ext cx="1466599" cy="2798999"/>
            </a:xfrm>
            <a:prstGeom prst="rect">
              <a:avLst/>
            </a:prstGeom>
          </p:spPr>
        </p:pic>
        <p:pic>
          <p:nvPicPr>
            <p:cNvPr id="30" name="Picture 29">
              <a:extLst>
                <a:ext uri="{FF2B5EF4-FFF2-40B4-BE49-F238E27FC236}">
                  <a16:creationId xmlns:a16="http://schemas.microsoft.com/office/drawing/2014/main" id="{D08D7DE8-EFEE-B343-DD27-620A3FA59E82}"/>
                </a:ext>
              </a:extLst>
            </p:cNvPr>
            <p:cNvPicPr>
              <a:picLocks noChangeAspect="1"/>
            </p:cNvPicPr>
            <p:nvPr/>
          </p:nvPicPr>
          <p:blipFill>
            <a:blip r:embed="rId9"/>
            <a:stretch>
              <a:fillRect/>
            </a:stretch>
          </p:blipFill>
          <p:spPr>
            <a:xfrm>
              <a:off x="8071145" y="771887"/>
              <a:ext cx="722041" cy="2241394"/>
            </a:xfrm>
            <a:prstGeom prst="rect">
              <a:avLst/>
            </a:prstGeom>
          </p:spPr>
        </p:pic>
      </p:grpSp>
      <p:sp>
        <p:nvSpPr>
          <p:cNvPr id="2" name="TextBox 1">
            <a:extLst>
              <a:ext uri="{FF2B5EF4-FFF2-40B4-BE49-F238E27FC236}">
                <a16:creationId xmlns:a16="http://schemas.microsoft.com/office/drawing/2014/main" id="{7898ED55-0247-B4D0-2853-E8AB1A9D2C89}"/>
              </a:ext>
            </a:extLst>
          </p:cNvPr>
          <p:cNvSpPr txBox="1"/>
          <p:nvPr/>
        </p:nvSpPr>
        <p:spPr>
          <a:xfrm>
            <a:off x="8147347" y="2900385"/>
            <a:ext cx="967344" cy="307777"/>
          </a:xfrm>
          <a:prstGeom prst="rect">
            <a:avLst/>
          </a:prstGeom>
          <a:noFill/>
        </p:spPr>
        <p:txBody>
          <a:bodyPr wrap="square" rtlCol="0">
            <a:spAutoFit/>
          </a:bodyPr>
          <a:lstStyle/>
          <a:p>
            <a:r>
              <a:rPr lang="en-SE" sz="1400" b="1" dirty="0">
                <a:solidFill>
                  <a:srgbClr val="C00000"/>
                </a:solidFill>
              </a:rPr>
              <a:t>Sample</a:t>
            </a:r>
          </a:p>
        </p:txBody>
      </p:sp>
      <p:sp>
        <p:nvSpPr>
          <p:cNvPr id="3" name="TextBox 2">
            <a:extLst>
              <a:ext uri="{FF2B5EF4-FFF2-40B4-BE49-F238E27FC236}">
                <a16:creationId xmlns:a16="http://schemas.microsoft.com/office/drawing/2014/main" id="{5BA17A6D-1045-F0D7-5A3E-CA45B97123F9}"/>
              </a:ext>
            </a:extLst>
          </p:cNvPr>
          <p:cNvSpPr txBox="1"/>
          <p:nvPr/>
        </p:nvSpPr>
        <p:spPr>
          <a:xfrm>
            <a:off x="2525251" y="2675504"/>
            <a:ext cx="1519403" cy="307777"/>
          </a:xfrm>
          <a:prstGeom prst="rect">
            <a:avLst/>
          </a:prstGeom>
          <a:noFill/>
        </p:spPr>
        <p:txBody>
          <a:bodyPr wrap="square" rtlCol="0">
            <a:spAutoFit/>
          </a:bodyPr>
          <a:lstStyle/>
          <a:p>
            <a:r>
              <a:rPr lang="en-SE" sz="1400" b="1" dirty="0"/>
              <a:t>Unit: sample</a:t>
            </a:r>
          </a:p>
        </p:txBody>
      </p:sp>
      <p:sp>
        <p:nvSpPr>
          <p:cNvPr id="11" name="TextBox 10">
            <a:extLst>
              <a:ext uri="{FF2B5EF4-FFF2-40B4-BE49-F238E27FC236}">
                <a16:creationId xmlns:a16="http://schemas.microsoft.com/office/drawing/2014/main" id="{5E9A68DF-CF67-E49A-8137-2CEF95ABF93D}"/>
              </a:ext>
            </a:extLst>
          </p:cNvPr>
          <p:cNvSpPr txBox="1"/>
          <p:nvPr/>
        </p:nvSpPr>
        <p:spPr>
          <a:xfrm>
            <a:off x="2483121" y="6458932"/>
            <a:ext cx="1519403" cy="307777"/>
          </a:xfrm>
          <a:prstGeom prst="rect">
            <a:avLst/>
          </a:prstGeom>
          <a:noFill/>
        </p:spPr>
        <p:txBody>
          <a:bodyPr wrap="square" rtlCol="0">
            <a:spAutoFit/>
          </a:bodyPr>
          <a:lstStyle/>
          <a:p>
            <a:r>
              <a:rPr lang="en-SE" sz="1400" b="1" dirty="0"/>
              <a:t>Unit:  Ind. cells</a:t>
            </a:r>
          </a:p>
        </p:txBody>
      </p:sp>
      <p:sp>
        <p:nvSpPr>
          <p:cNvPr id="13" name="TextBox 12">
            <a:extLst>
              <a:ext uri="{FF2B5EF4-FFF2-40B4-BE49-F238E27FC236}">
                <a16:creationId xmlns:a16="http://schemas.microsoft.com/office/drawing/2014/main" id="{69BEC889-04E6-88C5-9BBD-96C9CB29EB7E}"/>
              </a:ext>
            </a:extLst>
          </p:cNvPr>
          <p:cNvSpPr txBox="1"/>
          <p:nvPr/>
        </p:nvSpPr>
        <p:spPr>
          <a:xfrm>
            <a:off x="8092918" y="6571996"/>
            <a:ext cx="1074338" cy="307777"/>
          </a:xfrm>
          <a:prstGeom prst="rect">
            <a:avLst/>
          </a:prstGeom>
          <a:solidFill>
            <a:schemeClr val="bg1"/>
          </a:solidFill>
        </p:spPr>
        <p:txBody>
          <a:bodyPr wrap="square" rtlCol="0">
            <a:spAutoFit/>
          </a:bodyPr>
          <a:lstStyle/>
          <a:p>
            <a:r>
              <a:rPr lang="en-SE" sz="1400" b="1" dirty="0">
                <a:solidFill>
                  <a:srgbClr val="C00000"/>
                </a:solidFill>
              </a:rPr>
              <a:t>Cell types</a:t>
            </a:r>
          </a:p>
        </p:txBody>
      </p:sp>
      <p:sp>
        <p:nvSpPr>
          <p:cNvPr id="14" name="TextBox 13">
            <a:extLst>
              <a:ext uri="{FF2B5EF4-FFF2-40B4-BE49-F238E27FC236}">
                <a16:creationId xmlns:a16="http://schemas.microsoft.com/office/drawing/2014/main" id="{7BDA50E6-92F2-11AB-C46D-C2213257650B}"/>
              </a:ext>
            </a:extLst>
          </p:cNvPr>
          <p:cNvSpPr txBox="1"/>
          <p:nvPr/>
        </p:nvSpPr>
        <p:spPr>
          <a:xfrm>
            <a:off x="290678" y="4246117"/>
            <a:ext cx="1449631" cy="461665"/>
          </a:xfrm>
          <a:prstGeom prst="rect">
            <a:avLst/>
          </a:prstGeom>
          <a:noFill/>
        </p:spPr>
        <p:txBody>
          <a:bodyPr wrap="square" rtlCol="0">
            <a:spAutoFit/>
          </a:bodyPr>
          <a:lstStyle/>
          <a:p>
            <a:r>
              <a:rPr lang="en-SE" sz="2400" b="1" dirty="0">
                <a:latin typeface="Times New Roman" panose="02020603050405020304" pitchFamily="18" charset="0"/>
                <a:cs typeface="Times New Roman" panose="02020603050405020304" pitchFamily="18" charset="0"/>
              </a:rPr>
              <a:t>Tissue</a:t>
            </a:r>
          </a:p>
        </p:txBody>
      </p:sp>
    </p:spTree>
    <p:extLst>
      <p:ext uri="{BB962C8B-B14F-4D97-AF65-F5344CB8AC3E}">
        <p14:creationId xmlns:p14="http://schemas.microsoft.com/office/powerpoint/2010/main" val="3561364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ight Arrow 20">
            <a:extLst>
              <a:ext uri="{FF2B5EF4-FFF2-40B4-BE49-F238E27FC236}">
                <a16:creationId xmlns:a16="http://schemas.microsoft.com/office/drawing/2014/main" id="{0E88B6BB-DF89-C046-E565-1104C1EE6B23}"/>
              </a:ext>
            </a:extLst>
          </p:cNvPr>
          <p:cNvSpPr/>
          <p:nvPr/>
        </p:nvSpPr>
        <p:spPr>
          <a:xfrm>
            <a:off x="6564376" y="5053787"/>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2" name="Right Arrow 21">
            <a:extLst>
              <a:ext uri="{FF2B5EF4-FFF2-40B4-BE49-F238E27FC236}">
                <a16:creationId xmlns:a16="http://schemas.microsoft.com/office/drawing/2014/main" id="{05BA0FEA-039E-84F0-01E5-6AB21F1B5EBF}"/>
              </a:ext>
            </a:extLst>
          </p:cNvPr>
          <p:cNvSpPr/>
          <p:nvPr/>
        </p:nvSpPr>
        <p:spPr>
          <a:xfrm>
            <a:off x="6999601" y="1764117"/>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nvGrpSpPr>
          <p:cNvPr id="3" name="Group 2">
            <a:extLst>
              <a:ext uri="{FF2B5EF4-FFF2-40B4-BE49-F238E27FC236}">
                <a16:creationId xmlns:a16="http://schemas.microsoft.com/office/drawing/2014/main" id="{D3B3E535-A0AF-D28D-AE3A-34E2A03B9196}"/>
              </a:ext>
            </a:extLst>
          </p:cNvPr>
          <p:cNvGrpSpPr/>
          <p:nvPr/>
        </p:nvGrpSpPr>
        <p:grpSpPr>
          <a:xfrm>
            <a:off x="241747" y="652220"/>
            <a:ext cx="11708506" cy="6056577"/>
            <a:chOff x="241747" y="652220"/>
            <a:chExt cx="11708506" cy="6056577"/>
          </a:xfrm>
        </p:grpSpPr>
        <p:grpSp>
          <p:nvGrpSpPr>
            <p:cNvPr id="20" name="Group 19">
              <a:extLst>
                <a:ext uri="{FF2B5EF4-FFF2-40B4-BE49-F238E27FC236}">
                  <a16:creationId xmlns:a16="http://schemas.microsoft.com/office/drawing/2014/main" id="{1C5D53EF-4586-F463-794B-22F2E8DA17DE}"/>
                </a:ext>
              </a:extLst>
            </p:cNvPr>
            <p:cNvGrpSpPr/>
            <p:nvPr/>
          </p:nvGrpSpPr>
          <p:grpSpPr>
            <a:xfrm>
              <a:off x="241747" y="652220"/>
              <a:ext cx="11708506" cy="6056577"/>
              <a:chOff x="300725" y="937831"/>
              <a:chExt cx="11708506" cy="6056577"/>
            </a:xfrm>
          </p:grpSpPr>
          <p:grpSp>
            <p:nvGrpSpPr>
              <p:cNvPr id="4" name="Group 3">
                <a:extLst>
                  <a:ext uri="{FF2B5EF4-FFF2-40B4-BE49-F238E27FC236}">
                    <a16:creationId xmlns:a16="http://schemas.microsoft.com/office/drawing/2014/main" id="{F094325D-A855-363F-2B5C-DD6586308E44}"/>
                  </a:ext>
                </a:extLst>
              </p:cNvPr>
              <p:cNvGrpSpPr/>
              <p:nvPr/>
            </p:nvGrpSpPr>
            <p:grpSpPr>
              <a:xfrm>
                <a:off x="300725" y="2859286"/>
                <a:ext cx="6150384" cy="3944168"/>
                <a:chOff x="-5025" y="4425851"/>
                <a:chExt cx="6150384" cy="3944168"/>
              </a:xfrm>
            </p:grpSpPr>
            <p:pic>
              <p:nvPicPr>
                <p:cNvPr id="5" name="Picture 4">
                  <a:extLst>
                    <a:ext uri="{FF2B5EF4-FFF2-40B4-BE49-F238E27FC236}">
                      <a16:creationId xmlns:a16="http://schemas.microsoft.com/office/drawing/2014/main" id="{8F03C1E3-257A-3474-2495-2EB16E418655}"/>
                    </a:ext>
                  </a:extLst>
                </p:cNvPr>
                <p:cNvPicPr>
                  <a:picLocks noChangeAspect="1"/>
                </p:cNvPicPr>
                <p:nvPr/>
              </p:nvPicPr>
              <p:blipFill>
                <a:blip r:embed="rId3"/>
                <a:stretch>
                  <a:fillRect/>
                </a:stretch>
              </p:blipFill>
              <p:spPr>
                <a:xfrm>
                  <a:off x="-5025" y="4425851"/>
                  <a:ext cx="1731624" cy="169742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a:extLst>
                    <a:ext uri="{FF2B5EF4-FFF2-40B4-BE49-F238E27FC236}">
                      <a16:creationId xmlns:a16="http://schemas.microsoft.com/office/drawing/2014/main" id="{97866F48-D753-7D1C-FBAC-593F65373479}"/>
                    </a:ext>
                  </a:extLst>
                </p:cNvPr>
                <p:cNvPicPr>
                  <a:picLocks noChangeAspect="1"/>
                </p:cNvPicPr>
                <p:nvPr/>
              </p:nvPicPr>
              <p:blipFill>
                <a:blip r:embed="rId4"/>
                <a:stretch>
                  <a:fillRect/>
                </a:stretch>
              </p:blipFill>
              <p:spPr>
                <a:xfrm>
                  <a:off x="2172344" y="6615892"/>
                  <a:ext cx="1600015" cy="163532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style>
                <a:lnRef idx="2">
                  <a:schemeClr val="accent5"/>
                </a:lnRef>
                <a:fillRef idx="1">
                  <a:schemeClr val="lt1"/>
                </a:fillRef>
                <a:effectRef idx="0">
                  <a:schemeClr val="accent5"/>
                </a:effectRef>
                <a:fontRef idx="minor">
                  <a:schemeClr val="dk1"/>
                </a:fontRef>
              </p:style>
            </p:pic>
            <p:pic>
              <p:nvPicPr>
                <p:cNvPr id="7" name="Picture 6">
                  <a:extLst>
                    <a:ext uri="{FF2B5EF4-FFF2-40B4-BE49-F238E27FC236}">
                      <a16:creationId xmlns:a16="http://schemas.microsoft.com/office/drawing/2014/main" id="{83881E19-0C19-0BA1-E9E8-7FD75BD15832}"/>
                    </a:ext>
                  </a:extLst>
                </p:cNvPr>
                <p:cNvPicPr>
                  <a:picLocks noChangeAspect="1"/>
                </p:cNvPicPr>
                <p:nvPr/>
              </p:nvPicPr>
              <p:blipFill>
                <a:blip r:embed="rId5"/>
                <a:stretch>
                  <a:fillRect/>
                </a:stretch>
              </p:blipFill>
              <p:spPr>
                <a:xfrm>
                  <a:off x="4585608" y="6801476"/>
                  <a:ext cx="1559751" cy="156854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Right Arrow 7">
                  <a:extLst>
                    <a:ext uri="{FF2B5EF4-FFF2-40B4-BE49-F238E27FC236}">
                      <a16:creationId xmlns:a16="http://schemas.microsoft.com/office/drawing/2014/main" id="{69D38CB4-A67B-2953-56AF-0417A73059F5}"/>
                    </a:ext>
                  </a:extLst>
                </p:cNvPr>
                <p:cNvSpPr/>
                <p:nvPr/>
              </p:nvSpPr>
              <p:spPr>
                <a:xfrm rot="1687738">
                  <a:off x="1797621" y="6336488"/>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9" name="Right Arrow 8">
                  <a:extLst>
                    <a:ext uri="{FF2B5EF4-FFF2-40B4-BE49-F238E27FC236}">
                      <a16:creationId xmlns:a16="http://schemas.microsoft.com/office/drawing/2014/main" id="{360322D7-C848-13EF-1C1E-726463F0B863}"/>
                    </a:ext>
                  </a:extLst>
                </p:cNvPr>
                <p:cNvSpPr/>
                <p:nvPr/>
              </p:nvSpPr>
              <p:spPr>
                <a:xfrm>
                  <a:off x="4060985" y="6911900"/>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pic>
            <p:nvPicPr>
              <p:cNvPr id="12" name="Picture 11">
                <a:extLst>
                  <a:ext uri="{FF2B5EF4-FFF2-40B4-BE49-F238E27FC236}">
                    <a16:creationId xmlns:a16="http://schemas.microsoft.com/office/drawing/2014/main" id="{D8C9806D-0902-2DBD-32E1-83B9D4001F38}"/>
                  </a:ext>
                </a:extLst>
              </p:cNvPr>
              <p:cNvPicPr>
                <a:picLocks noChangeAspect="1"/>
              </p:cNvPicPr>
              <p:nvPr/>
            </p:nvPicPr>
            <p:blipFill>
              <a:blip r:embed="rId5"/>
              <a:stretch>
                <a:fillRect/>
              </a:stretch>
            </p:blipFill>
            <p:spPr>
              <a:xfrm>
                <a:off x="4861664" y="1185470"/>
                <a:ext cx="1559751" cy="156854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5" name="Right Arrow 14">
                <a:extLst>
                  <a:ext uri="{FF2B5EF4-FFF2-40B4-BE49-F238E27FC236}">
                    <a16:creationId xmlns:a16="http://schemas.microsoft.com/office/drawing/2014/main" id="{E7C33A4C-9C84-E727-40DA-D339C9543A0D}"/>
                  </a:ext>
                </a:extLst>
              </p:cNvPr>
              <p:cNvSpPr/>
              <p:nvPr/>
            </p:nvSpPr>
            <p:spPr>
              <a:xfrm rot="19669732">
                <a:off x="2088406" y="2500708"/>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p>
            </p:txBody>
          </p:sp>
          <p:sp>
            <p:nvSpPr>
              <p:cNvPr id="16" name="Right Arrow 15">
                <a:extLst>
                  <a:ext uri="{FF2B5EF4-FFF2-40B4-BE49-F238E27FC236}">
                    <a16:creationId xmlns:a16="http://schemas.microsoft.com/office/drawing/2014/main" id="{13EABD9B-3D22-9231-AD10-59B928E75BA1}"/>
                  </a:ext>
                </a:extLst>
              </p:cNvPr>
              <p:cNvSpPr/>
              <p:nvPr/>
            </p:nvSpPr>
            <p:spPr>
              <a:xfrm>
                <a:off x="4234214" y="2049728"/>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7" name="Picture 16">
                <a:extLst>
                  <a:ext uri="{FF2B5EF4-FFF2-40B4-BE49-F238E27FC236}">
                    <a16:creationId xmlns:a16="http://schemas.microsoft.com/office/drawing/2014/main" id="{D3091A8E-05CA-F431-4CC2-4CE35A4D79F3}"/>
                  </a:ext>
                </a:extLst>
              </p:cNvPr>
              <p:cNvPicPr>
                <a:picLocks noChangeAspect="1"/>
              </p:cNvPicPr>
              <p:nvPr/>
            </p:nvPicPr>
            <p:blipFill>
              <a:blip r:embed="rId6"/>
              <a:stretch>
                <a:fillRect/>
              </a:stretch>
            </p:blipFill>
            <p:spPr>
              <a:xfrm>
                <a:off x="9637313" y="4866617"/>
                <a:ext cx="2371918" cy="212779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8" name="Picture 17">
                <a:extLst>
                  <a:ext uri="{FF2B5EF4-FFF2-40B4-BE49-F238E27FC236}">
                    <a16:creationId xmlns:a16="http://schemas.microsoft.com/office/drawing/2014/main" id="{D99CCA49-827C-AE5F-11E8-E1C896C553A1}"/>
                  </a:ext>
                </a:extLst>
              </p:cNvPr>
              <p:cNvPicPr>
                <a:picLocks noChangeAspect="1"/>
              </p:cNvPicPr>
              <p:nvPr/>
            </p:nvPicPr>
            <p:blipFill>
              <a:blip r:embed="rId7"/>
              <a:stretch>
                <a:fillRect/>
              </a:stretch>
            </p:blipFill>
            <p:spPr>
              <a:xfrm>
                <a:off x="10170819" y="937831"/>
                <a:ext cx="1192976" cy="2013857"/>
              </a:xfrm>
              <a:prstGeom prst="rect">
                <a:avLst/>
              </a:prstGeom>
            </p:spPr>
          </p:pic>
          <p:pic>
            <p:nvPicPr>
              <p:cNvPr id="19" name="Picture 18">
                <a:extLst>
                  <a:ext uri="{FF2B5EF4-FFF2-40B4-BE49-F238E27FC236}">
                    <a16:creationId xmlns:a16="http://schemas.microsoft.com/office/drawing/2014/main" id="{07B5439F-158B-597E-32D7-5D5CD230C2A6}"/>
                  </a:ext>
                </a:extLst>
              </p:cNvPr>
              <p:cNvPicPr>
                <a:picLocks noChangeAspect="1"/>
              </p:cNvPicPr>
              <p:nvPr/>
            </p:nvPicPr>
            <p:blipFill>
              <a:blip r:embed="rId8"/>
              <a:stretch>
                <a:fillRect/>
              </a:stretch>
            </p:blipFill>
            <p:spPr>
              <a:xfrm flipH="1">
                <a:off x="2929179" y="1017113"/>
                <a:ext cx="507114" cy="1905259"/>
              </a:xfrm>
              <a:prstGeom prst="rect">
                <a:avLst/>
              </a:prstGeom>
            </p:spPr>
          </p:pic>
        </p:grpSp>
        <p:sp>
          <p:nvSpPr>
            <p:cNvPr id="2" name="TextBox 1">
              <a:extLst>
                <a:ext uri="{FF2B5EF4-FFF2-40B4-BE49-F238E27FC236}">
                  <a16:creationId xmlns:a16="http://schemas.microsoft.com/office/drawing/2014/main" id="{DB390DB1-6175-EDCB-7BF8-CF35887299E0}"/>
                </a:ext>
              </a:extLst>
            </p:cNvPr>
            <p:cNvSpPr txBox="1"/>
            <p:nvPr/>
          </p:nvSpPr>
          <p:spPr>
            <a:xfrm>
              <a:off x="7958816" y="2583054"/>
              <a:ext cx="816115" cy="307777"/>
            </a:xfrm>
            <a:prstGeom prst="rect">
              <a:avLst/>
            </a:prstGeom>
            <a:noFill/>
          </p:spPr>
          <p:txBody>
            <a:bodyPr wrap="square" rtlCol="0">
              <a:spAutoFit/>
            </a:bodyPr>
            <a:lstStyle/>
            <a:p>
              <a:r>
                <a:rPr lang="en-SE" sz="1400" dirty="0">
                  <a:latin typeface="Berlin Sans FB" panose="020E0602020502020306" pitchFamily="34" charset="77"/>
                </a:rPr>
                <a:t>Sample</a:t>
              </a:r>
            </a:p>
          </p:txBody>
        </p:sp>
      </p:grpSp>
      <p:pic>
        <p:nvPicPr>
          <p:cNvPr id="11" name="Picture 10">
            <a:extLst>
              <a:ext uri="{FF2B5EF4-FFF2-40B4-BE49-F238E27FC236}">
                <a16:creationId xmlns:a16="http://schemas.microsoft.com/office/drawing/2014/main" id="{865843C3-9301-EFDD-0038-559B8D59605B}"/>
              </a:ext>
            </a:extLst>
          </p:cNvPr>
          <p:cNvPicPr>
            <a:picLocks noChangeAspect="1"/>
          </p:cNvPicPr>
          <p:nvPr/>
        </p:nvPicPr>
        <p:blipFill>
          <a:blip r:embed="rId9"/>
          <a:stretch>
            <a:fillRect/>
          </a:stretch>
        </p:blipFill>
        <p:spPr>
          <a:xfrm>
            <a:off x="7649070" y="3943160"/>
            <a:ext cx="1466599" cy="2798999"/>
          </a:xfrm>
          <a:prstGeom prst="rect">
            <a:avLst/>
          </a:prstGeom>
        </p:spPr>
      </p:pic>
      <p:pic>
        <p:nvPicPr>
          <p:cNvPr id="13" name="Picture 12">
            <a:extLst>
              <a:ext uri="{FF2B5EF4-FFF2-40B4-BE49-F238E27FC236}">
                <a16:creationId xmlns:a16="http://schemas.microsoft.com/office/drawing/2014/main" id="{8D4F1866-7F1D-0500-54F4-B2615E6D06A6}"/>
              </a:ext>
            </a:extLst>
          </p:cNvPr>
          <p:cNvPicPr>
            <a:picLocks noChangeAspect="1"/>
          </p:cNvPicPr>
          <p:nvPr/>
        </p:nvPicPr>
        <p:blipFill>
          <a:blip r:embed="rId10"/>
          <a:stretch>
            <a:fillRect/>
          </a:stretch>
        </p:blipFill>
        <p:spPr>
          <a:xfrm>
            <a:off x="7965129" y="771887"/>
            <a:ext cx="722041" cy="2241394"/>
          </a:xfrm>
          <a:prstGeom prst="rect">
            <a:avLst/>
          </a:prstGeom>
        </p:spPr>
      </p:pic>
      <p:pic>
        <p:nvPicPr>
          <p:cNvPr id="14" name="Picture 13">
            <a:extLst>
              <a:ext uri="{FF2B5EF4-FFF2-40B4-BE49-F238E27FC236}">
                <a16:creationId xmlns:a16="http://schemas.microsoft.com/office/drawing/2014/main" id="{10A08C54-F006-D3E9-F3A9-25B3E43A868C}"/>
              </a:ext>
            </a:extLst>
          </p:cNvPr>
          <p:cNvPicPr>
            <a:picLocks noChangeAspect="1"/>
          </p:cNvPicPr>
          <p:nvPr/>
        </p:nvPicPr>
        <p:blipFill rotWithShape="1">
          <a:blip r:embed="rId11"/>
          <a:srcRect l="70333" t="3535" r="3117" b="73870"/>
          <a:stretch/>
        </p:blipFill>
        <p:spPr>
          <a:xfrm>
            <a:off x="8088577" y="3205089"/>
            <a:ext cx="609600" cy="548189"/>
          </a:xfrm>
          <a:prstGeom prst="rect">
            <a:avLst/>
          </a:prstGeom>
        </p:spPr>
      </p:pic>
      <p:sp>
        <p:nvSpPr>
          <p:cNvPr id="23" name="TextBox 22">
            <a:extLst>
              <a:ext uri="{FF2B5EF4-FFF2-40B4-BE49-F238E27FC236}">
                <a16:creationId xmlns:a16="http://schemas.microsoft.com/office/drawing/2014/main" id="{9503C73A-B850-A0F7-B86A-225C02FB2699}"/>
              </a:ext>
            </a:extLst>
          </p:cNvPr>
          <p:cNvSpPr txBox="1"/>
          <p:nvPr/>
        </p:nvSpPr>
        <p:spPr>
          <a:xfrm rot="19675473">
            <a:off x="1377612" y="1538856"/>
            <a:ext cx="1029046" cy="646331"/>
          </a:xfrm>
          <a:prstGeom prst="rect">
            <a:avLst/>
          </a:prstGeom>
          <a:solidFill>
            <a:srgbClr val="FFFF00"/>
          </a:solidFill>
        </p:spPr>
        <p:txBody>
          <a:bodyPr wrap="square" rtlCol="0">
            <a:spAutoFit/>
          </a:bodyPr>
          <a:lstStyle/>
          <a:p>
            <a:r>
              <a:rPr lang="en-SE" dirty="0">
                <a:latin typeface="Berlin Sans FB" panose="020E0602020502020306" pitchFamily="34" charset="77"/>
              </a:rPr>
              <a:t>Bulk</a:t>
            </a:r>
          </a:p>
          <a:p>
            <a:r>
              <a:rPr lang="en-SE" dirty="0">
                <a:latin typeface="Berlin Sans FB" panose="020E0602020502020306" pitchFamily="34" charset="77"/>
              </a:rPr>
              <a:t>RNAseq</a:t>
            </a:r>
          </a:p>
        </p:txBody>
      </p:sp>
      <p:sp>
        <p:nvSpPr>
          <p:cNvPr id="24" name="TextBox 23">
            <a:extLst>
              <a:ext uri="{FF2B5EF4-FFF2-40B4-BE49-F238E27FC236}">
                <a16:creationId xmlns:a16="http://schemas.microsoft.com/office/drawing/2014/main" id="{62413E56-DE80-9E07-1BE0-F117844DE0A1}"/>
              </a:ext>
            </a:extLst>
          </p:cNvPr>
          <p:cNvSpPr txBox="1"/>
          <p:nvPr/>
        </p:nvSpPr>
        <p:spPr>
          <a:xfrm rot="1906075">
            <a:off x="1140814" y="4742721"/>
            <a:ext cx="1155840" cy="646331"/>
          </a:xfrm>
          <a:prstGeom prst="rect">
            <a:avLst/>
          </a:prstGeom>
          <a:solidFill>
            <a:srgbClr val="FFFF00"/>
          </a:solidFill>
        </p:spPr>
        <p:txBody>
          <a:bodyPr wrap="square" rtlCol="0">
            <a:spAutoFit/>
          </a:bodyPr>
          <a:lstStyle/>
          <a:p>
            <a:r>
              <a:rPr lang="en-SE" dirty="0">
                <a:latin typeface="Berlin Sans FB" panose="020E0602020502020306" pitchFamily="34" charset="77"/>
              </a:rPr>
              <a:t>Single cell</a:t>
            </a:r>
          </a:p>
          <a:p>
            <a:r>
              <a:rPr lang="en-SE" dirty="0">
                <a:latin typeface="Berlin Sans FB" panose="020E0602020502020306" pitchFamily="34" charset="77"/>
              </a:rPr>
              <a:t>RNAseq</a:t>
            </a:r>
          </a:p>
        </p:txBody>
      </p:sp>
      <p:sp>
        <p:nvSpPr>
          <p:cNvPr id="29" name="TextBox 28">
            <a:extLst>
              <a:ext uri="{FF2B5EF4-FFF2-40B4-BE49-F238E27FC236}">
                <a16:creationId xmlns:a16="http://schemas.microsoft.com/office/drawing/2014/main" id="{B7838DB5-7D03-E3AB-EB80-597462633068}"/>
              </a:ext>
            </a:extLst>
          </p:cNvPr>
          <p:cNvSpPr txBox="1"/>
          <p:nvPr/>
        </p:nvSpPr>
        <p:spPr>
          <a:xfrm>
            <a:off x="8060259" y="2900385"/>
            <a:ext cx="967344" cy="307777"/>
          </a:xfrm>
          <a:prstGeom prst="rect">
            <a:avLst/>
          </a:prstGeom>
          <a:noFill/>
        </p:spPr>
        <p:txBody>
          <a:bodyPr wrap="square" rtlCol="0">
            <a:spAutoFit/>
          </a:bodyPr>
          <a:lstStyle/>
          <a:p>
            <a:r>
              <a:rPr lang="en-SE" sz="1400" b="1" dirty="0">
                <a:solidFill>
                  <a:srgbClr val="C00000"/>
                </a:solidFill>
              </a:rPr>
              <a:t>Sample</a:t>
            </a:r>
          </a:p>
        </p:txBody>
      </p:sp>
      <p:sp>
        <p:nvSpPr>
          <p:cNvPr id="30" name="TextBox 29">
            <a:extLst>
              <a:ext uri="{FF2B5EF4-FFF2-40B4-BE49-F238E27FC236}">
                <a16:creationId xmlns:a16="http://schemas.microsoft.com/office/drawing/2014/main" id="{1F279884-B0A4-9DFB-BD11-BFED26495DFA}"/>
              </a:ext>
            </a:extLst>
          </p:cNvPr>
          <p:cNvSpPr txBox="1"/>
          <p:nvPr/>
        </p:nvSpPr>
        <p:spPr>
          <a:xfrm>
            <a:off x="8005830" y="6571996"/>
            <a:ext cx="1074338" cy="307777"/>
          </a:xfrm>
          <a:prstGeom prst="rect">
            <a:avLst/>
          </a:prstGeom>
          <a:solidFill>
            <a:schemeClr val="bg1"/>
          </a:solidFill>
        </p:spPr>
        <p:txBody>
          <a:bodyPr wrap="square" rtlCol="0">
            <a:spAutoFit/>
          </a:bodyPr>
          <a:lstStyle/>
          <a:p>
            <a:r>
              <a:rPr lang="en-SE" sz="1400" b="1" dirty="0">
                <a:solidFill>
                  <a:srgbClr val="C00000"/>
                </a:solidFill>
              </a:rPr>
              <a:t>Cell types</a:t>
            </a:r>
          </a:p>
        </p:txBody>
      </p:sp>
      <p:sp>
        <p:nvSpPr>
          <p:cNvPr id="31" name="TextBox 30">
            <a:extLst>
              <a:ext uri="{FF2B5EF4-FFF2-40B4-BE49-F238E27FC236}">
                <a16:creationId xmlns:a16="http://schemas.microsoft.com/office/drawing/2014/main" id="{0FB6D09E-EA32-A4C4-550D-7EB15428D781}"/>
              </a:ext>
            </a:extLst>
          </p:cNvPr>
          <p:cNvSpPr txBox="1"/>
          <p:nvPr/>
        </p:nvSpPr>
        <p:spPr>
          <a:xfrm>
            <a:off x="2525251" y="2675504"/>
            <a:ext cx="1519403" cy="307777"/>
          </a:xfrm>
          <a:prstGeom prst="rect">
            <a:avLst/>
          </a:prstGeom>
          <a:noFill/>
        </p:spPr>
        <p:txBody>
          <a:bodyPr wrap="square" rtlCol="0">
            <a:spAutoFit/>
          </a:bodyPr>
          <a:lstStyle/>
          <a:p>
            <a:r>
              <a:rPr lang="en-SE" sz="1400" b="1" dirty="0"/>
              <a:t>Unit: sample</a:t>
            </a:r>
          </a:p>
        </p:txBody>
      </p:sp>
      <p:sp>
        <p:nvSpPr>
          <p:cNvPr id="32" name="TextBox 31">
            <a:extLst>
              <a:ext uri="{FF2B5EF4-FFF2-40B4-BE49-F238E27FC236}">
                <a16:creationId xmlns:a16="http://schemas.microsoft.com/office/drawing/2014/main" id="{EECE8A1A-431A-C49A-F63E-6E2F2821BE50}"/>
              </a:ext>
            </a:extLst>
          </p:cNvPr>
          <p:cNvSpPr txBox="1"/>
          <p:nvPr/>
        </p:nvSpPr>
        <p:spPr>
          <a:xfrm>
            <a:off x="2483121" y="6458932"/>
            <a:ext cx="1519403" cy="307777"/>
          </a:xfrm>
          <a:prstGeom prst="rect">
            <a:avLst/>
          </a:prstGeom>
          <a:noFill/>
        </p:spPr>
        <p:txBody>
          <a:bodyPr wrap="square" rtlCol="0">
            <a:spAutoFit/>
          </a:bodyPr>
          <a:lstStyle/>
          <a:p>
            <a:r>
              <a:rPr lang="en-SE" sz="1400" b="1" dirty="0"/>
              <a:t>Unit:  Ind. cells</a:t>
            </a:r>
          </a:p>
        </p:txBody>
      </p:sp>
      <p:sp>
        <p:nvSpPr>
          <p:cNvPr id="33" name="TextBox 32">
            <a:extLst>
              <a:ext uri="{FF2B5EF4-FFF2-40B4-BE49-F238E27FC236}">
                <a16:creationId xmlns:a16="http://schemas.microsoft.com/office/drawing/2014/main" id="{61B0F452-A2D1-0FB5-5388-CC386E1C68AA}"/>
              </a:ext>
            </a:extLst>
          </p:cNvPr>
          <p:cNvSpPr txBox="1"/>
          <p:nvPr/>
        </p:nvSpPr>
        <p:spPr>
          <a:xfrm>
            <a:off x="122234" y="4256038"/>
            <a:ext cx="1449631" cy="461665"/>
          </a:xfrm>
          <a:prstGeom prst="rect">
            <a:avLst/>
          </a:prstGeom>
          <a:noFill/>
        </p:spPr>
        <p:txBody>
          <a:bodyPr wrap="square" rtlCol="0">
            <a:spAutoFit/>
          </a:bodyPr>
          <a:lstStyle/>
          <a:p>
            <a:r>
              <a:rPr lang="en-SE" sz="2400" b="1" dirty="0">
                <a:latin typeface="Times New Roman" panose="02020603050405020304" pitchFamily="18" charset="0"/>
                <a:cs typeface="Times New Roman" panose="02020603050405020304" pitchFamily="18" charset="0"/>
              </a:rPr>
              <a:t>Tissue</a:t>
            </a:r>
          </a:p>
        </p:txBody>
      </p:sp>
    </p:spTree>
    <p:extLst>
      <p:ext uri="{BB962C8B-B14F-4D97-AF65-F5344CB8AC3E}">
        <p14:creationId xmlns:p14="http://schemas.microsoft.com/office/powerpoint/2010/main" val="1119406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126E1B-8F0C-6BAE-0FE7-2872DDFF60E0}"/>
              </a:ext>
            </a:extLst>
          </p:cNvPr>
          <p:cNvPicPr>
            <a:picLocks noChangeAspect="1"/>
          </p:cNvPicPr>
          <p:nvPr/>
        </p:nvPicPr>
        <p:blipFill>
          <a:blip r:embed="rId3"/>
          <a:stretch>
            <a:fillRect/>
          </a:stretch>
        </p:blipFill>
        <p:spPr>
          <a:xfrm>
            <a:off x="1734378" y="1810239"/>
            <a:ext cx="8723244" cy="2741193"/>
          </a:xfrm>
          <a:prstGeom prst="rect">
            <a:avLst/>
          </a:prstGeom>
        </p:spPr>
        <p:style>
          <a:lnRef idx="2">
            <a:schemeClr val="dk1"/>
          </a:lnRef>
          <a:fillRef idx="1">
            <a:schemeClr val="lt1"/>
          </a:fillRef>
          <a:effectRef idx="0">
            <a:schemeClr val="dk1"/>
          </a:effectRef>
          <a:fontRef idx="minor">
            <a:schemeClr val="dk1"/>
          </a:fontRef>
        </p:style>
      </p:pic>
      <p:sp>
        <p:nvSpPr>
          <p:cNvPr id="5" name="TextBox 4">
            <a:extLst>
              <a:ext uri="{FF2B5EF4-FFF2-40B4-BE49-F238E27FC236}">
                <a16:creationId xmlns:a16="http://schemas.microsoft.com/office/drawing/2014/main" id="{FFD29C76-DE4E-3CD3-DBA2-FF15082ECF5A}"/>
              </a:ext>
            </a:extLst>
          </p:cNvPr>
          <p:cNvSpPr txBox="1"/>
          <p:nvPr/>
        </p:nvSpPr>
        <p:spPr>
          <a:xfrm>
            <a:off x="9554818" y="6294783"/>
            <a:ext cx="2637182" cy="338554"/>
          </a:xfrm>
          <a:prstGeom prst="rect">
            <a:avLst/>
          </a:prstGeom>
          <a:noFill/>
        </p:spPr>
        <p:txBody>
          <a:bodyPr wrap="square" rtlCol="0">
            <a:spAutoFit/>
          </a:bodyPr>
          <a:lstStyle/>
          <a:p>
            <a:r>
              <a:rPr lang="en-SE" sz="1600" dirty="0">
                <a:latin typeface="Times New Roman" panose="02020603050405020304" pitchFamily="18" charset="0"/>
                <a:cs typeface="Times New Roman" panose="02020603050405020304" pitchFamily="18" charset="0"/>
              </a:rPr>
              <a:t>Svensson et al. 2018 Nature</a:t>
            </a:r>
          </a:p>
        </p:txBody>
      </p:sp>
    </p:spTree>
    <p:extLst>
      <p:ext uri="{BB962C8B-B14F-4D97-AF65-F5344CB8AC3E}">
        <p14:creationId xmlns:p14="http://schemas.microsoft.com/office/powerpoint/2010/main" val="2544966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F7305-6845-175C-CBD1-DC6FC6AC537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553012D-8AC0-369E-BB68-9EF84B6B696A}"/>
              </a:ext>
            </a:extLst>
          </p:cNvPr>
          <p:cNvSpPr txBox="1"/>
          <p:nvPr/>
        </p:nvSpPr>
        <p:spPr>
          <a:xfrm>
            <a:off x="8912180" y="6297249"/>
            <a:ext cx="2717442" cy="369332"/>
          </a:xfrm>
          <a:prstGeom prst="rect">
            <a:avLst/>
          </a:prstGeom>
          <a:noFill/>
        </p:spPr>
        <p:txBody>
          <a:bodyPr wrap="square" rtlCol="0">
            <a:spAutoFit/>
          </a:bodyPr>
          <a:lstStyle/>
          <a:p>
            <a:r>
              <a:rPr lang="en-GB" dirty="0"/>
              <a:t>https://</a:t>
            </a:r>
            <a:r>
              <a:rPr lang="en-GB" dirty="0" err="1"/>
              <a:t>www.azenta.com</a:t>
            </a:r>
            <a:endParaRPr lang="en-SE" dirty="0"/>
          </a:p>
        </p:txBody>
      </p:sp>
      <p:pic>
        <p:nvPicPr>
          <p:cNvPr id="4" name="Picture 3">
            <a:extLst>
              <a:ext uri="{FF2B5EF4-FFF2-40B4-BE49-F238E27FC236}">
                <a16:creationId xmlns:a16="http://schemas.microsoft.com/office/drawing/2014/main" id="{D8472A88-A176-E693-A47F-4CD68CE85084}"/>
              </a:ext>
            </a:extLst>
          </p:cNvPr>
          <p:cNvPicPr>
            <a:picLocks noChangeAspect="1"/>
          </p:cNvPicPr>
          <p:nvPr/>
        </p:nvPicPr>
        <p:blipFill>
          <a:blip r:embed="rId3"/>
          <a:stretch>
            <a:fillRect/>
          </a:stretch>
        </p:blipFill>
        <p:spPr>
          <a:xfrm>
            <a:off x="975714" y="659421"/>
            <a:ext cx="6369468" cy="6105831"/>
          </a:xfrm>
          <a:prstGeom prst="rect">
            <a:avLst/>
          </a:prstGeom>
        </p:spPr>
      </p:pic>
    </p:spTree>
    <p:extLst>
      <p:ext uri="{BB962C8B-B14F-4D97-AF65-F5344CB8AC3E}">
        <p14:creationId xmlns:p14="http://schemas.microsoft.com/office/powerpoint/2010/main" val="1957120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4495DB-6F3F-A58B-5259-1C5752F8B3B4}"/>
              </a:ext>
            </a:extLst>
          </p:cNvPr>
          <p:cNvPicPr>
            <a:picLocks noChangeAspect="1"/>
          </p:cNvPicPr>
          <p:nvPr/>
        </p:nvPicPr>
        <p:blipFill rotWithShape="1">
          <a:blip r:embed="rId3"/>
          <a:srcRect l="-97" t="4746" r="76318" b="44537"/>
          <a:stretch/>
        </p:blipFill>
        <p:spPr>
          <a:xfrm>
            <a:off x="2202170" y="1268569"/>
            <a:ext cx="1848236" cy="2421228"/>
          </a:xfrm>
          <a:prstGeom prst="roundRect">
            <a:avLst/>
          </a:prstGeom>
        </p:spPr>
      </p:pic>
    </p:spTree>
    <p:extLst>
      <p:ext uri="{BB962C8B-B14F-4D97-AF65-F5344CB8AC3E}">
        <p14:creationId xmlns:p14="http://schemas.microsoft.com/office/powerpoint/2010/main" val="4269796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403AFF0-605D-E941-157A-AFAD58758E4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9514218-1EEC-B869-EDE0-459A1A84033D}"/>
              </a:ext>
            </a:extLst>
          </p:cNvPr>
          <p:cNvPicPr>
            <a:picLocks noChangeAspect="1"/>
          </p:cNvPicPr>
          <p:nvPr/>
        </p:nvPicPr>
        <p:blipFill rotWithShape="1">
          <a:blip r:embed="rId3"/>
          <a:srcRect l="16224" r="56020" b="46445"/>
          <a:stretch/>
        </p:blipFill>
        <p:spPr>
          <a:xfrm>
            <a:off x="3470857" y="1028983"/>
            <a:ext cx="2157212" cy="2570662"/>
          </a:xfrm>
          <a:prstGeom prst="roundRect">
            <a:avLst/>
          </a:prstGeom>
        </p:spPr>
      </p:pic>
    </p:spTree>
    <p:extLst>
      <p:ext uri="{BB962C8B-B14F-4D97-AF65-F5344CB8AC3E}">
        <p14:creationId xmlns:p14="http://schemas.microsoft.com/office/powerpoint/2010/main" val="1295859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9BF4CCC-B800-0ABB-F51F-263130B5CFB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051955A-0899-C344-E9F1-C421205C881C}"/>
              </a:ext>
            </a:extLst>
          </p:cNvPr>
          <p:cNvPicPr>
            <a:picLocks noChangeAspect="1"/>
          </p:cNvPicPr>
          <p:nvPr/>
        </p:nvPicPr>
        <p:blipFill>
          <a:blip r:embed="rId3"/>
          <a:srcRect l="43979" b="41800"/>
          <a:stretch/>
        </p:blipFill>
        <p:spPr>
          <a:xfrm>
            <a:off x="5763296" y="1014368"/>
            <a:ext cx="4354132" cy="2810657"/>
          </a:xfrm>
          <a:prstGeom prst="roundRect">
            <a:avLst/>
          </a:prstGeom>
        </p:spPr>
      </p:pic>
    </p:spTree>
    <p:extLst>
      <p:ext uri="{BB962C8B-B14F-4D97-AF65-F5344CB8AC3E}">
        <p14:creationId xmlns:p14="http://schemas.microsoft.com/office/powerpoint/2010/main" val="3489565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99DC8CF-F2C6-E9C0-E3F3-BFD0706B921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D26AE50-A8AA-6A52-4E52-88205C99FF27}"/>
              </a:ext>
            </a:extLst>
          </p:cNvPr>
          <p:cNvPicPr>
            <a:picLocks noChangeAspect="1"/>
          </p:cNvPicPr>
          <p:nvPr/>
        </p:nvPicPr>
        <p:blipFill>
          <a:blip r:embed="rId3"/>
          <a:srcRect l="2638" t="34865" r="58920" b="5932"/>
          <a:stretch/>
        </p:blipFill>
        <p:spPr>
          <a:xfrm>
            <a:off x="2550016" y="2698124"/>
            <a:ext cx="2987899" cy="2859110"/>
          </a:xfrm>
          <a:prstGeom prst="roundRect">
            <a:avLst/>
          </a:prstGeom>
        </p:spPr>
      </p:pic>
    </p:spTree>
    <p:extLst>
      <p:ext uri="{BB962C8B-B14F-4D97-AF65-F5344CB8AC3E}">
        <p14:creationId xmlns:p14="http://schemas.microsoft.com/office/powerpoint/2010/main" val="294469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126E1B-8F0C-6BAE-0FE7-2872DDFF60E0}"/>
              </a:ext>
            </a:extLst>
          </p:cNvPr>
          <p:cNvPicPr>
            <a:picLocks noChangeAspect="1"/>
          </p:cNvPicPr>
          <p:nvPr/>
        </p:nvPicPr>
        <p:blipFill>
          <a:blip r:embed="rId3"/>
          <a:stretch>
            <a:fillRect/>
          </a:stretch>
        </p:blipFill>
        <p:spPr>
          <a:xfrm>
            <a:off x="1734378" y="1810239"/>
            <a:ext cx="8723244" cy="2741193"/>
          </a:xfrm>
          <a:prstGeom prst="rect">
            <a:avLst/>
          </a:prstGeom>
        </p:spPr>
        <p:style>
          <a:lnRef idx="2">
            <a:schemeClr val="dk1"/>
          </a:lnRef>
          <a:fillRef idx="1">
            <a:schemeClr val="lt1"/>
          </a:fillRef>
          <a:effectRef idx="0">
            <a:schemeClr val="dk1"/>
          </a:effectRef>
          <a:fontRef idx="minor">
            <a:schemeClr val="dk1"/>
          </a:fontRef>
        </p:style>
      </p:pic>
      <p:sp>
        <p:nvSpPr>
          <p:cNvPr id="5" name="TextBox 4">
            <a:extLst>
              <a:ext uri="{FF2B5EF4-FFF2-40B4-BE49-F238E27FC236}">
                <a16:creationId xmlns:a16="http://schemas.microsoft.com/office/drawing/2014/main" id="{FFD29C76-DE4E-3CD3-DBA2-FF15082ECF5A}"/>
              </a:ext>
            </a:extLst>
          </p:cNvPr>
          <p:cNvSpPr txBox="1"/>
          <p:nvPr/>
        </p:nvSpPr>
        <p:spPr>
          <a:xfrm>
            <a:off x="9554818" y="6294783"/>
            <a:ext cx="2637182" cy="338554"/>
          </a:xfrm>
          <a:prstGeom prst="rect">
            <a:avLst/>
          </a:prstGeom>
          <a:noFill/>
        </p:spPr>
        <p:txBody>
          <a:bodyPr wrap="square" rtlCol="0">
            <a:spAutoFit/>
          </a:bodyPr>
          <a:lstStyle/>
          <a:p>
            <a:r>
              <a:rPr lang="en-SE" sz="1600" dirty="0">
                <a:latin typeface="Times New Roman" panose="02020603050405020304" pitchFamily="18" charset="0"/>
                <a:cs typeface="Times New Roman" panose="02020603050405020304" pitchFamily="18" charset="0"/>
              </a:rPr>
              <a:t>Svensson et al. 2018 Nature</a:t>
            </a:r>
          </a:p>
        </p:txBody>
      </p:sp>
      <p:sp>
        <p:nvSpPr>
          <p:cNvPr id="2" name="Oval 1">
            <a:extLst>
              <a:ext uri="{FF2B5EF4-FFF2-40B4-BE49-F238E27FC236}">
                <a16:creationId xmlns:a16="http://schemas.microsoft.com/office/drawing/2014/main" id="{232426B0-DDC6-F4F0-7276-4C73D806E0B6}"/>
              </a:ext>
            </a:extLst>
          </p:cNvPr>
          <p:cNvSpPr/>
          <p:nvPr/>
        </p:nvSpPr>
        <p:spPr>
          <a:xfrm rot="20911533">
            <a:off x="2822711" y="2822713"/>
            <a:ext cx="4611757" cy="131196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 name="5-point Star 2">
            <a:extLst>
              <a:ext uri="{FF2B5EF4-FFF2-40B4-BE49-F238E27FC236}">
                <a16:creationId xmlns:a16="http://schemas.microsoft.com/office/drawing/2014/main" id="{E2FBCEC2-2F87-9513-A985-0231A54EEDAB}"/>
              </a:ext>
            </a:extLst>
          </p:cNvPr>
          <p:cNvSpPr/>
          <p:nvPr/>
        </p:nvSpPr>
        <p:spPr>
          <a:xfrm>
            <a:off x="5340625" y="3869635"/>
            <a:ext cx="185531" cy="198783"/>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6" name="5-point Star 5">
            <a:extLst>
              <a:ext uri="{FF2B5EF4-FFF2-40B4-BE49-F238E27FC236}">
                <a16:creationId xmlns:a16="http://schemas.microsoft.com/office/drawing/2014/main" id="{A3E20A94-115D-C5DC-02EC-A47BDEE66F11}"/>
              </a:ext>
            </a:extLst>
          </p:cNvPr>
          <p:cNvSpPr/>
          <p:nvPr/>
        </p:nvSpPr>
        <p:spPr>
          <a:xfrm>
            <a:off x="7374835" y="3690732"/>
            <a:ext cx="185531" cy="198783"/>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118191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D23E8C-D225-41CB-6F30-19E3F0AC7226}"/>
              </a:ext>
            </a:extLst>
          </p:cNvPr>
          <p:cNvSpPr txBox="1"/>
          <p:nvPr/>
        </p:nvSpPr>
        <p:spPr>
          <a:xfrm>
            <a:off x="1338470" y="689113"/>
            <a:ext cx="3617843" cy="461665"/>
          </a:xfrm>
          <a:prstGeom prst="rect">
            <a:avLst/>
          </a:prstGeom>
          <a:noFill/>
        </p:spPr>
        <p:txBody>
          <a:bodyPr wrap="square" rtlCol="0">
            <a:spAutoFit/>
          </a:bodyPr>
          <a:lstStyle/>
          <a:p>
            <a:r>
              <a:rPr lang="en-SE" sz="2400" dirty="0">
                <a:latin typeface="Berlin Sans FB" panose="020E0602020502020306" pitchFamily="34" charset="77"/>
              </a:rPr>
              <a:t>SMART-seq</a:t>
            </a:r>
          </a:p>
        </p:txBody>
      </p:sp>
      <p:sp>
        <p:nvSpPr>
          <p:cNvPr id="6" name="TextBox 5">
            <a:extLst>
              <a:ext uri="{FF2B5EF4-FFF2-40B4-BE49-F238E27FC236}">
                <a16:creationId xmlns:a16="http://schemas.microsoft.com/office/drawing/2014/main" id="{8FEF5A2E-D5B0-16A2-9276-2D6D33E43947}"/>
              </a:ext>
            </a:extLst>
          </p:cNvPr>
          <p:cNvSpPr txBox="1"/>
          <p:nvPr/>
        </p:nvSpPr>
        <p:spPr>
          <a:xfrm>
            <a:off x="9183757" y="6294783"/>
            <a:ext cx="3008243" cy="338554"/>
          </a:xfrm>
          <a:prstGeom prst="rect">
            <a:avLst/>
          </a:prstGeom>
          <a:noFill/>
        </p:spPr>
        <p:txBody>
          <a:bodyPr wrap="square" rtlCol="0">
            <a:spAutoFit/>
          </a:bodyPr>
          <a:lstStyle/>
          <a:p>
            <a:r>
              <a:rPr lang="en-SE" sz="1600" dirty="0">
                <a:latin typeface="Times New Roman" panose="02020603050405020304" pitchFamily="18" charset="0"/>
                <a:cs typeface="Times New Roman" panose="02020603050405020304" pitchFamily="18" charset="0"/>
              </a:rPr>
              <a:t>Probst et al. 2022 BMC genomics</a:t>
            </a:r>
          </a:p>
        </p:txBody>
      </p:sp>
      <p:grpSp>
        <p:nvGrpSpPr>
          <p:cNvPr id="7" name="Group 6">
            <a:extLst>
              <a:ext uri="{FF2B5EF4-FFF2-40B4-BE49-F238E27FC236}">
                <a16:creationId xmlns:a16="http://schemas.microsoft.com/office/drawing/2014/main" id="{1DF0FF95-4444-A776-1F70-F504FDCC22B1}"/>
              </a:ext>
            </a:extLst>
          </p:cNvPr>
          <p:cNvGrpSpPr/>
          <p:nvPr/>
        </p:nvGrpSpPr>
        <p:grpSpPr>
          <a:xfrm>
            <a:off x="1437877" y="1695726"/>
            <a:ext cx="6972300" cy="3175000"/>
            <a:chOff x="2609850" y="1695726"/>
            <a:chExt cx="6972300" cy="3175000"/>
          </a:xfrm>
        </p:grpSpPr>
        <p:pic>
          <p:nvPicPr>
            <p:cNvPr id="4" name="Picture 3">
              <a:extLst>
                <a:ext uri="{FF2B5EF4-FFF2-40B4-BE49-F238E27FC236}">
                  <a16:creationId xmlns:a16="http://schemas.microsoft.com/office/drawing/2014/main" id="{017EA743-0323-67E2-C6EB-E7C5D67F61D0}"/>
                </a:ext>
              </a:extLst>
            </p:cNvPr>
            <p:cNvPicPr>
              <a:picLocks noChangeAspect="1"/>
            </p:cNvPicPr>
            <p:nvPr/>
          </p:nvPicPr>
          <p:blipFill>
            <a:blip r:embed="rId3"/>
            <a:stretch>
              <a:fillRect/>
            </a:stretch>
          </p:blipFill>
          <p:spPr>
            <a:xfrm>
              <a:off x="2609850" y="1695726"/>
              <a:ext cx="6362700" cy="3175000"/>
            </a:xfrm>
            <a:prstGeom prst="rect">
              <a:avLst/>
            </a:prstGeom>
          </p:spPr>
        </p:pic>
        <p:sp>
          <p:nvSpPr>
            <p:cNvPr id="2" name="TextBox 1">
              <a:extLst>
                <a:ext uri="{FF2B5EF4-FFF2-40B4-BE49-F238E27FC236}">
                  <a16:creationId xmlns:a16="http://schemas.microsoft.com/office/drawing/2014/main" id="{04A451CB-D1F1-E638-D831-9EC45B980F24}"/>
                </a:ext>
              </a:extLst>
            </p:cNvPr>
            <p:cNvSpPr txBox="1"/>
            <p:nvPr/>
          </p:nvSpPr>
          <p:spPr>
            <a:xfrm>
              <a:off x="8242479" y="1931831"/>
              <a:ext cx="1339671"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b="1" dirty="0">
                  <a:latin typeface="Times New Roman" panose="02020603050405020304" pitchFamily="18" charset="0"/>
                  <a:cs typeface="Times New Roman" panose="02020603050405020304" pitchFamily="18" charset="0"/>
                </a:rPr>
                <a:t>W</a:t>
              </a:r>
              <a:r>
                <a:rPr lang="en-SE" b="1" dirty="0">
                  <a:latin typeface="Times New Roman" panose="02020603050405020304" pitchFamily="18" charset="0"/>
                  <a:cs typeface="Times New Roman" panose="02020603050405020304" pitchFamily="18" charset="0"/>
                </a:rPr>
                <a:t>ell-based</a:t>
              </a:r>
            </a:p>
          </p:txBody>
        </p:sp>
      </p:grpSp>
      <p:sp>
        <p:nvSpPr>
          <p:cNvPr id="3" name="TextBox 2">
            <a:extLst>
              <a:ext uri="{FF2B5EF4-FFF2-40B4-BE49-F238E27FC236}">
                <a16:creationId xmlns:a16="http://schemas.microsoft.com/office/drawing/2014/main" id="{619EEA40-DC0C-707F-AE08-A02957E6DBB8}"/>
              </a:ext>
            </a:extLst>
          </p:cNvPr>
          <p:cNvSpPr txBox="1"/>
          <p:nvPr/>
        </p:nvSpPr>
        <p:spPr>
          <a:xfrm>
            <a:off x="8062308" y="2633729"/>
            <a:ext cx="3884853" cy="156966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RNA full length sequencing /seq. deeper (isoform…)</a:t>
            </a:r>
          </a:p>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Less cells</a:t>
            </a:r>
          </a:p>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Lots of manual efforts</a:t>
            </a:r>
          </a:p>
        </p:txBody>
      </p:sp>
      <p:sp>
        <p:nvSpPr>
          <p:cNvPr id="8" name="TextBox 7">
            <a:extLst>
              <a:ext uri="{FF2B5EF4-FFF2-40B4-BE49-F238E27FC236}">
                <a16:creationId xmlns:a16="http://schemas.microsoft.com/office/drawing/2014/main" id="{E4C3BE06-76DD-5B7E-1073-1FB052486FB7}"/>
              </a:ext>
            </a:extLst>
          </p:cNvPr>
          <p:cNvSpPr txBox="1"/>
          <p:nvPr/>
        </p:nvSpPr>
        <p:spPr>
          <a:xfrm>
            <a:off x="1704814" y="5207431"/>
            <a:ext cx="2727701" cy="369332"/>
          </a:xfrm>
          <a:prstGeom prst="rect">
            <a:avLst/>
          </a:prstGeom>
          <a:noFill/>
        </p:spPr>
        <p:txBody>
          <a:bodyPr wrap="square" rtlCol="0">
            <a:spAutoFit/>
          </a:bodyPr>
          <a:lstStyle/>
          <a:p>
            <a:r>
              <a:rPr lang="en-SE" dirty="0"/>
              <a:t>Flow cytometry</a:t>
            </a:r>
          </a:p>
        </p:txBody>
      </p:sp>
    </p:spTree>
    <p:extLst>
      <p:ext uri="{BB962C8B-B14F-4D97-AF65-F5344CB8AC3E}">
        <p14:creationId xmlns:p14="http://schemas.microsoft.com/office/powerpoint/2010/main" val="3644340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126E1B-8F0C-6BAE-0FE7-2872DDFF60E0}"/>
              </a:ext>
            </a:extLst>
          </p:cNvPr>
          <p:cNvPicPr>
            <a:picLocks noChangeAspect="1"/>
          </p:cNvPicPr>
          <p:nvPr/>
        </p:nvPicPr>
        <p:blipFill>
          <a:blip r:embed="rId3"/>
          <a:stretch>
            <a:fillRect/>
          </a:stretch>
        </p:blipFill>
        <p:spPr>
          <a:xfrm>
            <a:off x="1734378" y="1810239"/>
            <a:ext cx="8723244" cy="2741193"/>
          </a:xfrm>
          <a:prstGeom prst="rect">
            <a:avLst/>
          </a:prstGeom>
        </p:spPr>
        <p:style>
          <a:lnRef idx="2">
            <a:schemeClr val="dk1"/>
          </a:lnRef>
          <a:fillRef idx="1">
            <a:schemeClr val="lt1"/>
          </a:fillRef>
          <a:effectRef idx="0">
            <a:schemeClr val="dk1"/>
          </a:effectRef>
          <a:fontRef idx="minor">
            <a:schemeClr val="dk1"/>
          </a:fontRef>
        </p:style>
      </p:pic>
      <p:sp>
        <p:nvSpPr>
          <p:cNvPr id="5" name="TextBox 4">
            <a:extLst>
              <a:ext uri="{FF2B5EF4-FFF2-40B4-BE49-F238E27FC236}">
                <a16:creationId xmlns:a16="http://schemas.microsoft.com/office/drawing/2014/main" id="{FFD29C76-DE4E-3CD3-DBA2-FF15082ECF5A}"/>
              </a:ext>
            </a:extLst>
          </p:cNvPr>
          <p:cNvSpPr txBox="1"/>
          <p:nvPr/>
        </p:nvSpPr>
        <p:spPr>
          <a:xfrm>
            <a:off x="9554818" y="6294783"/>
            <a:ext cx="2637182" cy="338554"/>
          </a:xfrm>
          <a:prstGeom prst="rect">
            <a:avLst/>
          </a:prstGeom>
          <a:noFill/>
        </p:spPr>
        <p:txBody>
          <a:bodyPr wrap="square" rtlCol="0">
            <a:spAutoFit/>
          </a:bodyPr>
          <a:lstStyle/>
          <a:p>
            <a:r>
              <a:rPr lang="en-SE" sz="1600" dirty="0">
                <a:latin typeface="Times New Roman" panose="02020603050405020304" pitchFamily="18" charset="0"/>
                <a:cs typeface="Times New Roman" panose="02020603050405020304" pitchFamily="18" charset="0"/>
              </a:rPr>
              <a:t>Svensson et al. 2018 Nature</a:t>
            </a:r>
          </a:p>
        </p:txBody>
      </p:sp>
      <p:sp>
        <p:nvSpPr>
          <p:cNvPr id="2" name="Oval 1">
            <a:extLst>
              <a:ext uri="{FF2B5EF4-FFF2-40B4-BE49-F238E27FC236}">
                <a16:creationId xmlns:a16="http://schemas.microsoft.com/office/drawing/2014/main" id="{232426B0-DDC6-F4F0-7276-4C73D806E0B6}"/>
              </a:ext>
            </a:extLst>
          </p:cNvPr>
          <p:cNvSpPr/>
          <p:nvPr/>
        </p:nvSpPr>
        <p:spPr>
          <a:xfrm rot="20911533">
            <a:off x="7483587" y="2048071"/>
            <a:ext cx="2175905" cy="131196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3" name="5-point Star 2">
            <a:extLst>
              <a:ext uri="{FF2B5EF4-FFF2-40B4-BE49-F238E27FC236}">
                <a16:creationId xmlns:a16="http://schemas.microsoft.com/office/drawing/2014/main" id="{E2FBCEC2-2F87-9513-A985-0231A54EEDAB}"/>
              </a:ext>
            </a:extLst>
          </p:cNvPr>
          <p:cNvSpPr/>
          <p:nvPr/>
        </p:nvSpPr>
        <p:spPr>
          <a:xfrm>
            <a:off x="8974161" y="2209277"/>
            <a:ext cx="185531" cy="198783"/>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38791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D23E8C-D225-41CB-6F30-19E3F0AC7226}"/>
              </a:ext>
            </a:extLst>
          </p:cNvPr>
          <p:cNvSpPr txBox="1"/>
          <p:nvPr/>
        </p:nvSpPr>
        <p:spPr>
          <a:xfrm>
            <a:off x="1338470" y="689113"/>
            <a:ext cx="3617843" cy="461665"/>
          </a:xfrm>
          <a:prstGeom prst="rect">
            <a:avLst/>
          </a:prstGeom>
          <a:noFill/>
        </p:spPr>
        <p:txBody>
          <a:bodyPr wrap="square" rtlCol="0">
            <a:spAutoFit/>
          </a:bodyPr>
          <a:lstStyle/>
          <a:p>
            <a:r>
              <a:rPr lang="en-SE" sz="2400" dirty="0">
                <a:latin typeface="Berlin Sans FB" panose="020E0602020502020306" pitchFamily="34" charset="77"/>
              </a:rPr>
              <a:t>10X Genomics</a:t>
            </a:r>
          </a:p>
        </p:txBody>
      </p:sp>
      <p:sp>
        <p:nvSpPr>
          <p:cNvPr id="6" name="TextBox 5">
            <a:extLst>
              <a:ext uri="{FF2B5EF4-FFF2-40B4-BE49-F238E27FC236}">
                <a16:creationId xmlns:a16="http://schemas.microsoft.com/office/drawing/2014/main" id="{8FEF5A2E-D5B0-16A2-9276-2D6D33E43947}"/>
              </a:ext>
            </a:extLst>
          </p:cNvPr>
          <p:cNvSpPr txBox="1"/>
          <p:nvPr/>
        </p:nvSpPr>
        <p:spPr>
          <a:xfrm>
            <a:off x="9183757" y="6294783"/>
            <a:ext cx="3008243" cy="338554"/>
          </a:xfrm>
          <a:prstGeom prst="rect">
            <a:avLst/>
          </a:prstGeom>
          <a:noFill/>
        </p:spPr>
        <p:txBody>
          <a:bodyPr wrap="square" rtlCol="0">
            <a:spAutoFit/>
          </a:bodyPr>
          <a:lstStyle/>
          <a:p>
            <a:r>
              <a:rPr lang="en-SE" sz="1600" dirty="0">
                <a:latin typeface="Times New Roman" panose="02020603050405020304" pitchFamily="18" charset="0"/>
                <a:cs typeface="Times New Roman" panose="02020603050405020304" pitchFamily="18" charset="0"/>
              </a:rPr>
              <a:t>Probst et al. 2022 BMC genomics</a:t>
            </a:r>
          </a:p>
        </p:txBody>
      </p:sp>
      <p:grpSp>
        <p:nvGrpSpPr>
          <p:cNvPr id="11" name="Group 10">
            <a:extLst>
              <a:ext uri="{FF2B5EF4-FFF2-40B4-BE49-F238E27FC236}">
                <a16:creationId xmlns:a16="http://schemas.microsoft.com/office/drawing/2014/main" id="{66C5C23D-F5C8-CB18-7E56-8A3CC4A0DD77}"/>
              </a:ext>
            </a:extLst>
          </p:cNvPr>
          <p:cNvGrpSpPr/>
          <p:nvPr/>
        </p:nvGrpSpPr>
        <p:grpSpPr>
          <a:xfrm>
            <a:off x="953752" y="2247900"/>
            <a:ext cx="7721600" cy="2362200"/>
            <a:chOff x="2235200" y="2247900"/>
            <a:chExt cx="7721600" cy="2362200"/>
          </a:xfrm>
        </p:grpSpPr>
        <p:grpSp>
          <p:nvGrpSpPr>
            <p:cNvPr id="10" name="Group 9">
              <a:extLst>
                <a:ext uri="{FF2B5EF4-FFF2-40B4-BE49-F238E27FC236}">
                  <a16:creationId xmlns:a16="http://schemas.microsoft.com/office/drawing/2014/main" id="{D086F39B-2B2C-EDA9-6A17-B04FD4D8AD30}"/>
                </a:ext>
              </a:extLst>
            </p:cNvPr>
            <p:cNvGrpSpPr/>
            <p:nvPr/>
          </p:nvGrpSpPr>
          <p:grpSpPr>
            <a:xfrm>
              <a:off x="2235200" y="2247900"/>
              <a:ext cx="7721600" cy="2362200"/>
              <a:chOff x="2235200" y="2247900"/>
              <a:chExt cx="7721600" cy="2362200"/>
            </a:xfrm>
          </p:grpSpPr>
          <p:pic>
            <p:nvPicPr>
              <p:cNvPr id="7" name="Picture 6">
                <a:extLst>
                  <a:ext uri="{FF2B5EF4-FFF2-40B4-BE49-F238E27FC236}">
                    <a16:creationId xmlns:a16="http://schemas.microsoft.com/office/drawing/2014/main" id="{92648704-FC04-CDA5-6D80-1D17D2D41488}"/>
                  </a:ext>
                </a:extLst>
              </p:cNvPr>
              <p:cNvPicPr>
                <a:picLocks noChangeAspect="1"/>
              </p:cNvPicPr>
              <p:nvPr/>
            </p:nvPicPr>
            <p:blipFill>
              <a:blip r:embed="rId3"/>
              <a:stretch>
                <a:fillRect/>
              </a:stretch>
            </p:blipFill>
            <p:spPr>
              <a:xfrm>
                <a:off x="2235200" y="2247900"/>
                <a:ext cx="7721600" cy="2362200"/>
              </a:xfrm>
              <a:prstGeom prst="rect">
                <a:avLst/>
              </a:prstGeom>
            </p:spPr>
          </p:pic>
          <p:sp>
            <p:nvSpPr>
              <p:cNvPr id="2" name="TextBox 1">
                <a:extLst>
                  <a:ext uri="{FF2B5EF4-FFF2-40B4-BE49-F238E27FC236}">
                    <a16:creationId xmlns:a16="http://schemas.microsoft.com/office/drawing/2014/main" id="{2A7E6484-0518-5915-9002-C60961555176}"/>
                  </a:ext>
                </a:extLst>
              </p:cNvPr>
              <p:cNvSpPr txBox="1"/>
              <p:nvPr/>
            </p:nvSpPr>
            <p:spPr>
              <a:xfrm>
                <a:off x="6310649" y="2247900"/>
                <a:ext cx="1622738" cy="369332"/>
              </a:xfrm>
              <a:prstGeom prst="rect">
                <a:avLst/>
              </a:prstGeom>
              <a:solidFill>
                <a:schemeClr val="tx2">
                  <a:lumMod val="25000"/>
                  <a:lumOff val="75000"/>
                </a:schemeClr>
              </a:solidFill>
            </p:spPr>
            <p:style>
              <a:lnRef idx="3">
                <a:schemeClr val="lt1"/>
              </a:lnRef>
              <a:fillRef idx="1">
                <a:schemeClr val="accent1"/>
              </a:fillRef>
              <a:effectRef idx="1">
                <a:schemeClr val="accent1"/>
              </a:effectRef>
              <a:fontRef idx="minor">
                <a:schemeClr val="lt1"/>
              </a:fontRef>
            </p:style>
            <p:txBody>
              <a:bodyPr wrap="square" rtlCol="0">
                <a:spAutoFit/>
              </a:bodyPr>
              <a:lstStyle/>
              <a:p>
                <a:r>
                  <a:rPr lang="en-GB" b="1" dirty="0">
                    <a:latin typeface="Times New Roman" panose="02020603050405020304" pitchFamily="18" charset="0"/>
                    <a:cs typeface="Times New Roman" panose="02020603050405020304" pitchFamily="18" charset="0"/>
                  </a:rPr>
                  <a:t>Droplet</a:t>
                </a:r>
                <a:r>
                  <a:rPr lang="en-SE" b="1" dirty="0">
                    <a:latin typeface="Times New Roman" panose="02020603050405020304" pitchFamily="18" charset="0"/>
                    <a:cs typeface="Times New Roman" panose="02020603050405020304" pitchFamily="18" charset="0"/>
                  </a:rPr>
                  <a:t>-based</a:t>
                </a:r>
              </a:p>
            </p:txBody>
          </p:sp>
        </p:grpSp>
        <p:cxnSp>
          <p:nvCxnSpPr>
            <p:cNvPr id="4" name="Straight Arrow Connector 3">
              <a:extLst>
                <a:ext uri="{FF2B5EF4-FFF2-40B4-BE49-F238E27FC236}">
                  <a16:creationId xmlns:a16="http://schemas.microsoft.com/office/drawing/2014/main" id="{6997AB9B-A24F-021A-94A1-7B9D76D9AC97}"/>
                </a:ext>
              </a:extLst>
            </p:cNvPr>
            <p:cNvCxnSpPr/>
            <p:nvPr/>
          </p:nvCxnSpPr>
          <p:spPr>
            <a:xfrm flipV="1">
              <a:off x="6310649" y="2617232"/>
              <a:ext cx="206061" cy="654002"/>
            </a:xfrm>
            <a:prstGeom prst="straightConnector1">
              <a:avLst/>
            </a:prstGeom>
            <a:ln>
              <a:solidFill>
                <a:schemeClr val="tx2">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938AEC9-4177-AD75-EE9D-CBBE3364D0B2}"/>
                </a:ext>
              </a:extLst>
            </p:cNvPr>
            <p:cNvCxnSpPr/>
            <p:nvPr/>
          </p:nvCxnSpPr>
          <p:spPr>
            <a:xfrm flipV="1">
              <a:off x="7778839" y="2617232"/>
              <a:ext cx="0" cy="937337"/>
            </a:xfrm>
            <a:prstGeom prst="straightConnector1">
              <a:avLst/>
            </a:prstGeom>
            <a:ln>
              <a:solidFill>
                <a:schemeClr val="tx2">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12" name="TextBox 11">
            <a:extLst>
              <a:ext uri="{FF2B5EF4-FFF2-40B4-BE49-F238E27FC236}">
                <a16:creationId xmlns:a16="http://schemas.microsoft.com/office/drawing/2014/main" id="{CEB1BC9F-D17A-AB11-C067-8E04BB0285CD}"/>
              </a:ext>
            </a:extLst>
          </p:cNvPr>
          <p:cNvSpPr txBox="1"/>
          <p:nvPr/>
        </p:nvSpPr>
        <p:spPr>
          <a:xfrm>
            <a:off x="8622539" y="2617232"/>
            <a:ext cx="3418481" cy="156966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Only seq. 3’ end (mRNA)</a:t>
            </a:r>
          </a:p>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Lots of missing values</a:t>
            </a:r>
          </a:p>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A large number of cells</a:t>
            </a:r>
          </a:p>
        </p:txBody>
      </p:sp>
      <p:sp>
        <p:nvSpPr>
          <p:cNvPr id="13" name="TextBox 12">
            <a:extLst>
              <a:ext uri="{FF2B5EF4-FFF2-40B4-BE49-F238E27FC236}">
                <a16:creationId xmlns:a16="http://schemas.microsoft.com/office/drawing/2014/main" id="{59851A71-AA11-A1D0-533B-A5283F64F468}"/>
              </a:ext>
            </a:extLst>
          </p:cNvPr>
          <p:cNvSpPr txBox="1"/>
          <p:nvPr/>
        </p:nvSpPr>
        <p:spPr>
          <a:xfrm>
            <a:off x="4299819" y="3934497"/>
            <a:ext cx="656494" cy="369332"/>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SE" dirty="0"/>
              <a:t>Cell</a:t>
            </a:r>
          </a:p>
        </p:txBody>
      </p:sp>
      <p:cxnSp>
        <p:nvCxnSpPr>
          <p:cNvPr id="14" name="Straight Arrow Connector 13">
            <a:extLst>
              <a:ext uri="{FF2B5EF4-FFF2-40B4-BE49-F238E27FC236}">
                <a16:creationId xmlns:a16="http://schemas.microsoft.com/office/drawing/2014/main" id="{E347EC2C-E931-76D9-32CC-49B9797E77B5}"/>
              </a:ext>
            </a:extLst>
          </p:cNvPr>
          <p:cNvCxnSpPr>
            <a:cxnSpLocks/>
          </p:cNvCxnSpPr>
          <p:nvPr/>
        </p:nvCxnSpPr>
        <p:spPr>
          <a:xfrm>
            <a:off x="4509077" y="3554569"/>
            <a:ext cx="0" cy="3799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C352D5A-FFDC-2548-CF50-80DFAF2B1454}"/>
              </a:ext>
            </a:extLst>
          </p:cNvPr>
          <p:cNvCxnSpPr>
            <a:cxnSpLocks/>
            <a:endCxn id="13" idx="3"/>
          </p:cNvCxnSpPr>
          <p:nvPr/>
        </p:nvCxnSpPr>
        <p:spPr>
          <a:xfrm flipH="1" flipV="1">
            <a:off x="4956313" y="4119163"/>
            <a:ext cx="510094" cy="89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16317955-4ECF-6D9D-1217-2B1BCA9C87FE}"/>
              </a:ext>
            </a:extLst>
          </p:cNvPr>
          <p:cNvSpPr txBox="1"/>
          <p:nvPr/>
        </p:nvSpPr>
        <p:spPr>
          <a:xfrm>
            <a:off x="5945461" y="4413881"/>
            <a:ext cx="1103860" cy="523220"/>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SE" sz="1400" dirty="0"/>
              <a:t>Oligo-taged bead</a:t>
            </a:r>
          </a:p>
        </p:txBody>
      </p:sp>
      <p:cxnSp>
        <p:nvCxnSpPr>
          <p:cNvPr id="21" name="Straight Arrow Connector 20">
            <a:extLst>
              <a:ext uri="{FF2B5EF4-FFF2-40B4-BE49-F238E27FC236}">
                <a16:creationId xmlns:a16="http://schemas.microsoft.com/office/drawing/2014/main" id="{25B30A95-02A6-907A-B83C-C9DCFBF4CEEF}"/>
              </a:ext>
            </a:extLst>
          </p:cNvPr>
          <p:cNvCxnSpPr>
            <a:cxnSpLocks/>
          </p:cNvCxnSpPr>
          <p:nvPr/>
        </p:nvCxnSpPr>
        <p:spPr>
          <a:xfrm>
            <a:off x="5891409" y="4199233"/>
            <a:ext cx="316208" cy="214648"/>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D6E4BDD8-D64F-B003-FBE3-27255F0892BD}"/>
              </a:ext>
            </a:extLst>
          </p:cNvPr>
          <p:cNvCxnSpPr>
            <a:cxnSpLocks/>
            <a:endCxn id="19" idx="0"/>
          </p:cNvCxnSpPr>
          <p:nvPr/>
        </p:nvCxnSpPr>
        <p:spPr>
          <a:xfrm>
            <a:off x="6434111" y="3852231"/>
            <a:ext cx="63280" cy="561650"/>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8B23755B-E17E-C917-0A84-DFE6809D10DB}"/>
              </a:ext>
            </a:extLst>
          </p:cNvPr>
          <p:cNvSpPr txBox="1"/>
          <p:nvPr/>
        </p:nvSpPr>
        <p:spPr>
          <a:xfrm>
            <a:off x="1208868" y="5424407"/>
            <a:ext cx="3300209" cy="369332"/>
          </a:xfrm>
          <a:prstGeom prst="rect">
            <a:avLst/>
          </a:prstGeom>
          <a:noFill/>
        </p:spPr>
        <p:txBody>
          <a:bodyPr wrap="square" rtlCol="0">
            <a:spAutoFit/>
          </a:bodyPr>
          <a:lstStyle/>
          <a:p>
            <a:r>
              <a:rPr lang="en-SE" dirty="0"/>
              <a:t>Microfluidic device</a:t>
            </a:r>
          </a:p>
        </p:txBody>
      </p:sp>
    </p:spTree>
    <p:extLst>
      <p:ext uri="{BB962C8B-B14F-4D97-AF65-F5344CB8AC3E}">
        <p14:creationId xmlns:p14="http://schemas.microsoft.com/office/powerpoint/2010/main" val="292946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C677EE-C055-640F-4F6B-04B4336632DF}"/>
              </a:ext>
            </a:extLst>
          </p:cNvPr>
          <p:cNvSpPr>
            <a:spLocks noGrp="1"/>
          </p:cNvSpPr>
          <p:nvPr>
            <p:ph idx="1"/>
          </p:nvPr>
        </p:nvSpPr>
        <p:spPr/>
        <p:txBody>
          <a:bodyPr/>
          <a:lstStyle/>
          <a:p>
            <a:pPr>
              <a:buFont typeface="Wingdings" pitchFamily="2" charset="2"/>
              <a:buChar char="v"/>
            </a:pPr>
            <a:r>
              <a:rPr lang="en-SE" dirty="0">
                <a:latin typeface="Berlin Sans FB" panose="020E0602020502020306" pitchFamily="34" charset="77"/>
              </a:rPr>
              <a:t>What is scRNAseq</a:t>
            </a:r>
          </a:p>
          <a:p>
            <a:pPr>
              <a:buFont typeface="Wingdings" pitchFamily="2" charset="2"/>
              <a:buChar char="v"/>
            </a:pPr>
            <a:r>
              <a:rPr lang="en-SE" dirty="0">
                <a:latin typeface="Berlin Sans FB" panose="020E0602020502020306" pitchFamily="34" charset="77"/>
              </a:rPr>
              <a:t>How it works</a:t>
            </a:r>
          </a:p>
          <a:p>
            <a:pPr>
              <a:buFont typeface="Wingdings" pitchFamily="2" charset="2"/>
              <a:buChar char="v"/>
            </a:pPr>
            <a:r>
              <a:rPr lang="en-SE" dirty="0">
                <a:latin typeface="Berlin Sans FB" panose="020E0602020502020306" pitchFamily="34" charset="77"/>
              </a:rPr>
              <a:t>The evolution of scRNAseq</a:t>
            </a:r>
          </a:p>
          <a:p>
            <a:pPr>
              <a:buFont typeface="Wingdings" pitchFamily="2" charset="2"/>
              <a:buChar char="v"/>
            </a:pPr>
            <a:r>
              <a:rPr lang="en-SE" dirty="0">
                <a:latin typeface="Berlin Sans FB" panose="020E0602020502020306" pitchFamily="34" charset="77"/>
              </a:rPr>
              <a:t>The difference between bulk RNAseq and scRNAseq</a:t>
            </a:r>
          </a:p>
        </p:txBody>
      </p:sp>
      <p:sp>
        <p:nvSpPr>
          <p:cNvPr id="2" name="TextBox 1">
            <a:extLst>
              <a:ext uri="{FF2B5EF4-FFF2-40B4-BE49-F238E27FC236}">
                <a16:creationId xmlns:a16="http://schemas.microsoft.com/office/drawing/2014/main" id="{FAC03ACD-A9BA-AFA8-337C-C919BEBBE379}"/>
              </a:ext>
            </a:extLst>
          </p:cNvPr>
          <p:cNvSpPr txBox="1"/>
          <p:nvPr/>
        </p:nvSpPr>
        <p:spPr>
          <a:xfrm>
            <a:off x="12344400" y="339213"/>
            <a:ext cx="184731" cy="369332"/>
          </a:xfrm>
          <a:prstGeom prst="rect">
            <a:avLst/>
          </a:prstGeom>
          <a:noFill/>
        </p:spPr>
        <p:txBody>
          <a:bodyPr wrap="none" rtlCol="0">
            <a:spAutoFit/>
          </a:bodyPr>
          <a:lstStyle/>
          <a:p>
            <a:endParaRPr lang="en-SE" dirty="0"/>
          </a:p>
        </p:txBody>
      </p:sp>
    </p:spTree>
    <p:extLst>
      <p:ext uri="{BB962C8B-B14F-4D97-AF65-F5344CB8AC3E}">
        <p14:creationId xmlns:p14="http://schemas.microsoft.com/office/powerpoint/2010/main" val="491261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EB95-C85C-0BCE-9F81-3D78E6A8EB3A}"/>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E307F12D-DED4-1284-1A19-9BB6770A58C0}"/>
              </a:ext>
            </a:extLst>
          </p:cNvPr>
          <p:cNvSpPr>
            <a:spLocks noGrp="1"/>
          </p:cNvSpPr>
          <p:nvPr>
            <p:ph idx="1"/>
          </p:nvPr>
        </p:nvSpPr>
        <p:spPr/>
        <p:txBody>
          <a:bodyPr/>
          <a:lstStyle/>
          <a:p>
            <a:endParaRPr lang="en-SE"/>
          </a:p>
        </p:txBody>
      </p:sp>
    </p:spTree>
    <p:extLst>
      <p:ext uri="{BB962C8B-B14F-4D97-AF65-F5344CB8AC3E}">
        <p14:creationId xmlns:p14="http://schemas.microsoft.com/office/powerpoint/2010/main" val="3849304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A9B95-82F6-C200-3944-7497C930670B}"/>
              </a:ext>
            </a:extLst>
          </p:cNvPr>
          <p:cNvSpPr>
            <a:spLocks noGrp="1"/>
          </p:cNvSpPr>
          <p:nvPr>
            <p:ph type="title"/>
          </p:nvPr>
        </p:nvSpPr>
        <p:spPr/>
        <p:txBody>
          <a:bodyPr/>
          <a:lstStyle/>
          <a:p>
            <a:endParaRPr lang="en-SE"/>
          </a:p>
        </p:txBody>
      </p:sp>
      <p:sp>
        <p:nvSpPr>
          <p:cNvPr id="3" name="Content Placeholder 2">
            <a:extLst>
              <a:ext uri="{FF2B5EF4-FFF2-40B4-BE49-F238E27FC236}">
                <a16:creationId xmlns:a16="http://schemas.microsoft.com/office/drawing/2014/main" id="{52171D2E-F5E6-89CE-5E1B-5381DCEB84BC}"/>
              </a:ext>
            </a:extLst>
          </p:cNvPr>
          <p:cNvSpPr>
            <a:spLocks noGrp="1"/>
          </p:cNvSpPr>
          <p:nvPr>
            <p:ph idx="1"/>
          </p:nvPr>
        </p:nvSpPr>
        <p:spPr/>
        <p:txBody>
          <a:bodyPr/>
          <a:lstStyle/>
          <a:p>
            <a:endParaRPr lang="en-SE"/>
          </a:p>
        </p:txBody>
      </p:sp>
    </p:spTree>
    <p:extLst>
      <p:ext uri="{BB962C8B-B14F-4D97-AF65-F5344CB8AC3E}">
        <p14:creationId xmlns:p14="http://schemas.microsoft.com/office/powerpoint/2010/main" val="306796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C4318-7309-14CA-959D-707DE4A6C75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D3DAD0A-934E-C963-57FD-3688DC6B2154}"/>
              </a:ext>
            </a:extLst>
          </p:cNvPr>
          <p:cNvSpPr txBox="1"/>
          <p:nvPr/>
        </p:nvSpPr>
        <p:spPr>
          <a:xfrm>
            <a:off x="8912180" y="6297249"/>
            <a:ext cx="2717442" cy="369332"/>
          </a:xfrm>
          <a:prstGeom prst="rect">
            <a:avLst/>
          </a:prstGeom>
          <a:noFill/>
        </p:spPr>
        <p:txBody>
          <a:bodyPr wrap="square" rtlCol="0">
            <a:spAutoFit/>
          </a:bodyPr>
          <a:lstStyle/>
          <a:p>
            <a:r>
              <a:rPr lang="en-GB" dirty="0"/>
              <a:t>https://</a:t>
            </a:r>
            <a:r>
              <a:rPr lang="en-GB" dirty="0" err="1"/>
              <a:t>www.azenta.com</a:t>
            </a:r>
            <a:endParaRPr lang="en-SE" dirty="0"/>
          </a:p>
        </p:txBody>
      </p:sp>
      <p:cxnSp>
        <p:nvCxnSpPr>
          <p:cNvPr id="49" name="Straight Arrow Connector 48">
            <a:extLst>
              <a:ext uri="{FF2B5EF4-FFF2-40B4-BE49-F238E27FC236}">
                <a16:creationId xmlns:a16="http://schemas.microsoft.com/office/drawing/2014/main" id="{BCA938BA-83F7-212B-16C3-0B7D3C15E1A9}"/>
              </a:ext>
            </a:extLst>
          </p:cNvPr>
          <p:cNvCxnSpPr>
            <a:cxnSpLocks/>
          </p:cNvCxnSpPr>
          <p:nvPr/>
        </p:nvCxnSpPr>
        <p:spPr>
          <a:xfrm>
            <a:off x="9567008" y="2086765"/>
            <a:ext cx="0" cy="6738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06E8DFE7-D864-DAC2-B473-386D4C8C195C}"/>
              </a:ext>
            </a:extLst>
          </p:cNvPr>
          <p:cNvGrpSpPr/>
          <p:nvPr/>
        </p:nvGrpSpPr>
        <p:grpSpPr>
          <a:xfrm>
            <a:off x="975714" y="384602"/>
            <a:ext cx="10240571" cy="6380650"/>
            <a:chOff x="1790105" y="101265"/>
            <a:chExt cx="10240571" cy="6380650"/>
          </a:xfrm>
        </p:grpSpPr>
        <p:pic>
          <p:nvPicPr>
            <p:cNvPr id="4" name="Picture 3">
              <a:extLst>
                <a:ext uri="{FF2B5EF4-FFF2-40B4-BE49-F238E27FC236}">
                  <a16:creationId xmlns:a16="http://schemas.microsoft.com/office/drawing/2014/main" id="{367864D8-057B-7982-81C1-279FD23638AF}"/>
                </a:ext>
              </a:extLst>
            </p:cNvPr>
            <p:cNvPicPr>
              <a:picLocks noChangeAspect="1"/>
            </p:cNvPicPr>
            <p:nvPr/>
          </p:nvPicPr>
          <p:blipFill>
            <a:blip r:embed="rId3"/>
            <a:stretch>
              <a:fillRect/>
            </a:stretch>
          </p:blipFill>
          <p:spPr>
            <a:xfrm>
              <a:off x="1790105" y="376084"/>
              <a:ext cx="6369468" cy="6105831"/>
            </a:xfrm>
            <a:prstGeom prst="rect">
              <a:avLst/>
            </a:prstGeom>
          </p:spPr>
        </p:pic>
        <p:pic>
          <p:nvPicPr>
            <p:cNvPr id="6" name="Picture 5">
              <a:extLst>
                <a:ext uri="{FF2B5EF4-FFF2-40B4-BE49-F238E27FC236}">
                  <a16:creationId xmlns:a16="http://schemas.microsoft.com/office/drawing/2014/main" id="{CDB8F711-4972-D273-2A97-AAF61E3244E0}"/>
                </a:ext>
              </a:extLst>
            </p:cNvPr>
            <p:cNvPicPr>
              <a:picLocks noChangeAspect="1"/>
            </p:cNvPicPr>
            <p:nvPr/>
          </p:nvPicPr>
          <p:blipFill>
            <a:blip r:embed="rId4"/>
            <a:stretch>
              <a:fillRect/>
            </a:stretch>
          </p:blipFill>
          <p:spPr>
            <a:xfrm>
              <a:off x="8663067" y="651159"/>
              <a:ext cx="3010290" cy="1892182"/>
            </a:xfrm>
            <a:prstGeom prst="rect">
              <a:avLst/>
            </a:prstGeom>
          </p:spPr>
          <p:style>
            <a:lnRef idx="2">
              <a:schemeClr val="accent3"/>
            </a:lnRef>
            <a:fillRef idx="1">
              <a:schemeClr val="lt1"/>
            </a:fillRef>
            <a:effectRef idx="0">
              <a:schemeClr val="accent3"/>
            </a:effectRef>
            <a:fontRef idx="minor">
              <a:schemeClr val="dk1"/>
            </a:fontRef>
          </p:style>
        </p:pic>
        <p:cxnSp>
          <p:nvCxnSpPr>
            <p:cNvPr id="9" name="Straight Arrow Connector 8">
              <a:extLst>
                <a:ext uri="{FF2B5EF4-FFF2-40B4-BE49-F238E27FC236}">
                  <a16:creationId xmlns:a16="http://schemas.microsoft.com/office/drawing/2014/main" id="{5F32ABD0-47ED-31EC-0BD5-7F019C037693}"/>
                </a:ext>
              </a:extLst>
            </p:cNvPr>
            <p:cNvCxnSpPr>
              <a:cxnSpLocks/>
            </p:cNvCxnSpPr>
            <p:nvPr/>
          </p:nvCxnSpPr>
          <p:spPr>
            <a:xfrm flipV="1">
              <a:off x="7361082" y="472121"/>
              <a:ext cx="379121" cy="11892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CD9F04C-77EC-AC21-2675-6A1A0ED4924E}"/>
                </a:ext>
              </a:extLst>
            </p:cNvPr>
            <p:cNvSpPr txBox="1"/>
            <p:nvPr/>
          </p:nvSpPr>
          <p:spPr>
            <a:xfrm>
              <a:off x="3606055" y="2382591"/>
              <a:ext cx="656494" cy="369332"/>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SE" dirty="0"/>
                <a:t>Cell</a:t>
              </a:r>
            </a:p>
          </p:txBody>
        </p:sp>
        <p:cxnSp>
          <p:nvCxnSpPr>
            <p:cNvPr id="13" name="Straight Arrow Connector 12">
              <a:extLst>
                <a:ext uri="{FF2B5EF4-FFF2-40B4-BE49-F238E27FC236}">
                  <a16:creationId xmlns:a16="http://schemas.microsoft.com/office/drawing/2014/main" id="{B46D278A-76FE-1FF5-6CCF-7A0B53768A5E}"/>
                </a:ext>
              </a:extLst>
            </p:cNvPr>
            <p:cNvCxnSpPr>
              <a:cxnSpLocks/>
            </p:cNvCxnSpPr>
            <p:nvPr/>
          </p:nvCxnSpPr>
          <p:spPr>
            <a:xfrm>
              <a:off x="3515633" y="1934128"/>
              <a:ext cx="237978" cy="4484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B7AC4A7-2164-DA4F-C882-05746AA926EF}"/>
                </a:ext>
              </a:extLst>
            </p:cNvPr>
            <p:cNvCxnSpPr>
              <a:cxnSpLocks/>
            </p:cNvCxnSpPr>
            <p:nvPr/>
          </p:nvCxnSpPr>
          <p:spPr>
            <a:xfrm flipH="1">
              <a:off x="4129914" y="1532586"/>
              <a:ext cx="480723" cy="8500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67887682-A36A-8FE9-899D-B80E2257F521}"/>
                </a:ext>
              </a:extLst>
            </p:cNvPr>
            <p:cNvSpPr txBox="1"/>
            <p:nvPr/>
          </p:nvSpPr>
          <p:spPr>
            <a:xfrm>
              <a:off x="4527702" y="102789"/>
              <a:ext cx="723393" cy="369332"/>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SE" dirty="0"/>
                <a:t>Bead</a:t>
              </a:r>
            </a:p>
          </p:txBody>
        </p:sp>
        <p:sp>
          <p:nvSpPr>
            <p:cNvPr id="20" name="TextBox 19">
              <a:extLst>
                <a:ext uri="{FF2B5EF4-FFF2-40B4-BE49-F238E27FC236}">
                  <a16:creationId xmlns:a16="http://schemas.microsoft.com/office/drawing/2014/main" id="{EDF303EB-432D-FC7D-45B0-754D71C15850}"/>
                </a:ext>
              </a:extLst>
            </p:cNvPr>
            <p:cNvSpPr txBox="1"/>
            <p:nvPr/>
          </p:nvSpPr>
          <p:spPr>
            <a:xfrm>
              <a:off x="5582196" y="107769"/>
              <a:ext cx="785491" cy="369332"/>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SE" dirty="0"/>
                <a:t>Oligo</a:t>
              </a:r>
            </a:p>
          </p:txBody>
        </p:sp>
        <p:cxnSp>
          <p:nvCxnSpPr>
            <p:cNvPr id="21" name="Straight Arrow Connector 20">
              <a:extLst>
                <a:ext uri="{FF2B5EF4-FFF2-40B4-BE49-F238E27FC236}">
                  <a16:creationId xmlns:a16="http://schemas.microsoft.com/office/drawing/2014/main" id="{117A96B5-6E7E-9225-326F-427C19318228}"/>
                </a:ext>
              </a:extLst>
            </p:cNvPr>
            <p:cNvCxnSpPr>
              <a:cxnSpLocks/>
            </p:cNvCxnSpPr>
            <p:nvPr/>
          </p:nvCxnSpPr>
          <p:spPr>
            <a:xfrm flipV="1">
              <a:off x="4765458" y="472121"/>
              <a:ext cx="0" cy="2916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642422BE-4730-4BAB-A5F3-137A8CC55025}"/>
                </a:ext>
              </a:extLst>
            </p:cNvPr>
            <p:cNvCxnSpPr>
              <a:cxnSpLocks/>
              <a:endCxn id="19" idx="2"/>
            </p:cNvCxnSpPr>
            <p:nvPr/>
          </p:nvCxnSpPr>
          <p:spPr>
            <a:xfrm flipH="1" flipV="1">
              <a:off x="4889399" y="472121"/>
              <a:ext cx="43674" cy="10604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5E56DA96-E4E3-80C8-BE75-E1FD26439379}"/>
                </a:ext>
              </a:extLst>
            </p:cNvPr>
            <p:cNvCxnSpPr>
              <a:cxnSpLocks/>
            </p:cNvCxnSpPr>
            <p:nvPr/>
          </p:nvCxnSpPr>
          <p:spPr>
            <a:xfrm flipH="1" flipV="1">
              <a:off x="5034424" y="472121"/>
              <a:ext cx="430611" cy="3843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C22E6CBD-EFFB-2CA8-EADD-15A97D0E2A6E}"/>
                </a:ext>
              </a:extLst>
            </p:cNvPr>
            <p:cNvCxnSpPr>
              <a:cxnSpLocks/>
              <a:endCxn id="20" idx="2"/>
            </p:cNvCxnSpPr>
            <p:nvPr/>
          </p:nvCxnSpPr>
          <p:spPr>
            <a:xfrm flipV="1">
              <a:off x="5854679" y="477101"/>
              <a:ext cx="120263" cy="4253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C730B629-91B0-4F4E-0A5F-74968F029120}"/>
                </a:ext>
              </a:extLst>
            </p:cNvPr>
            <p:cNvSpPr txBox="1"/>
            <p:nvPr/>
          </p:nvSpPr>
          <p:spPr>
            <a:xfrm>
              <a:off x="7647875" y="107769"/>
              <a:ext cx="723393" cy="369332"/>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SE" dirty="0"/>
                <a:t>Bead</a:t>
              </a:r>
            </a:p>
          </p:txBody>
        </p:sp>
        <p:cxnSp>
          <p:nvCxnSpPr>
            <p:cNvPr id="36" name="Straight Arrow Connector 35">
              <a:extLst>
                <a:ext uri="{FF2B5EF4-FFF2-40B4-BE49-F238E27FC236}">
                  <a16:creationId xmlns:a16="http://schemas.microsoft.com/office/drawing/2014/main" id="{A8F35C19-1772-0F9C-E85B-93FA9AA421DB}"/>
                </a:ext>
              </a:extLst>
            </p:cNvPr>
            <p:cNvCxnSpPr>
              <a:cxnSpLocks/>
            </p:cNvCxnSpPr>
            <p:nvPr/>
          </p:nvCxnSpPr>
          <p:spPr>
            <a:xfrm flipV="1">
              <a:off x="7298627" y="472121"/>
              <a:ext cx="349248" cy="3840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E12126AC-0C66-635A-0B6C-3A948682D53E}"/>
                </a:ext>
              </a:extLst>
            </p:cNvPr>
            <p:cNvSpPr txBox="1"/>
            <p:nvPr/>
          </p:nvSpPr>
          <p:spPr>
            <a:xfrm>
              <a:off x="7819990" y="2382590"/>
              <a:ext cx="816588" cy="646331"/>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GB" dirty="0"/>
                <a:t>L</a:t>
              </a:r>
              <a:r>
                <a:rPr lang="en-SE" dirty="0"/>
                <a:t>ysed cell</a:t>
              </a:r>
            </a:p>
          </p:txBody>
        </p:sp>
        <p:cxnSp>
          <p:nvCxnSpPr>
            <p:cNvPr id="41" name="Straight Arrow Connector 40">
              <a:extLst>
                <a:ext uri="{FF2B5EF4-FFF2-40B4-BE49-F238E27FC236}">
                  <a16:creationId xmlns:a16="http://schemas.microsoft.com/office/drawing/2014/main" id="{A0229D3A-8567-4EEA-3981-6E748FDEC7EA}"/>
                </a:ext>
              </a:extLst>
            </p:cNvPr>
            <p:cNvCxnSpPr>
              <a:cxnSpLocks/>
            </p:cNvCxnSpPr>
            <p:nvPr/>
          </p:nvCxnSpPr>
          <p:spPr>
            <a:xfrm>
              <a:off x="7491654" y="2086765"/>
              <a:ext cx="328336" cy="2958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D24A5EA1-06E5-5926-B28D-1FDFD3234BBE}"/>
                </a:ext>
              </a:extLst>
            </p:cNvPr>
            <p:cNvSpPr txBox="1"/>
            <p:nvPr/>
          </p:nvSpPr>
          <p:spPr>
            <a:xfrm>
              <a:off x="9020391" y="101265"/>
              <a:ext cx="3010285" cy="369332"/>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sv-SE" b="1" dirty="0" err="1"/>
                <a:t>Barcode</a:t>
              </a:r>
              <a:r>
                <a:rPr lang="sv-SE" dirty="0"/>
                <a:t>: ind. cell </a:t>
              </a:r>
              <a:r>
                <a:rPr lang="sv-SE" dirty="0" err="1"/>
                <a:t>identifier</a:t>
              </a:r>
              <a:endParaRPr lang="en-SE" dirty="0"/>
            </a:p>
          </p:txBody>
        </p:sp>
        <p:cxnSp>
          <p:nvCxnSpPr>
            <p:cNvPr id="46" name="Straight Arrow Connector 45">
              <a:extLst>
                <a:ext uri="{FF2B5EF4-FFF2-40B4-BE49-F238E27FC236}">
                  <a16:creationId xmlns:a16="http://schemas.microsoft.com/office/drawing/2014/main" id="{E69DC95A-67C9-F479-F9BF-A80131AB79D2}"/>
                </a:ext>
              </a:extLst>
            </p:cNvPr>
            <p:cNvCxnSpPr>
              <a:cxnSpLocks/>
            </p:cNvCxnSpPr>
            <p:nvPr/>
          </p:nvCxnSpPr>
          <p:spPr>
            <a:xfrm flipV="1">
              <a:off x="9358775" y="477101"/>
              <a:ext cx="0" cy="15281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90EE2F79-799F-80B0-23A9-6D45BC0BF2B7}"/>
                </a:ext>
              </a:extLst>
            </p:cNvPr>
            <p:cNvSpPr txBox="1"/>
            <p:nvPr/>
          </p:nvSpPr>
          <p:spPr>
            <a:xfrm>
              <a:off x="9020391" y="2760646"/>
              <a:ext cx="1575388" cy="923330"/>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r>
                <a:rPr lang="en-SE" b="1" dirty="0"/>
                <a:t>UMI</a:t>
              </a:r>
              <a:r>
                <a:rPr lang="en-SE" dirty="0"/>
                <a:t>: ind. RNA molecule identifier</a:t>
              </a:r>
            </a:p>
          </p:txBody>
        </p:sp>
        <p:cxnSp>
          <p:nvCxnSpPr>
            <p:cNvPr id="51" name="Straight Arrow Connector 50">
              <a:extLst>
                <a:ext uri="{FF2B5EF4-FFF2-40B4-BE49-F238E27FC236}">
                  <a16:creationId xmlns:a16="http://schemas.microsoft.com/office/drawing/2014/main" id="{6880E05F-D4E7-ACF1-32A1-5706002191CF}"/>
                </a:ext>
              </a:extLst>
            </p:cNvPr>
            <p:cNvCxnSpPr>
              <a:cxnSpLocks/>
              <a:endCxn id="11" idx="2"/>
            </p:cNvCxnSpPr>
            <p:nvPr/>
          </p:nvCxnSpPr>
          <p:spPr>
            <a:xfrm flipV="1">
              <a:off x="3243211" y="2751923"/>
              <a:ext cx="691091" cy="15088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8" name="TextBox 7">
            <a:extLst>
              <a:ext uri="{FF2B5EF4-FFF2-40B4-BE49-F238E27FC236}">
                <a16:creationId xmlns:a16="http://schemas.microsoft.com/office/drawing/2014/main" id="{60B28446-906D-C6DE-BA9A-4DAB68C34CB6}"/>
              </a:ext>
            </a:extLst>
          </p:cNvPr>
          <p:cNvSpPr txBox="1"/>
          <p:nvPr/>
        </p:nvSpPr>
        <p:spPr>
          <a:xfrm>
            <a:off x="4385046" y="1873874"/>
            <a:ext cx="1103860" cy="523220"/>
          </a:xfrm>
          <a:prstGeom prst="rect">
            <a:avLst/>
          </a:prstGeom>
          <a:solidFill>
            <a:schemeClr val="bg1"/>
          </a:solidFill>
        </p:spPr>
        <p:txBody>
          <a:bodyPr wrap="square" rtlCol="0">
            <a:spAutoFit/>
          </a:bodyPr>
          <a:lstStyle/>
          <a:p>
            <a:r>
              <a:rPr lang="en-SE" sz="1400" dirty="0"/>
              <a:t>Oligo-taged bead</a:t>
            </a:r>
          </a:p>
        </p:txBody>
      </p:sp>
      <p:cxnSp>
        <p:nvCxnSpPr>
          <p:cNvPr id="10" name="Straight Arrow Connector 9">
            <a:extLst>
              <a:ext uri="{FF2B5EF4-FFF2-40B4-BE49-F238E27FC236}">
                <a16:creationId xmlns:a16="http://schemas.microsoft.com/office/drawing/2014/main" id="{D62267B4-BE1A-A895-34CE-F58933121CC4}"/>
              </a:ext>
            </a:extLst>
          </p:cNvPr>
          <p:cNvCxnSpPr>
            <a:cxnSpLocks/>
          </p:cNvCxnSpPr>
          <p:nvPr/>
        </p:nvCxnSpPr>
        <p:spPr>
          <a:xfrm>
            <a:off x="8765270" y="2358753"/>
            <a:ext cx="0" cy="6852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313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92F34-B696-034A-3F84-B8764B817D1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D3ECE26-4950-50F1-F606-C371F49E8D75}"/>
              </a:ext>
            </a:extLst>
          </p:cNvPr>
          <p:cNvSpPr txBox="1"/>
          <p:nvPr/>
        </p:nvSpPr>
        <p:spPr>
          <a:xfrm>
            <a:off x="2915478" y="225286"/>
            <a:ext cx="6361044" cy="1200329"/>
          </a:xfrm>
          <a:prstGeom prst="rect">
            <a:avLst/>
          </a:prstGeom>
          <a:noFill/>
        </p:spPr>
        <p:txBody>
          <a:bodyPr wrap="square" rtlCol="0">
            <a:spAutoFit/>
          </a:bodyPr>
          <a:lstStyle/>
          <a:p>
            <a:r>
              <a:rPr lang="en-SE" sz="3600" b="1" dirty="0">
                <a:latin typeface="Baskerville" panose="02020502070401020303" pitchFamily="18" charset="0"/>
                <a:ea typeface="Baskerville" panose="02020502070401020303" pitchFamily="18" charset="0"/>
              </a:rPr>
              <a:t>Single cell transcriptomics/</a:t>
            </a:r>
          </a:p>
          <a:p>
            <a:r>
              <a:rPr lang="en-SE" sz="3600" b="1" dirty="0">
                <a:latin typeface="Baskerville" panose="02020502070401020303" pitchFamily="18" charset="0"/>
                <a:ea typeface="Baskerville" panose="02020502070401020303" pitchFamily="18" charset="0"/>
              </a:rPr>
              <a:t>single cell RNA sequencing</a:t>
            </a:r>
          </a:p>
        </p:txBody>
      </p:sp>
      <p:grpSp>
        <p:nvGrpSpPr>
          <p:cNvPr id="12" name="Group 11">
            <a:extLst>
              <a:ext uri="{FF2B5EF4-FFF2-40B4-BE49-F238E27FC236}">
                <a16:creationId xmlns:a16="http://schemas.microsoft.com/office/drawing/2014/main" id="{1D4A750D-2071-9E69-F6E4-057CEB57F044}"/>
              </a:ext>
            </a:extLst>
          </p:cNvPr>
          <p:cNvGrpSpPr/>
          <p:nvPr/>
        </p:nvGrpSpPr>
        <p:grpSpPr>
          <a:xfrm>
            <a:off x="63924" y="2362020"/>
            <a:ext cx="8678528" cy="2923908"/>
            <a:chOff x="607258" y="2362020"/>
            <a:chExt cx="8678528" cy="2923908"/>
          </a:xfrm>
        </p:grpSpPr>
        <p:pic>
          <p:nvPicPr>
            <p:cNvPr id="4" name="Picture 3">
              <a:extLst>
                <a:ext uri="{FF2B5EF4-FFF2-40B4-BE49-F238E27FC236}">
                  <a16:creationId xmlns:a16="http://schemas.microsoft.com/office/drawing/2014/main" id="{65027FEE-B9CA-741D-303E-6572499FC6A0}"/>
                </a:ext>
              </a:extLst>
            </p:cNvPr>
            <p:cNvPicPr>
              <a:picLocks noChangeAspect="1"/>
            </p:cNvPicPr>
            <p:nvPr/>
          </p:nvPicPr>
          <p:blipFill>
            <a:blip r:embed="rId3"/>
            <a:stretch>
              <a:fillRect/>
            </a:stretch>
          </p:blipFill>
          <p:spPr>
            <a:xfrm>
              <a:off x="607258" y="3020920"/>
              <a:ext cx="1731624" cy="169742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a:extLst>
                <a:ext uri="{FF2B5EF4-FFF2-40B4-BE49-F238E27FC236}">
                  <a16:creationId xmlns:a16="http://schemas.microsoft.com/office/drawing/2014/main" id="{151C4B02-950A-1B74-5E09-217B4DF77E67}"/>
                </a:ext>
              </a:extLst>
            </p:cNvPr>
            <p:cNvPicPr>
              <a:picLocks noChangeAspect="1"/>
            </p:cNvPicPr>
            <p:nvPr/>
          </p:nvPicPr>
          <p:blipFill>
            <a:blip r:embed="rId4"/>
            <a:stretch>
              <a:fillRect/>
            </a:stretch>
          </p:blipFill>
          <p:spPr>
            <a:xfrm>
              <a:off x="2992828" y="2362020"/>
              <a:ext cx="2753666" cy="281443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style>
            <a:lnRef idx="2">
              <a:schemeClr val="accent5"/>
            </a:lnRef>
            <a:fillRef idx="1">
              <a:schemeClr val="lt1"/>
            </a:fillRef>
            <a:effectRef idx="0">
              <a:schemeClr val="accent5"/>
            </a:effectRef>
            <a:fontRef idx="minor">
              <a:schemeClr val="dk1"/>
            </a:fontRef>
          </p:style>
        </p:pic>
        <p:pic>
          <p:nvPicPr>
            <p:cNvPr id="9" name="Picture 8">
              <a:extLst>
                <a:ext uri="{FF2B5EF4-FFF2-40B4-BE49-F238E27FC236}">
                  <a16:creationId xmlns:a16="http://schemas.microsoft.com/office/drawing/2014/main" id="{9BDE31AA-C3B6-B72F-708C-E3EB71E3B044}"/>
                </a:ext>
              </a:extLst>
            </p:cNvPr>
            <p:cNvPicPr>
              <a:picLocks noChangeAspect="1"/>
            </p:cNvPicPr>
            <p:nvPr/>
          </p:nvPicPr>
          <p:blipFill>
            <a:blip r:embed="rId5"/>
            <a:stretch>
              <a:fillRect/>
            </a:stretch>
          </p:blipFill>
          <p:spPr>
            <a:xfrm>
              <a:off x="6378268" y="2362020"/>
              <a:ext cx="2907518" cy="292390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Right Arrow 9">
              <a:extLst>
                <a:ext uri="{FF2B5EF4-FFF2-40B4-BE49-F238E27FC236}">
                  <a16:creationId xmlns:a16="http://schemas.microsoft.com/office/drawing/2014/main" id="{E3420ED1-B4CF-D8ED-661E-C75A91382645}"/>
                </a:ext>
              </a:extLst>
            </p:cNvPr>
            <p:cNvSpPr/>
            <p:nvPr/>
          </p:nvSpPr>
          <p:spPr>
            <a:xfrm>
              <a:off x="2478157" y="3606248"/>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1" name="Right Arrow 10">
              <a:extLst>
                <a:ext uri="{FF2B5EF4-FFF2-40B4-BE49-F238E27FC236}">
                  <a16:creationId xmlns:a16="http://schemas.microsoft.com/office/drawing/2014/main" id="{6EF5226E-BB5B-8426-B506-B1677B943D2D}"/>
                </a:ext>
              </a:extLst>
            </p:cNvPr>
            <p:cNvSpPr/>
            <p:nvPr/>
          </p:nvSpPr>
          <p:spPr>
            <a:xfrm>
              <a:off x="5876850" y="3606247"/>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pic>
        <p:nvPicPr>
          <p:cNvPr id="13" name="Picture 12">
            <a:extLst>
              <a:ext uri="{FF2B5EF4-FFF2-40B4-BE49-F238E27FC236}">
                <a16:creationId xmlns:a16="http://schemas.microsoft.com/office/drawing/2014/main" id="{693FBC84-751C-89EE-E527-8ADB8D3E2523}"/>
              </a:ext>
            </a:extLst>
          </p:cNvPr>
          <p:cNvPicPr>
            <a:picLocks noChangeAspect="1"/>
          </p:cNvPicPr>
          <p:nvPr/>
        </p:nvPicPr>
        <p:blipFill>
          <a:blip r:embed="rId6"/>
          <a:stretch>
            <a:fillRect/>
          </a:stretch>
        </p:blipFill>
        <p:spPr>
          <a:xfrm>
            <a:off x="9288723" y="2335694"/>
            <a:ext cx="2903277" cy="3067878"/>
          </a:xfrm>
          <a:prstGeom prst="rect">
            <a:avLst/>
          </a:prstGeom>
        </p:spPr>
      </p:pic>
      <p:sp>
        <p:nvSpPr>
          <p:cNvPr id="14" name="Right Arrow 13">
            <a:extLst>
              <a:ext uri="{FF2B5EF4-FFF2-40B4-BE49-F238E27FC236}">
                <a16:creationId xmlns:a16="http://schemas.microsoft.com/office/drawing/2014/main" id="{120A92A2-E6F7-2D8A-B122-ED5285F24343}"/>
              </a:ext>
            </a:extLst>
          </p:cNvPr>
          <p:cNvSpPr/>
          <p:nvPr/>
        </p:nvSpPr>
        <p:spPr>
          <a:xfrm>
            <a:off x="8877906" y="3606247"/>
            <a:ext cx="384313" cy="3975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extBox 1">
            <a:extLst>
              <a:ext uri="{FF2B5EF4-FFF2-40B4-BE49-F238E27FC236}">
                <a16:creationId xmlns:a16="http://schemas.microsoft.com/office/drawing/2014/main" id="{56607174-E502-C01D-FE97-6006FBF9B818}"/>
              </a:ext>
            </a:extLst>
          </p:cNvPr>
          <p:cNvSpPr txBox="1"/>
          <p:nvPr/>
        </p:nvSpPr>
        <p:spPr>
          <a:xfrm>
            <a:off x="342592" y="4845965"/>
            <a:ext cx="1449631" cy="461665"/>
          </a:xfrm>
          <a:prstGeom prst="rect">
            <a:avLst/>
          </a:prstGeom>
          <a:noFill/>
        </p:spPr>
        <p:txBody>
          <a:bodyPr wrap="square" rtlCol="0">
            <a:spAutoFit/>
          </a:bodyPr>
          <a:lstStyle/>
          <a:p>
            <a:r>
              <a:rPr lang="en-SE" sz="2400" b="1" dirty="0">
                <a:latin typeface="Times New Roman" panose="02020603050405020304" pitchFamily="18" charset="0"/>
                <a:cs typeface="Times New Roman" panose="02020603050405020304" pitchFamily="18" charset="0"/>
              </a:rPr>
              <a:t>Tissue</a:t>
            </a:r>
          </a:p>
        </p:txBody>
      </p:sp>
      <p:sp>
        <p:nvSpPr>
          <p:cNvPr id="3" name="TextBox 2">
            <a:extLst>
              <a:ext uri="{FF2B5EF4-FFF2-40B4-BE49-F238E27FC236}">
                <a16:creationId xmlns:a16="http://schemas.microsoft.com/office/drawing/2014/main" id="{4F6CD96A-6398-D41E-CCAF-64851AC15AB9}"/>
              </a:ext>
            </a:extLst>
          </p:cNvPr>
          <p:cNvSpPr txBox="1"/>
          <p:nvPr/>
        </p:nvSpPr>
        <p:spPr>
          <a:xfrm>
            <a:off x="3088763" y="5246278"/>
            <a:ext cx="1449631" cy="461665"/>
          </a:xfrm>
          <a:prstGeom prst="rect">
            <a:avLst/>
          </a:prstGeom>
          <a:noFill/>
        </p:spPr>
        <p:txBody>
          <a:bodyPr wrap="square" rtlCol="0">
            <a:spAutoFit/>
          </a:bodyPr>
          <a:lstStyle/>
          <a:p>
            <a:r>
              <a:rPr lang="en-SE" sz="2400" b="1" dirty="0">
                <a:latin typeface="Times New Roman" panose="02020603050405020304" pitchFamily="18" charset="0"/>
                <a:cs typeface="Times New Roman" panose="02020603050405020304" pitchFamily="18" charset="0"/>
              </a:rPr>
              <a:t>Ind. cells</a:t>
            </a:r>
          </a:p>
        </p:txBody>
      </p:sp>
      <p:sp>
        <p:nvSpPr>
          <p:cNvPr id="5" name="TextBox 4">
            <a:extLst>
              <a:ext uri="{FF2B5EF4-FFF2-40B4-BE49-F238E27FC236}">
                <a16:creationId xmlns:a16="http://schemas.microsoft.com/office/drawing/2014/main" id="{4F669B6B-5BAC-0A12-08DF-696459EEA6B1}"/>
              </a:ext>
            </a:extLst>
          </p:cNvPr>
          <p:cNvSpPr txBox="1"/>
          <p:nvPr/>
        </p:nvSpPr>
        <p:spPr>
          <a:xfrm>
            <a:off x="6542552" y="5307630"/>
            <a:ext cx="1665277" cy="830997"/>
          </a:xfrm>
          <a:prstGeom prst="rect">
            <a:avLst/>
          </a:prstGeom>
          <a:noFill/>
        </p:spPr>
        <p:txBody>
          <a:bodyPr wrap="square" rtlCol="0">
            <a:spAutoFit/>
          </a:bodyPr>
          <a:lstStyle/>
          <a:p>
            <a:r>
              <a:rPr lang="en-SE" sz="2400" b="1" dirty="0">
                <a:latin typeface="Times New Roman" panose="02020603050405020304" pitchFamily="18" charset="0"/>
                <a:cs typeface="Times New Roman" panose="02020603050405020304" pitchFamily="18" charset="0"/>
              </a:rPr>
              <a:t>RNA sequencing</a:t>
            </a:r>
          </a:p>
        </p:txBody>
      </p:sp>
      <p:sp>
        <p:nvSpPr>
          <p:cNvPr id="7" name="TextBox 6">
            <a:extLst>
              <a:ext uri="{FF2B5EF4-FFF2-40B4-BE49-F238E27FC236}">
                <a16:creationId xmlns:a16="http://schemas.microsoft.com/office/drawing/2014/main" id="{9879CB7A-F25D-1B55-F630-C097C8BDF852}"/>
              </a:ext>
            </a:extLst>
          </p:cNvPr>
          <p:cNvSpPr txBox="1"/>
          <p:nvPr/>
        </p:nvSpPr>
        <p:spPr>
          <a:xfrm>
            <a:off x="9550780" y="5307630"/>
            <a:ext cx="2726022" cy="830997"/>
          </a:xfrm>
          <a:prstGeom prst="rect">
            <a:avLst/>
          </a:prstGeom>
          <a:noFill/>
        </p:spPr>
        <p:txBody>
          <a:bodyPr wrap="square" rtlCol="0">
            <a:spAutoFit/>
          </a:bodyPr>
          <a:lstStyle/>
          <a:p>
            <a:r>
              <a:rPr lang="en-SE" sz="2400" b="1" dirty="0">
                <a:latin typeface="Times New Roman" panose="02020603050405020304" pitchFamily="18" charset="0"/>
                <a:cs typeface="Times New Roman" panose="02020603050405020304" pitchFamily="18" charset="0"/>
              </a:rPr>
              <a:t>Celltype gene expr. profile</a:t>
            </a:r>
          </a:p>
        </p:txBody>
      </p:sp>
    </p:spTree>
    <p:extLst>
      <p:ext uri="{BB962C8B-B14F-4D97-AF65-F5344CB8AC3E}">
        <p14:creationId xmlns:p14="http://schemas.microsoft.com/office/powerpoint/2010/main" val="912686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BCB140-B3B1-DE67-A72C-9BFE975052CB}"/>
              </a:ext>
            </a:extLst>
          </p:cNvPr>
          <p:cNvGrpSpPr/>
          <p:nvPr/>
        </p:nvGrpSpPr>
        <p:grpSpPr>
          <a:xfrm>
            <a:off x="2757872" y="5581977"/>
            <a:ext cx="5584371" cy="394016"/>
            <a:chOff x="1959429" y="3429000"/>
            <a:chExt cx="5584371" cy="394016"/>
          </a:xfrm>
        </p:grpSpPr>
        <p:cxnSp>
          <p:nvCxnSpPr>
            <p:cNvPr id="6" name="Straight Arrow Connector 5">
              <a:extLst>
                <a:ext uri="{FF2B5EF4-FFF2-40B4-BE49-F238E27FC236}">
                  <a16:creationId xmlns:a16="http://schemas.microsoft.com/office/drawing/2014/main" id="{B079F1A2-C82E-9A29-9EFA-BDA9B313A234}"/>
                </a:ext>
              </a:extLst>
            </p:cNvPr>
            <p:cNvCxnSpPr/>
            <p:nvPr/>
          </p:nvCxnSpPr>
          <p:spPr>
            <a:xfrm>
              <a:off x="1959429" y="3635829"/>
              <a:ext cx="5584371" cy="0"/>
            </a:xfrm>
            <a:prstGeom prst="straightConnector1">
              <a:avLst/>
            </a:prstGeom>
            <a:ln w="63500">
              <a:tailEnd type="triangle"/>
            </a:ln>
          </p:spPr>
          <p:style>
            <a:lnRef idx="3">
              <a:schemeClr val="accent1"/>
            </a:lnRef>
            <a:fillRef idx="0">
              <a:schemeClr val="accent1"/>
            </a:fillRef>
            <a:effectRef idx="2">
              <a:schemeClr val="accent1"/>
            </a:effectRef>
            <a:fontRef idx="minor">
              <a:schemeClr val="tx1"/>
            </a:fontRef>
          </p:style>
        </p:cxnSp>
        <p:sp>
          <p:nvSpPr>
            <p:cNvPr id="7" name="Oval 6">
              <a:extLst>
                <a:ext uri="{FF2B5EF4-FFF2-40B4-BE49-F238E27FC236}">
                  <a16:creationId xmlns:a16="http://schemas.microsoft.com/office/drawing/2014/main" id="{0868A023-7C34-26C5-9FA2-45A9565468CE}"/>
                </a:ext>
              </a:extLst>
            </p:cNvPr>
            <p:cNvSpPr/>
            <p:nvPr/>
          </p:nvSpPr>
          <p:spPr>
            <a:xfrm>
              <a:off x="1959429" y="3429000"/>
              <a:ext cx="372954" cy="374374"/>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dirty="0">
                <a:solidFill>
                  <a:schemeClr val="accent1"/>
                </a:solidFill>
              </a:endParaRPr>
            </a:p>
          </p:txBody>
        </p:sp>
        <p:sp>
          <p:nvSpPr>
            <p:cNvPr id="8" name="Oval 7">
              <a:extLst>
                <a:ext uri="{FF2B5EF4-FFF2-40B4-BE49-F238E27FC236}">
                  <a16:creationId xmlns:a16="http://schemas.microsoft.com/office/drawing/2014/main" id="{F074D4E9-93C1-AC7D-5FB7-F9443F473405}"/>
                </a:ext>
              </a:extLst>
            </p:cNvPr>
            <p:cNvSpPr/>
            <p:nvPr/>
          </p:nvSpPr>
          <p:spPr>
            <a:xfrm>
              <a:off x="3132246" y="3448642"/>
              <a:ext cx="372954" cy="374374"/>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 name="Oval 8">
              <a:extLst>
                <a:ext uri="{FF2B5EF4-FFF2-40B4-BE49-F238E27FC236}">
                  <a16:creationId xmlns:a16="http://schemas.microsoft.com/office/drawing/2014/main" id="{62205BE9-6A41-EEE2-3B8E-8E54F2CC929F}"/>
                </a:ext>
              </a:extLst>
            </p:cNvPr>
            <p:cNvSpPr/>
            <p:nvPr/>
          </p:nvSpPr>
          <p:spPr>
            <a:xfrm>
              <a:off x="4378660" y="3429000"/>
              <a:ext cx="372954" cy="37437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0" name="Oval 9">
              <a:extLst>
                <a:ext uri="{FF2B5EF4-FFF2-40B4-BE49-F238E27FC236}">
                  <a16:creationId xmlns:a16="http://schemas.microsoft.com/office/drawing/2014/main" id="{7552F838-AB7D-D3A4-C8F6-068C0BF6FAC0}"/>
                </a:ext>
              </a:extLst>
            </p:cNvPr>
            <p:cNvSpPr/>
            <p:nvPr/>
          </p:nvSpPr>
          <p:spPr>
            <a:xfrm>
              <a:off x="5774753" y="3448642"/>
              <a:ext cx="372954" cy="374374"/>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sp>
        <p:nvSpPr>
          <p:cNvPr id="2" name="TextBox 1">
            <a:extLst>
              <a:ext uri="{FF2B5EF4-FFF2-40B4-BE49-F238E27FC236}">
                <a16:creationId xmlns:a16="http://schemas.microsoft.com/office/drawing/2014/main" id="{DFD5DDA4-E229-EAF1-FB47-9C2CE32C6130}"/>
              </a:ext>
            </a:extLst>
          </p:cNvPr>
          <p:cNvSpPr txBox="1"/>
          <p:nvPr/>
        </p:nvSpPr>
        <p:spPr>
          <a:xfrm>
            <a:off x="4338904" y="422863"/>
            <a:ext cx="1924908" cy="461665"/>
          </a:xfrm>
          <a:prstGeom prst="rect">
            <a:avLst/>
          </a:prstGeom>
          <a:noFill/>
        </p:spPr>
        <p:txBody>
          <a:bodyPr wrap="square" rtlCol="0">
            <a:spAutoFit/>
          </a:bodyPr>
          <a:lstStyle/>
          <a:p>
            <a:r>
              <a:rPr lang="en-SE" sz="2400" b="1" dirty="0">
                <a:latin typeface="Baskerville" panose="02020502070401020303" pitchFamily="18" charset="0"/>
                <a:ea typeface="Baskerville" panose="02020502070401020303" pitchFamily="18" charset="0"/>
              </a:rPr>
              <a:t>scRNAseq</a:t>
            </a:r>
          </a:p>
        </p:txBody>
      </p:sp>
      <p:sp>
        <p:nvSpPr>
          <p:cNvPr id="4" name="TextBox 3">
            <a:extLst>
              <a:ext uri="{FF2B5EF4-FFF2-40B4-BE49-F238E27FC236}">
                <a16:creationId xmlns:a16="http://schemas.microsoft.com/office/drawing/2014/main" id="{A283D799-E5FD-FA4D-DD87-B7B9724C5473}"/>
              </a:ext>
            </a:extLst>
          </p:cNvPr>
          <p:cNvSpPr txBox="1"/>
          <p:nvPr/>
        </p:nvSpPr>
        <p:spPr>
          <a:xfrm>
            <a:off x="6477583" y="6065805"/>
            <a:ext cx="696104" cy="369332"/>
          </a:xfrm>
          <a:prstGeom prst="rect">
            <a:avLst/>
          </a:prstGeom>
          <a:noFill/>
        </p:spPr>
        <p:txBody>
          <a:bodyPr wrap="square" rtlCol="0">
            <a:spAutoFit/>
          </a:bodyPr>
          <a:lstStyle/>
          <a:p>
            <a:r>
              <a:rPr lang="en-SE" dirty="0"/>
              <a:t>2009</a:t>
            </a:r>
          </a:p>
        </p:txBody>
      </p:sp>
      <p:sp>
        <p:nvSpPr>
          <p:cNvPr id="5" name="TextBox 4">
            <a:extLst>
              <a:ext uri="{FF2B5EF4-FFF2-40B4-BE49-F238E27FC236}">
                <a16:creationId xmlns:a16="http://schemas.microsoft.com/office/drawing/2014/main" id="{C66B054C-65D7-39DD-BDAF-F976F1BB0E88}"/>
              </a:ext>
            </a:extLst>
          </p:cNvPr>
          <p:cNvSpPr txBox="1"/>
          <p:nvPr/>
        </p:nvSpPr>
        <p:spPr>
          <a:xfrm>
            <a:off x="7858608" y="2060159"/>
            <a:ext cx="3748674" cy="1569660"/>
          </a:xfrm>
          <a:prstGeom prst="rect">
            <a:avLst/>
          </a:prstGeom>
          <a:noFill/>
        </p:spPr>
        <p:txBody>
          <a:bodyPr wrap="square" rtlCol="0">
            <a:spAutoFit/>
          </a:bodyPr>
          <a:lstStyle/>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Sequencing based</a:t>
            </a:r>
          </a:p>
          <a:p>
            <a:pPr marL="285750" indent="-285750">
              <a:buFont typeface="Arial" panose="020B0604020202020204" pitchFamily="34" charset="0"/>
              <a:buChar char="•"/>
            </a:pPr>
            <a:r>
              <a:rPr lang="en-SE" sz="2400" dirty="0">
                <a:latin typeface="Times New Roman" panose="02020603050405020304" pitchFamily="18" charset="0"/>
                <a:cs typeface="Times New Roman" panose="02020603050405020304" pitchFamily="18" charset="0"/>
              </a:rPr>
              <a:t>Genome wide survey of the </a:t>
            </a:r>
            <a:r>
              <a:rPr lang="en-SE" sz="2400" b="1" dirty="0">
                <a:solidFill>
                  <a:schemeClr val="accent5"/>
                </a:solidFill>
                <a:latin typeface="Times New Roman" panose="02020603050405020304" pitchFamily="18" charset="0"/>
                <a:cs typeface="Times New Roman" panose="02020603050405020304" pitchFamily="18" charset="0"/>
              </a:rPr>
              <a:t>transcriptome</a:t>
            </a:r>
          </a:p>
          <a:p>
            <a:pPr marL="285750" indent="-28575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I</a:t>
            </a:r>
            <a:r>
              <a:rPr lang="en-SE" sz="2400" dirty="0">
                <a:latin typeface="Times New Roman" panose="02020603050405020304" pitchFamily="18" charset="0"/>
                <a:cs typeface="Times New Roman" panose="02020603050405020304" pitchFamily="18" charset="0"/>
              </a:rPr>
              <a:t>ndividual cells</a:t>
            </a:r>
          </a:p>
        </p:txBody>
      </p:sp>
      <p:sp>
        <p:nvSpPr>
          <p:cNvPr id="12" name="TextBox 11">
            <a:extLst>
              <a:ext uri="{FF2B5EF4-FFF2-40B4-BE49-F238E27FC236}">
                <a16:creationId xmlns:a16="http://schemas.microsoft.com/office/drawing/2014/main" id="{848FD357-C688-9FB3-F282-CABD358CEDE1}"/>
              </a:ext>
            </a:extLst>
          </p:cNvPr>
          <p:cNvSpPr txBox="1"/>
          <p:nvPr/>
        </p:nvSpPr>
        <p:spPr>
          <a:xfrm>
            <a:off x="8527183" y="3893445"/>
            <a:ext cx="3167743" cy="12003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GB" b="0" i="0" u="none" strike="noStrike" dirty="0">
                <a:solidFill>
                  <a:srgbClr val="202124"/>
                </a:solidFill>
                <a:effectLst/>
                <a:latin typeface="Google Sans"/>
              </a:rPr>
              <a:t>A </a:t>
            </a:r>
            <a:r>
              <a:rPr lang="en-GB" b="1" i="0" u="none" strike="noStrike" dirty="0">
                <a:solidFill>
                  <a:schemeClr val="accent5"/>
                </a:solidFill>
                <a:effectLst/>
                <a:latin typeface="Google Sans"/>
              </a:rPr>
              <a:t>transcriptome</a:t>
            </a:r>
            <a:r>
              <a:rPr lang="en-GB" b="0" i="0" u="none" strike="noStrike" dirty="0">
                <a:solidFill>
                  <a:srgbClr val="202124"/>
                </a:solidFill>
                <a:effectLst/>
                <a:latin typeface="Google Sans"/>
              </a:rPr>
              <a:t> is </a:t>
            </a:r>
            <a:r>
              <a:rPr lang="en-GB" b="0" i="0" u="none" strike="noStrike" dirty="0">
                <a:solidFill>
                  <a:srgbClr val="040C28"/>
                </a:solidFill>
                <a:effectLst/>
                <a:latin typeface="Google Sans"/>
              </a:rPr>
              <a:t>the full range of messenger RNA, or mRNA, molecules expressed by an organism</a:t>
            </a:r>
            <a:endParaRPr lang="en-SE" dirty="0"/>
          </a:p>
        </p:txBody>
      </p:sp>
      <p:sp>
        <p:nvSpPr>
          <p:cNvPr id="13" name="Up Arrow 12">
            <a:extLst>
              <a:ext uri="{FF2B5EF4-FFF2-40B4-BE49-F238E27FC236}">
                <a16:creationId xmlns:a16="http://schemas.microsoft.com/office/drawing/2014/main" id="{3EBB1FE8-318B-BFB3-DCC2-2DF0C21AAC40}"/>
              </a:ext>
            </a:extLst>
          </p:cNvPr>
          <p:cNvSpPr/>
          <p:nvPr/>
        </p:nvSpPr>
        <p:spPr>
          <a:xfrm rot="10800000">
            <a:off x="10276112" y="3239118"/>
            <a:ext cx="76201" cy="522514"/>
          </a:xfrm>
          <a:prstGeom prst="up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4" name="Picture 13">
            <a:extLst>
              <a:ext uri="{FF2B5EF4-FFF2-40B4-BE49-F238E27FC236}">
                <a16:creationId xmlns:a16="http://schemas.microsoft.com/office/drawing/2014/main" id="{65DA21DF-B9DC-1295-97F7-CC5AC6E862A6}"/>
              </a:ext>
            </a:extLst>
          </p:cNvPr>
          <p:cNvPicPr>
            <a:picLocks noChangeAspect="1"/>
          </p:cNvPicPr>
          <p:nvPr/>
        </p:nvPicPr>
        <p:blipFill>
          <a:blip r:embed="rId3"/>
          <a:stretch>
            <a:fillRect/>
          </a:stretch>
        </p:blipFill>
        <p:spPr>
          <a:xfrm>
            <a:off x="2850732" y="974340"/>
            <a:ext cx="4587395" cy="4397519"/>
          </a:xfrm>
          <a:prstGeom prst="rect">
            <a:avLst/>
          </a:prstGeom>
        </p:spPr>
      </p:pic>
    </p:spTree>
    <p:extLst>
      <p:ext uri="{BB962C8B-B14F-4D97-AF65-F5344CB8AC3E}">
        <p14:creationId xmlns:p14="http://schemas.microsoft.com/office/powerpoint/2010/main" val="4013448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EEC5B8-FF81-62E6-46C6-EF6A33E05629}"/>
              </a:ext>
            </a:extLst>
          </p:cNvPr>
          <p:cNvPicPr>
            <a:picLocks noChangeAspect="1"/>
          </p:cNvPicPr>
          <p:nvPr/>
        </p:nvPicPr>
        <p:blipFill>
          <a:blip r:embed="rId3"/>
          <a:stretch>
            <a:fillRect/>
          </a:stretch>
        </p:blipFill>
        <p:spPr>
          <a:xfrm>
            <a:off x="185058" y="372508"/>
            <a:ext cx="4275463" cy="4133704"/>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642966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EEC5B8-FF81-62E6-46C6-EF6A33E05629}"/>
              </a:ext>
            </a:extLst>
          </p:cNvPr>
          <p:cNvPicPr>
            <a:picLocks noChangeAspect="1"/>
          </p:cNvPicPr>
          <p:nvPr/>
        </p:nvPicPr>
        <p:blipFill>
          <a:blip r:embed="rId3"/>
          <a:stretch>
            <a:fillRect/>
          </a:stretch>
        </p:blipFill>
        <p:spPr>
          <a:xfrm>
            <a:off x="39756" y="53008"/>
            <a:ext cx="2710542" cy="2620670"/>
          </a:xfrm>
          <a:prstGeom prst="rect">
            <a:avLst/>
          </a:prstGeom>
        </p:spPr>
        <p:style>
          <a:lnRef idx="2">
            <a:schemeClr val="dk1"/>
          </a:lnRef>
          <a:fillRef idx="1">
            <a:schemeClr val="lt1"/>
          </a:fillRef>
          <a:effectRef idx="0">
            <a:schemeClr val="dk1"/>
          </a:effectRef>
          <a:fontRef idx="minor">
            <a:schemeClr val="dk1"/>
          </a:fontRef>
        </p:style>
      </p:pic>
      <p:pic>
        <p:nvPicPr>
          <p:cNvPr id="6" name="Picture 5">
            <a:extLst>
              <a:ext uri="{FF2B5EF4-FFF2-40B4-BE49-F238E27FC236}">
                <a16:creationId xmlns:a16="http://schemas.microsoft.com/office/drawing/2014/main" id="{11BAD94E-95F4-19F8-41D3-C5856D2C30A4}"/>
              </a:ext>
            </a:extLst>
          </p:cNvPr>
          <p:cNvPicPr>
            <a:picLocks noChangeAspect="1"/>
          </p:cNvPicPr>
          <p:nvPr/>
        </p:nvPicPr>
        <p:blipFill>
          <a:blip r:embed="rId4"/>
          <a:stretch>
            <a:fillRect/>
          </a:stretch>
        </p:blipFill>
        <p:spPr>
          <a:xfrm>
            <a:off x="2893231" y="384658"/>
            <a:ext cx="7772400" cy="6088683"/>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420076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D178AF-A909-18DE-2901-E0EBDA6B15C5}"/>
              </a:ext>
            </a:extLst>
          </p:cNvPr>
          <p:cNvPicPr>
            <a:picLocks noChangeAspect="1"/>
          </p:cNvPicPr>
          <p:nvPr/>
        </p:nvPicPr>
        <p:blipFill>
          <a:blip r:embed="rId3"/>
          <a:stretch>
            <a:fillRect/>
          </a:stretch>
        </p:blipFill>
        <p:spPr>
          <a:xfrm>
            <a:off x="7620001" y="3267810"/>
            <a:ext cx="4532243" cy="3550434"/>
          </a:xfrm>
          <a:prstGeom prst="rect">
            <a:avLst/>
          </a:prstGeom>
        </p:spPr>
        <p:style>
          <a:lnRef idx="2">
            <a:schemeClr val="dk1"/>
          </a:lnRef>
          <a:fillRef idx="1">
            <a:schemeClr val="lt1"/>
          </a:fillRef>
          <a:effectRef idx="0">
            <a:schemeClr val="dk1"/>
          </a:effectRef>
          <a:fontRef idx="minor">
            <a:schemeClr val="dk1"/>
          </a:fontRef>
        </p:style>
      </p:pic>
      <p:pic>
        <p:nvPicPr>
          <p:cNvPr id="2" name="Picture 1">
            <a:extLst>
              <a:ext uri="{FF2B5EF4-FFF2-40B4-BE49-F238E27FC236}">
                <a16:creationId xmlns:a16="http://schemas.microsoft.com/office/drawing/2014/main" id="{35822E7D-1BAB-D9F0-9643-92FDF84B9977}"/>
              </a:ext>
            </a:extLst>
          </p:cNvPr>
          <p:cNvPicPr>
            <a:picLocks noChangeAspect="1"/>
          </p:cNvPicPr>
          <p:nvPr/>
        </p:nvPicPr>
        <p:blipFill>
          <a:blip r:embed="rId4"/>
          <a:stretch>
            <a:fillRect/>
          </a:stretch>
        </p:blipFill>
        <p:spPr>
          <a:xfrm>
            <a:off x="215049" y="143593"/>
            <a:ext cx="7563978" cy="4238436"/>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6842177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66D6F2-B955-FFE8-965B-A35100902653}"/>
              </a:ext>
            </a:extLst>
          </p:cNvPr>
          <p:cNvPicPr>
            <a:picLocks noChangeAspect="1"/>
          </p:cNvPicPr>
          <p:nvPr/>
        </p:nvPicPr>
        <p:blipFill rotWithShape="1">
          <a:blip r:embed="rId3"/>
          <a:srcRect t="13509" b="45263"/>
          <a:stretch/>
        </p:blipFill>
        <p:spPr>
          <a:xfrm>
            <a:off x="2739852" y="853003"/>
            <a:ext cx="7005727" cy="5151994"/>
          </a:xfrm>
          <a:prstGeom prst="rect">
            <a:avLst/>
          </a:prstGeom>
        </p:spPr>
      </p:pic>
      <p:sp>
        <p:nvSpPr>
          <p:cNvPr id="8" name="TextBox 7">
            <a:extLst>
              <a:ext uri="{FF2B5EF4-FFF2-40B4-BE49-F238E27FC236}">
                <a16:creationId xmlns:a16="http://schemas.microsoft.com/office/drawing/2014/main" id="{FE0C3777-3324-B2C6-DE75-CF4BED692ECA}"/>
              </a:ext>
            </a:extLst>
          </p:cNvPr>
          <p:cNvSpPr txBox="1"/>
          <p:nvPr/>
        </p:nvSpPr>
        <p:spPr>
          <a:xfrm>
            <a:off x="8485926" y="6294783"/>
            <a:ext cx="3008243" cy="338554"/>
          </a:xfrm>
          <a:prstGeom prst="rect">
            <a:avLst/>
          </a:prstGeom>
          <a:noFill/>
        </p:spPr>
        <p:txBody>
          <a:bodyPr wrap="square" rtlCol="0">
            <a:spAutoFit/>
          </a:bodyPr>
          <a:lstStyle/>
          <a:p>
            <a:r>
              <a:rPr lang="en-SE" sz="1600" dirty="0">
                <a:latin typeface="Times New Roman" panose="02020603050405020304" pitchFamily="18" charset="0"/>
                <a:cs typeface="Times New Roman" panose="02020603050405020304" pitchFamily="18" charset="0"/>
              </a:rPr>
              <a:t>Martin et al. 2023 Nature</a:t>
            </a:r>
          </a:p>
        </p:txBody>
      </p:sp>
      <p:sp>
        <p:nvSpPr>
          <p:cNvPr id="9" name="TextBox 8">
            <a:extLst>
              <a:ext uri="{FF2B5EF4-FFF2-40B4-BE49-F238E27FC236}">
                <a16:creationId xmlns:a16="http://schemas.microsoft.com/office/drawing/2014/main" id="{3CECA547-45DB-875A-6F81-39B1C452C351}"/>
              </a:ext>
            </a:extLst>
          </p:cNvPr>
          <p:cNvSpPr txBox="1"/>
          <p:nvPr/>
        </p:nvSpPr>
        <p:spPr>
          <a:xfrm>
            <a:off x="1290343" y="94230"/>
            <a:ext cx="3617843" cy="461665"/>
          </a:xfrm>
          <a:prstGeom prst="rect">
            <a:avLst/>
          </a:prstGeom>
          <a:noFill/>
        </p:spPr>
        <p:txBody>
          <a:bodyPr wrap="square" rtlCol="0">
            <a:spAutoFit/>
          </a:bodyPr>
          <a:lstStyle/>
          <a:p>
            <a:r>
              <a:rPr lang="en-SE" sz="2400" dirty="0">
                <a:latin typeface="Berlin Sans FB" panose="020E0602020502020306" pitchFamily="34" charset="77"/>
              </a:rPr>
              <a:t>Combinational indexing</a:t>
            </a:r>
          </a:p>
        </p:txBody>
      </p:sp>
    </p:spTree>
    <p:extLst>
      <p:ext uri="{BB962C8B-B14F-4D97-AF65-F5344CB8AC3E}">
        <p14:creationId xmlns:p14="http://schemas.microsoft.com/office/powerpoint/2010/main" val="1015887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ell line&#10;&#10;Description automatically generated">
            <a:extLst>
              <a:ext uri="{FF2B5EF4-FFF2-40B4-BE49-F238E27FC236}">
                <a16:creationId xmlns:a16="http://schemas.microsoft.com/office/drawing/2014/main" id="{5D348A72-96A8-FDFE-F20F-214990F9546F}"/>
              </a:ext>
            </a:extLst>
          </p:cNvPr>
          <p:cNvPicPr>
            <a:picLocks noChangeAspect="1"/>
          </p:cNvPicPr>
          <p:nvPr/>
        </p:nvPicPr>
        <p:blipFill>
          <a:blip r:embed="rId3"/>
          <a:stretch>
            <a:fillRect/>
          </a:stretch>
        </p:blipFill>
        <p:spPr>
          <a:xfrm>
            <a:off x="1824790" y="1242060"/>
            <a:ext cx="7772400" cy="4373879"/>
          </a:xfrm>
          <a:prstGeom prst="rect">
            <a:avLst/>
          </a:prstGeom>
        </p:spPr>
      </p:pic>
      <p:sp>
        <p:nvSpPr>
          <p:cNvPr id="6" name="TextBox 5">
            <a:extLst>
              <a:ext uri="{FF2B5EF4-FFF2-40B4-BE49-F238E27FC236}">
                <a16:creationId xmlns:a16="http://schemas.microsoft.com/office/drawing/2014/main" id="{BE6C61A4-2838-C330-FF3C-6C4D790063C9}"/>
              </a:ext>
            </a:extLst>
          </p:cNvPr>
          <p:cNvSpPr txBox="1"/>
          <p:nvPr/>
        </p:nvSpPr>
        <p:spPr>
          <a:xfrm>
            <a:off x="8485926" y="6294783"/>
            <a:ext cx="3008243" cy="338554"/>
          </a:xfrm>
          <a:prstGeom prst="rect">
            <a:avLst/>
          </a:prstGeom>
          <a:noFill/>
        </p:spPr>
        <p:txBody>
          <a:bodyPr wrap="square" rtlCol="0">
            <a:spAutoFit/>
          </a:bodyPr>
          <a:lstStyle/>
          <a:p>
            <a:r>
              <a:rPr lang="en-SE" sz="1600" dirty="0">
                <a:latin typeface="Times New Roman" panose="02020603050405020304" pitchFamily="18" charset="0"/>
                <a:cs typeface="Times New Roman" panose="02020603050405020304" pitchFamily="18" charset="0"/>
              </a:rPr>
              <a:t>Wikepedia</a:t>
            </a:r>
          </a:p>
        </p:txBody>
      </p:sp>
      <p:sp>
        <p:nvSpPr>
          <p:cNvPr id="7" name="TextBox 6">
            <a:extLst>
              <a:ext uri="{FF2B5EF4-FFF2-40B4-BE49-F238E27FC236}">
                <a16:creationId xmlns:a16="http://schemas.microsoft.com/office/drawing/2014/main" id="{090491F7-3453-22AB-516D-6A770E7B9BDF}"/>
              </a:ext>
            </a:extLst>
          </p:cNvPr>
          <p:cNvSpPr txBox="1"/>
          <p:nvPr/>
        </p:nvSpPr>
        <p:spPr>
          <a:xfrm>
            <a:off x="1338470" y="689113"/>
            <a:ext cx="3617843" cy="461665"/>
          </a:xfrm>
          <a:prstGeom prst="rect">
            <a:avLst/>
          </a:prstGeom>
          <a:noFill/>
        </p:spPr>
        <p:txBody>
          <a:bodyPr wrap="square" rtlCol="0">
            <a:spAutoFit/>
          </a:bodyPr>
          <a:lstStyle/>
          <a:p>
            <a:r>
              <a:rPr lang="en-SE" sz="2400" dirty="0">
                <a:latin typeface="Berlin Sans FB" panose="020E0602020502020306" pitchFamily="34" charset="77"/>
              </a:rPr>
              <a:t>CITE-seq</a:t>
            </a:r>
          </a:p>
        </p:txBody>
      </p:sp>
    </p:spTree>
    <p:extLst>
      <p:ext uri="{BB962C8B-B14F-4D97-AF65-F5344CB8AC3E}">
        <p14:creationId xmlns:p14="http://schemas.microsoft.com/office/powerpoint/2010/main" val="805698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74155</TotalTime>
  <Words>5073</Words>
  <Application>Microsoft Macintosh PowerPoint</Application>
  <PresentationFormat>Widescreen</PresentationFormat>
  <Paragraphs>370</Paragraphs>
  <Slides>28</Slides>
  <Notes>26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Google Sans</vt:lpstr>
      <vt:lpstr>Ubuntu-Regular</vt:lpstr>
      <vt:lpstr>Aptos</vt:lpstr>
      <vt:lpstr>Aptos Display</vt:lpstr>
      <vt:lpstr>Arial</vt:lpstr>
      <vt:lpstr>Baskerville</vt:lpstr>
      <vt:lpstr>Berlin Sans FB</vt:lpstr>
      <vt:lpstr>Helvetica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Yuan Li</dc:creator>
  <cp:lastModifiedBy>Yuan Li</cp:lastModifiedBy>
  <cp:revision>88</cp:revision>
  <dcterms:created xsi:type="dcterms:W3CDTF">2024-05-01T17:46:45Z</dcterms:created>
  <dcterms:modified xsi:type="dcterms:W3CDTF">2024-11-29T09:01:31Z</dcterms:modified>
</cp:coreProperties>
</file>